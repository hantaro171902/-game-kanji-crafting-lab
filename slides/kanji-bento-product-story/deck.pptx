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9"/>
  </p:notesMasterIdLst>
  <p:handoutMasterIdLst>
    <p:handoutMasterId r:id="rId10"/>
  </p:handoutMasterIdLst>
  <p:sldIdLst>
    <p:sldId id="256" r:id="rId5"/>
    <p:sldId id="2147376253" r:id="rId3"/>
    <p:sldId id="2147376254" r:id="rId2"/>
    <p:sldId id="2147376255" r:id="rId1"/>
    <p:sldId id="2147376256" r:id="rId15"/>
    <p:sldId id="2147376257" r:id="rId16"/>
    <p:sldId id="2147376258" r:id="rId17"/>
    <p:sldId id="2147376259" r:id="rId18"/>
    <p:sldId id="2147376260" r:id="rId19"/>
    <p:sldId id="2147376261" r:id="rId20"/>
    <p:sldId id="2147376262" r:id="rId21"/>
    <p:sldId id="2147376263" r:id="rId22"/>
    <p:sldId id="2147376215"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Theme" id="{DBC12F91-C5C4-5145-8FDB-611B9A0854BE}">
          <p14:sldIdLst>
            <p14:sldId id="256"/>
            <p14:sldId id="2147376253"/>
            <p14:sldId id="2147376254"/>
            <p14:sldId id="2147376255"/>
            <p14:sldId id="2147376256"/>
            <p14:sldId id="2147376257"/>
            <p14:sldId id="2147376258"/>
            <p14:sldId id="2147376259"/>
            <p14:sldId id="2147376260"/>
            <p14:sldId id="2147376261"/>
            <p14:sldId id="2147376262"/>
            <p14:sldId id="2147376263"/>
            <p14:sldId id="2147376215"/>
          </p14:sldIdLst>
        </p14:section>
        <p14:section name="Light Theme" id="{6D466525-D798-4FDB-800B-EEDF7E99E1BD}">
          <p14:sldIdLst/>
        </p14:section>
        <p14:section name="Guidelines &amp; Icons" id="{1F8D2CF2-AD86-7442-950C-F16DB54B43B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34EA2"/>
    <a:srgbClr val="19226D"/>
    <a:srgbClr val="33B2C1"/>
    <a:srgbClr val="B5B5B5"/>
    <a:srgbClr val="F37121"/>
    <a:srgbClr val="50B848"/>
    <a:srgbClr val="F2F2F2"/>
    <a:srgbClr val="3EA9C1"/>
    <a:srgbClr val="33B2C0"/>
    <a:srgbClr val="E4E5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774" autoAdjust="0"/>
    <p:restoredTop sz="94726"/>
  </p:normalViewPr>
  <p:slideViewPr>
    <p:cSldViewPr snapToGrid="0">
      <p:cViewPr varScale="1">
        <p:scale>
          <a:sx n="115" d="100"/>
          <a:sy n="115" d="100"/>
        </p:scale>
        <p:origin x="240" y="304"/>
      </p:cViewPr>
      <p:guideLst/>
    </p:cSldViewPr>
  </p:slideViewPr>
  <p:notesTextViewPr>
    <p:cViewPr>
      <p:scale>
        <a:sx n="1" d="1"/>
        <a:sy n="1" d="1"/>
      </p:scale>
      <p:origin x="0" y="0"/>
    </p:cViewPr>
  </p:notesTextViewPr>
  <p:sorterViewPr>
    <p:cViewPr>
      <p:scale>
        <a:sx n="130" d="100"/>
        <a:sy n="130"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slide" Target="slides/slide3.xml"/><Relationship Id="rId3" Type="http://schemas.openxmlformats.org/officeDocument/2006/relationships/slide" Target="slides/slide2.xml"/><Relationship Id="rId4" Type="http://schemas.openxmlformats.org/officeDocument/2006/relationships/slideMaster" Target="slideMasters/slideMaster1.xml"/><Relationship Id="rId5" Type="http://schemas.openxmlformats.org/officeDocument/2006/relationships/slide" Target="slides/slide1.xml"/><Relationship Id="rId8" Type="http://schemas.openxmlformats.org/officeDocument/2006/relationships/slide" Target="slides/slide14.xml"/><Relationship Id="rId9" Type="http://schemas.openxmlformats.org/officeDocument/2006/relationships/notesMaster" Target="notesMasters/notesMaster1.xml"/><Relationship Id="rId10" Type="http://schemas.openxmlformats.org/officeDocument/2006/relationships/handoutMaster" Target="handoutMasters/handout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645524A-D9F4-7545-AB95-5226F9D348A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VN"/>
          </a:p>
        </p:txBody>
      </p:sp>
      <p:sp>
        <p:nvSpPr>
          <p:cNvPr id="3" name="Date Placeholder 2">
            <a:extLst>
              <a:ext uri="{FF2B5EF4-FFF2-40B4-BE49-F238E27FC236}">
                <a16:creationId xmlns:a16="http://schemas.microsoft.com/office/drawing/2014/main" id="{BCAF79B1-55A0-5A4C-8442-40DC6CEBD8C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7605CAF-285F-1248-96A4-68300F7F9840}" type="datetimeFigureOut">
              <a:rPr lang="en-VN" smtClean="0"/>
              <a:t>9/25/26</a:t>
            </a:fld>
            <a:endParaRPr lang="en-VN"/>
          </a:p>
        </p:txBody>
      </p:sp>
      <p:sp>
        <p:nvSpPr>
          <p:cNvPr id="4" name="Footer Placeholder 3">
            <a:extLst>
              <a:ext uri="{FF2B5EF4-FFF2-40B4-BE49-F238E27FC236}">
                <a16:creationId xmlns:a16="http://schemas.microsoft.com/office/drawing/2014/main" id="{76E336C1-B440-0443-8FF8-F82E4A5B0D7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VN"/>
          </a:p>
        </p:txBody>
      </p:sp>
      <p:sp>
        <p:nvSpPr>
          <p:cNvPr id="5" name="Slide Number Placeholder 4">
            <a:extLst>
              <a:ext uri="{FF2B5EF4-FFF2-40B4-BE49-F238E27FC236}">
                <a16:creationId xmlns:a16="http://schemas.microsoft.com/office/drawing/2014/main" id="{F74F16BD-3B62-C946-A536-E43A745C7A0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7C45307-BBFD-0045-B4A6-B73E368179D6}" type="slidenum">
              <a:rPr lang="en-VN" smtClean="0"/>
              <a:t>‹#›</a:t>
            </a:fld>
            <a:endParaRPr lang="en-VN"/>
          </a:p>
        </p:txBody>
      </p:sp>
    </p:spTree>
    <p:extLst>
      <p:ext uri="{BB962C8B-B14F-4D97-AF65-F5344CB8AC3E}">
        <p14:creationId xmlns:p14="http://schemas.microsoft.com/office/powerpoint/2010/main" val="325713099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212EB2-7195-4DCC-A544-62F8933C210E}" type="datetimeFigureOut">
              <a:rPr lang="en-US" smtClean="0"/>
              <a:t>9/25/26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6B53C0-79AE-4DBD-9505-8B7D1F13E088}" type="slidenum">
              <a:rPr lang="en-US" smtClean="0"/>
              <a:t>‹#›</a:t>
            </a:fld>
            <a:endParaRPr lang="en-US"/>
          </a:p>
        </p:txBody>
      </p:sp>
    </p:spTree>
    <p:extLst>
      <p:ext uri="{BB962C8B-B14F-4D97-AF65-F5344CB8AC3E}">
        <p14:creationId xmlns:p14="http://schemas.microsoft.com/office/powerpoint/2010/main" val="63729914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Người mới dễ nhìn Kanji như một khối phức tạp, không biết bắt đầu phân tích từ đâu. Viết lặp lại có thể tạo sự quen tay nhưng chưa chắc giúp hiểu cấu trúc và gợi lại ý nghĩa. Flashcard chỉ đưa 'chữ ↔ nghĩa' nên việc nhớ cách cấu tạo, cách đọc và từ vựng vẫn tách rời. Cảm giác cốt lõi của người học: 'Tôi đang ghi nhớ ký hiệu, chứ chưa thật sự hiểu chữ.'</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Nhóm 1: người mới học tiếng Nhật trình độ N5 cần một lối vào trực quan trước khi học nhiều âm On/Kun và từ vựng; khó phân biệt các chữ gần giống, ngại số lượng Kanji lớn, muốn học trong phiên ngắn. Nhóm 2: người học thích tương tác không duy trì được động lực với danh sách, sách chép hoặc flashcard tĩnh; thích thao tác, phản hồi và sưu tập; cần cảm giác tiến bộ rõ ràng; ưu tiên trải nghiệm trên điện thoại. Nhóm 3: giáo viên và lớp nhập môn dùng trò chơi như hoạt động mở bài, ôn nhanh hoặc minh hoạ quan hệ giữa hình, bộ phận và nghĩa; dễ chiếu trên web, dễ thảo luận mnemonic, dễ mở rộng theo chủ đề.</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Trò chơi chuyển cách học từ 'nhìn và nhớ' sang quan sát, phân rã và tái tạo: 1) Nhìn — neo ý nghĩa bằng một cảnh trực quan; 2) Phân tích — nhận ra các phần quen thuộc; 3) Lắp ghép — đặt đúng phần vào đúng vị trí; 4) Giải thích — liên kết chữ, cách đọc và từ vựng. Ví dụ: Người + cây = nghỉ, 亻 + 木 = 休. Giá trị học tập: trò chơi tạo nhiều điểm truy hồi cho cùng một Kanji — hình ảnh, vị trí không gian, thao tác tay, câu chuyện cấu tạo, âm đọc và ví dụ từ vựng.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Một vòng chơi ngắn nhưng đủ cả nhận biết và hiểu: Khám phá — vào cảnh và chọn thử thách; Lật thẻ — xem gợi ý bằng hình ảnh; Suy luận — đoán bộ phận cấu tạo; Đọc hình — đối chiếu cảnh gợi nghĩa; Kiến tạo — ghép bộ phận vào hộp bento; Củng cố — học chữ và từ vựng. Sai không phải kết thúc mà là tín hiệu để điều chỉnh mô hình trong đầu.</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Bộ thủ không còn là danh sách; bộ thủ trở thành LEGO. Hữu hình hoá cấu trúc: mỗi thành phần là một vật thể có kích thước và vị trí, giúp người học thấy chữ được 'xây' như thế nào. Học bằng hành động: chọn, kéo, đặt, tháo và thử lại; sai không phải kết thúc mà là tín hiệu để điều chỉnh mô hình trong đầu. Ngữ pháp không gian: khung bento dạy quan hệ trái–phải, trên–dưới, bao–trong, thay vì chỉ dạy tên bộ thủ. Tái sử dụng mảnh ghép: một mảnh như 木 quay lại trong 林 và 森; kiến thức cũ trở thành vật liệu tạo kiến thức mới. Ví dụ: 亻 (người) + 木 (cây) = 休 (nghỉ).</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Chunking: thay vì nhớ từng nét riêng lẻ, người học gom nét thành các đơn vị có nghĩa như 亻, 木, 日, 月. Generative learning: người học tự tạo đáp án từ thành phần — khó hơn nhận diện nhưng đòi hỏi truy hồi chủ động. Phản hồi chẩn đoán: trò chơi biết sai ở mảnh nào hoặc vị trí nào, từ đó đưa gợi ý cụ thể thay vì chỉ báo 'sai'. Transfer: khi gặp chữ mới, người học có thói quen hỏi — tôi nhận ra mảnh nào, mảnh nằm ở đâu, mối liên hệ là gì. Nguyên tắc thiết kế: không khẳng định mọi bộ phận đều trực tiếp tạo ra nghĩa hiện đại; trò chơi phải phân biệt bộ thủ từ điển, thành phần hình thể và câu chuyện ghi nhớ.</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Âm thanh: chạm nút — tiếng 'click' mềm; nhấc mảnh — tiếng gỗ nhẹ; đặt mảnh — tiếng quân mạt chược; đúng — chuông ngắn + phần thưởng mochi; sai — tiếng gõ rỗng, không gây áp lực. Chuyển động: lật thẻ tạo khoảnh khắc khám phá; mảnh khớp ô xác nhận quan hệ không gian; ô sai rung nhẹ chỉ ra nơi cần sửa; kanji hợp nhất cho thấy 'phần → toàn thể'; 5 mochi sáng dần biến tiến độ thành sưu tập. Âm thanh và animation phải giải thích trạng thái, không chỉ trang trí. Luôn có chế độ tắt âm và giảm chuyển động.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Bớt quá tải: chuyển một chữ lớn thành vài phần quen thuộc. Nhớ có liên kết: kết nối hình ảnh, cấu tạo, thao tác và câu chuyện. Phân biệt tốt hơn: so sánh trực tiếp các mảnh và vị trí trong chữ. Muốn tiếp tục: phiên chơi ngắn, phần thưởng rõ, không có đồng hồ gây áp lực. Chỉ số giá trị cốt lõi: người học có thể giải thích chữ được tạo từ gì và vì sao câu chuyện giúp nhớ chữ.</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Prototype: 5 Kanji — kiểm chứng vòng chơi, cảm giác ghép và mức độ dễ hiểu. Level packs: 80–100 Kanji cơ bản — nhóm theo chủ đề hình ảnh, mẫu cấu tạo và độ khó. Mastery: ôn lại thông minh — đưa chữ hay sai trở lại trong câu đố khác và trong từ vựng. Creation: thư viện 214 bộ thủ — tra cứu, so sánh biến thể, vị trí thường gặp và chữ ví dụ.</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Kanji Bento biến sự phức tạp thành một chuỗi hành động có thể hiểu: nhìn → tách → ghép → giải thích → nhớ. Điểm khác biệt không nằm ở việc 'game hoá flashcard', mà ở việc biến cấu trúc chữ thành chính gameplay. Nguồn tham khảo nội dung: các tài liệu về mnemonic theo thành phần và ví dụ 休, 明, 森; cần kiểm chứng nội dung ngôn ngữ với giáo viên tiếng Nhật trước khi phát hành.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hyperlink" Target="http://fptsoftware.com/" TargetMode="Externa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tandar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87560BCA-CD84-4103-BDE1-5002DC975CC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3175"/>
            <a:ext cx="12192000" cy="958850"/>
          </a:xfrm>
          <a:prstGeom prst="rect">
            <a:avLst/>
          </a:prstGeom>
        </p:spPr>
      </p:pic>
      <p:sp>
        <p:nvSpPr>
          <p:cNvPr id="3" name="Title 3">
            <a:extLst>
              <a:ext uri="{FF2B5EF4-FFF2-40B4-BE49-F238E27FC236}">
                <a16:creationId xmlns:a16="http://schemas.microsoft.com/office/drawing/2014/main" id="{A68080BE-7587-6144-8ECC-8515B3AB127E}"/>
              </a:ext>
            </a:extLst>
          </p:cNvPr>
          <p:cNvSpPr>
            <a:spLocks noGrp="1"/>
          </p:cNvSpPr>
          <p:nvPr>
            <p:ph type="title" hasCustomPrompt="1"/>
          </p:nvPr>
        </p:nvSpPr>
        <p:spPr>
          <a:xfrm>
            <a:off x="525780" y="190527"/>
            <a:ext cx="10515600" cy="711081"/>
          </a:xfrm>
        </p:spPr>
        <p:txBody>
          <a:bodyPr>
            <a:normAutofit/>
          </a:bodyPr>
          <a:lstStyle>
            <a:lvl1pPr algn="l">
              <a:defRPr sz="2800">
                <a:solidFill>
                  <a:schemeClr val="bg1"/>
                </a:solidFill>
                <a:latin typeface="+mj-lt"/>
              </a:defRPr>
            </a:lvl1pPr>
          </a:lstStyle>
          <a:p>
            <a:r>
              <a:rPr lang="en-US" dirty="0"/>
              <a:t>INSERT TITLE HERE</a:t>
            </a:r>
            <a:endParaRPr lang="en-VN" dirty="0"/>
          </a:p>
        </p:txBody>
      </p:sp>
      <p:sp>
        <p:nvSpPr>
          <p:cNvPr id="6" name="Rounded Rectangle 5">
            <a:extLst>
              <a:ext uri="{FF2B5EF4-FFF2-40B4-BE49-F238E27FC236}">
                <a16:creationId xmlns:a16="http://schemas.microsoft.com/office/drawing/2014/main" id="{A0C19840-32F7-DE46-B2BC-767228E15B33}"/>
              </a:ext>
            </a:extLst>
          </p:cNvPr>
          <p:cNvSpPr/>
          <p:nvPr userDrawn="1"/>
        </p:nvSpPr>
        <p:spPr>
          <a:xfrm>
            <a:off x="-426720" y="1118429"/>
            <a:ext cx="266700" cy="685815"/>
          </a:xfrm>
          <a:prstGeom prst="roundRect">
            <a:avLst>
              <a:gd name="adj" fmla="val 8511"/>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0EC24A74-A217-A244-8E5E-725CBA69F673}"/>
              </a:ext>
            </a:extLst>
          </p:cNvPr>
          <p:cNvSpPr/>
          <p:nvPr userDrawn="1"/>
        </p:nvSpPr>
        <p:spPr>
          <a:xfrm>
            <a:off x="-426720" y="1914296"/>
            <a:ext cx="266700" cy="685815"/>
          </a:xfrm>
          <a:prstGeom prst="roundRect">
            <a:avLst>
              <a:gd name="adj" fmla="val 8511"/>
            </a:avLst>
          </a:prstGeom>
          <a:solidFill>
            <a:srgbClr val="1922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1FB2B6BA-9839-4346-8C17-5FEBDC196FD8}"/>
              </a:ext>
            </a:extLst>
          </p:cNvPr>
          <p:cNvSpPr/>
          <p:nvPr userDrawn="1"/>
        </p:nvSpPr>
        <p:spPr>
          <a:xfrm>
            <a:off x="-426720" y="2710163"/>
            <a:ext cx="266700" cy="685815"/>
          </a:xfrm>
          <a:prstGeom prst="roundRect">
            <a:avLst>
              <a:gd name="adj" fmla="val 8511"/>
            </a:avLst>
          </a:prstGeom>
          <a:solidFill>
            <a:srgbClr val="33B2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FB560BE9-4881-E640-B746-48E2960FB1D4}"/>
              </a:ext>
            </a:extLst>
          </p:cNvPr>
          <p:cNvSpPr/>
          <p:nvPr userDrawn="1"/>
        </p:nvSpPr>
        <p:spPr>
          <a:xfrm>
            <a:off x="-426720" y="3506030"/>
            <a:ext cx="266700" cy="685815"/>
          </a:xfrm>
          <a:prstGeom prst="roundRect">
            <a:avLst>
              <a:gd name="adj" fmla="val 8511"/>
            </a:avLst>
          </a:prstGeom>
          <a:solidFill>
            <a:srgbClr val="50B8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ADA3FBC9-F771-A94D-8F55-34A40C7DFEB7}"/>
              </a:ext>
            </a:extLst>
          </p:cNvPr>
          <p:cNvSpPr/>
          <p:nvPr userDrawn="1"/>
        </p:nvSpPr>
        <p:spPr>
          <a:xfrm>
            <a:off x="-426720" y="4301897"/>
            <a:ext cx="266700" cy="685815"/>
          </a:xfrm>
          <a:prstGeom prst="roundRect">
            <a:avLst>
              <a:gd name="adj" fmla="val 8511"/>
            </a:avLst>
          </a:prstGeom>
          <a:solidFill>
            <a:srgbClr val="F371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B4304818-7278-3045-AD37-3EACA5B19337}"/>
              </a:ext>
            </a:extLst>
          </p:cNvPr>
          <p:cNvSpPr/>
          <p:nvPr userDrawn="1"/>
        </p:nvSpPr>
        <p:spPr>
          <a:xfrm>
            <a:off x="-426720" y="5097764"/>
            <a:ext cx="266700" cy="685815"/>
          </a:xfrm>
          <a:prstGeom prst="roundRect">
            <a:avLst>
              <a:gd name="adj" fmla="val 8511"/>
            </a:avLst>
          </a:prstGeom>
          <a:solidFill>
            <a:srgbClr val="E4E5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ooter Placeholder 2">
            <a:extLst>
              <a:ext uri="{FF2B5EF4-FFF2-40B4-BE49-F238E27FC236}">
                <a16:creationId xmlns:a16="http://schemas.microsoft.com/office/drawing/2014/main" id="{15681373-A4D2-854A-A772-7DF263D2A29C}"/>
              </a:ext>
            </a:extLst>
          </p:cNvPr>
          <p:cNvSpPr txBox="1">
            <a:spLocks/>
          </p:cNvSpPr>
          <p:nvPr userDrawn="1"/>
        </p:nvSpPr>
        <p:spPr>
          <a:xfrm>
            <a:off x="525780" y="6415503"/>
            <a:ext cx="4114800" cy="251969"/>
          </a:xfrm>
          <a:prstGeom prst="rect">
            <a:avLst/>
          </a:prstGeom>
        </p:spPr>
        <p:txBody>
          <a:bodyPr/>
          <a:lstStyle>
            <a:defPPr>
              <a:defRPr lang="en-US"/>
            </a:defPPr>
            <a:lvl1pPr marL="0" algn="l" defTabSz="1218987" rtl="0" eaLnBrk="1" latinLnBrk="0" hangingPunct="1">
              <a:defRPr sz="2400" kern="1200">
                <a:solidFill>
                  <a:schemeClr val="tx1"/>
                </a:solidFill>
                <a:latin typeface="+mn-lt"/>
                <a:ea typeface="Meiryo UI"/>
                <a:cs typeface="+mn-cs"/>
              </a:defRPr>
            </a:lvl1pPr>
            <a:lvl2pPr marL="609493" algn="l" defTabSz="1218987" rtl="0" eaLnBrk="1" latinLnBrk="0" hangingPunct="1">
              <a:defRPr sz="2400" kern="1200">
                <a:solidFill>
                  <a:schemeClr val="tx1"/>
                </a:solidFill>
                <a:latin typeface="+mn-lt"/>
                <a:ea typeface="Meiryo UI"/>
                <a:cs typeface="+mn-cs"/>
              </a:defRPr>
            </a:lvl2pPr>
            <a:lvl3pPr marL="1218987" algn="l" defTabSz="1218987" rtl="0" eaLnBrk="1" latinLnBrk="0" hangingPunct="1">
              <a:defRPr sz="2400" kern="1200">
                <a:solidFill>
                  <a:schemeClr val="tx1"/>
                </a:solidFill>
                <a:latin typeface="+mn-lt"/>
                <a:ea typeface="Meiryo UI"/>
                <a:cs typeface="+mn-cs"/>
              </a:defRPr>
            </a:lvl3pPr>
            <a:lvl4pPr marL="1828480" algn="l" defTabSz="1218987" rtl="0" eaLnBrk="1" latinLnBrk="0" hangingPunct="1">
              <a:defRPr sz="2400" kern="1200">
                <a:solidFill>
                  <a:schemeClr val="tx1"/>
                </a:solidFill>
                <a:latin typeface="+mn-lt"/>
                <a:ea typeface="Meiryo UI"/>
                <a:cs typeface="+mn-cs"/>
              </a:defRPr>
            </a:lvl4pPr>
            <a:lvl5pPr marL="2437973" algn="l" defTabSz="1218987" rtl="0" eaLnBrk="1" latinLnBrk="0" hangingPunct="1">
              <a:defRPr sz="2400" kern="1200">
                <a:solidFill>
                  <a:schemeClr val="tx1"/>
                </a:solidFill>
                <a:latin typeface="+mn-lt"/>
                <a:ea typeface="Meiryo UI"/>
                <a:cs typeface="+mn-cs"/>
              </a:defRPr>
            </a:lvl5pPr>
            <a:lvl6pPr marL="3047467" algn="l" defTabSz="1218987" rtl="0" eaLnBrk="1" latinLnBrk="0" hangingPunct="1">
              <a:defRPr sz="2400" kern="1200">
                <a:solidFill>
                  <a:schemeClr val="tx1"/>
                </a:solidFill>
                <a:latin typeface="+mn-lt"/>
                <a:ea typeface="Meiryo UI"/>
                <a:cs typeface="+mn-cs"/>
              </a:defRPr>
            </a:lvl6pPr>
            <a:lvl7pPr marL="3656960" algn="l" defTabSz="1218987" rtl="0" eaLnBrk="1" latinLnBrk="0" hangingPunct="1">
              <a:defRPr sz="2400" kern="1200">
                <a:solidFill>
                  <a:schemeClr val="tx1"/>
                </a:solidFill>
                <a:latin typeface="+mn-lt"/>
                <a:ea typeface="Meiryo UI"/>
                <a:cs typeface="+mn-cs"/>
              </a:defRPr>
            </a:lvl7pPr>
            <a:lvl8pPr marL="4266453" algn="l" defTabSz="1218987" rtl="0" eaLnBrk="1" latinLnBrk="0" hangingPunct="1">
              <a:defRPr sz="2400" kern="1200">
                <a:solidFill>
                  <a:schemeClr val="tx1"/>
                </a:solidFill>
                <a:latin typeface="+mn-lt"/>
                <a:ea typeface="Meiryo UI"/>
                <a:cs typeface="+mn-cs"/>
              </a:defRPr>
            </a:lvl8pPr>
            <a:lvl9pPr marL="4875947" algn="l" defTabSz="1218987" rtl="0" eaLnBrk="1" latinLnBrk="0" hangingPunct="1">
              <a:defRPr sz="2400" kern="1200">
                <a:solidFill>
                  <a:schemeClr val="tx1"/>
                </a:solidFill>
                <a:latin typeface="+mn-lt"/>
                <a:ea typeface="Meiryo UI"/>
                <a:cs typeface="+mn-cs"/>
              </a:defRPr>
            </a:lvl9pPr>
          </a:lstStyle>
          <a:p>
            <a:r>
              <a:rPr lang="en-US" sz="1050" dirty="0">
                <a:solidFill>
                  <a:schemeClr val="accent6">
                    <a:lumMod val="60000"/>
                    <a:lumOff val="40000"/>
                  </a:schemeClr>
                </a:solidFill>
              </a:rPr>
              <a:t>© Copyright FPT</a:t>
            </a:r>
            <a:endParaRPr lang="x-none" sz="1050" dirty="0">
              <a:solidFill>
                <a:schemeClr val="accent6">
                  <a:lumMod val="60000"/>
                  <a:lumOff val="40000"/>
                </a:schemeClr>
              </a:solidFill>
            </a:endParaRPr>
          </a:p>
        </p:txBody>
      </p:sp>
      <p:sp>
        <p:nvSpPr>
          <p:cNvPr id="13" name="Rounded Rectangle 12">
            <a:extLst>
              <a:ext uri="{FF2B5EF4-FFF2-40B4-BE49-F238E27FC236}">
                <a16:creationId xmlns:a16="http://schemas.microsoft.com/office/drawing/2014/main" id="{2B5CC1C9-B1AF-DE46-B64D-05E162F783E3}"/>
              </a:ext>
            </a:extLst>
          </p:cNvPr>
          <p:cNvSpPr/>
          <p:nvPr userDrawn="1"/>
        </p:nvSpPr>
        <p:spPr>
          <a:xfrm>
            <a:off x="-426720" y="5893631"/>
            <a:ext cx="266700" cy="685815"/>
          </a:xfrm>
          <a:prstGeom prst="roundRect">
            <a:avLst>
              <a:gd name="adj" fmla="val 8511"/>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FC2D7F75-570F-F74E-45BA-8FF00DF521ED}"/>
              </a:ext>
            </a:extLst>
          </p:cNvPr>
          <p:cNvSpPr>
            <a:spLocks noGrp="1"/>
          </p:cNvSpPr>
          <p:nvPr>
            <p:ph type="sldNum" sz="quarter" idx="12"/>
          </p:nvPr>
        </p:nvSpPr>
        <p:spPr>
          <a:xfrm>
            <a:off x="10330249" y="6415503"/>
            <a:ext cx="1577824" cy="251969"/>
          </a:xfrm>
          <a:prstGeom prst="rect">
            <a:avLst/>
          </a:prstGeom>
        </p:spPr>
        <p:txBody>
          <a:bodyPr/>
          <a:lstStyle>
            <a:lvl1pPr algn="r">
              <a:defRPr sz="1050">
                <a:solidFill>
                  <a:schemeClr val="accent6">
                    <a:lumMod val="60000"/>
                    <a:lumOff val="40000"/>
                  </a:schemeClr>
                </a:solidFill>
              </a:defRPr>
            </a:lvl1pPr>
          </a:lstStyle>
          <a:p>
            <a:r>
              <a:rPr lang="en-US" u="sng" dirty="0" err="1">
                <a:hlinkClick r:id="rId3">
                  <a:extLst>
                    <a:ext uri="{A12FA001-AC4F-418D-AE19-62706E023703}">
                      <ahyp:hlinkClr xmlns:ahyp="http://schemas.microsoft.com/office/drawing/2018/hyperlinkcolor" val="tx"/>
                    </a:ext>
                  </a:extLst>
                </a:hlinkClick>
              </a:rPr>
              <a:t>fptsoftware.com</a:t>
            </a:r>
            <a:r>
              <a:rPr lang="en-US" dirty="0">
                <a:hlinkClick r:id="rId3">
                  <a:extLst>
                    <a:ext uri="{A12FA001-AC4F-418D-AE19-62706E023703}">
                      <ahyp:hlinkClr xmlns:ahyp="http://schemas.microsoft.com/office/drawing/2018/hyperlinkcolor" val="tx"/>
                    </a:ext>
                  </a:extLst>
                </a:hlinkClick>
              </a:rPr>
              <a:t> </a:t>
            </a:r>
            <a:r>
              <a:rPr lang="en-US" dirty="0"/>
              <a:t>| </a:t>
            </a:r>
            <a:fld id="{E012F146-47F9-A646-B182-8CC39B8AD32B}" type="slidenum">
              <a:rPr lang="x-none" smtClean="0"/>
              <a:pPr/>
              <a:t>‹#›</a:t>
            </a:fld>
            <a:endParaRPr lang="x-none"/>
          </a:p>
        </p:txBody>
      </p:sp>
    </p:spTree>
    <p:extLst>
      <p:ext uri="{BB962C8B-B14F-4D97-AF65-F5344CB8AC3E}">
        <p14:creationId xmlns:p14="http://schemas.microsoft.com/office/powerpoint/2010/main" val="18503342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1_Blank">
    <p:bg>
      <p:bgPr>
        <a:solidFill>
          <a:schemeClr val="bg1"/>
        </a:solid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B105BD56-A8E0-E444-BE9C-22203E4DCF3E}"/>
              </a:ext>
            </a:extLst>
          </p:cNvPr>
          <p:cNvSpPr/>
          <p:nvPr userDrawn="1"/>
        </p:nvSpPr>
        <p:spPr>
          <a:xfrm>
            <a:off x="-426720" y="1118429"/>
            <a:ext cx="266700" cy="685815"/>
          </a:xfrm>
          <a:prstGeom prst="roundRect">
            <a:avLst>
              <a:gd name="adj" fmla="val 8511"/>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 Rectangle 2">
            <a:extLst>
              <a:ext uri="{FF2B5EF4-FFF2-40B4-BE49-F238E27FC236}">
                <a16:creationId xmlns:a16="http://schemas.microsoft.com/office/drawing/2014/main" id="{6B9A621C-3FEA-F44A-9FB8-4BFCEB404982}"/>
              </a:ext>
            </a:extLst>
          </p:cNvPr>
          <p:cNvSpPr/>
          <p:nvPr userDrawn="1"/>
        </p:nvSpPr>
        <p:spPr>
          <a:xfrm>
            <a:off x="-426720" y="1914296"/>
            <a:ext cx="266700" cy="685815"/>
          </a:xfrm>
          <a:prstGeom prst="roundRect">
            <a:avLst>
              <a:gd name="adj" fmla="val 8511"/>
            </a:avLst>
          </a:prstGeom>
          <a:solidFill>
            <a:srgbClr val="1922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le 3">
            <a:extLst>
              <a:ext uri="{FF2B5EF4-FFF2-40B4-BE49-F238E27FC236}">
                <a16:creationId xmlns:a16="http://schemas.microsoft.com/office/drawing/2014/main" id="{37588913-168E-054F-8189-51B637B7757E}"/>
              </a:ext>
            </a:extLst>
          </p:cNvPr>
          <p:cNvSpPr/>
          <p:nvPr userDrawn="1"/>
        </p:nvSpPr>
        <p:spPr>
          <a:xfrm>
            <a:off x="-426720" y="2710163"/>
            <a:ext cx="266700" cy="685815"/>
          </a:xfrm>
          <a:prstGeom prst="roundRect">
            <a:avLst>
              <a:gd name="adj" fmla="val 8511"/>
            </a:avLst>
          </a:prstGeom>
          <a:solidFill>
            <a:srgbClr val="33B2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BCE238BA-B121-984B-ACE5-3CC621D43F30}"/>
              </a:ext>
            </a:extLst>
          </p:cNvPr>
          <p:cNvSpPr/>
          <p:nvPr userDrawn="1"/>
        </p:nvSpPr>
        <p:spPr>
          <a:xfrm>
            <a:off x="-426720" y="3506030"/>
            <a:ext cx="266700" cy="685815"/>
          </a:xfrm>
          <a:prstGeom prst="roundRect">
            <a:avLst>
              <a:gd name="adj" fmla="val 8511"/>
            </a:avLst>
          </a:prstGeom>
          <a:solidFill>
            <a:srgbClr val="50B8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a:extLst>
              <a:ext uri="{FF2B5EF4-FFF2-40B4-BE49-F238E27FC236}">
                <a16:creationId xmlns:a16="http://schemas.microsoft.com/office/drawing/2014/main" id="{C549F2E8-A40E-7245-A2A9-037C4416B88E}"/>
              </a:ext>
            </a:extLst>
          </p:cNvPr>
          <p:cNvSpPr/>
          <p:nvPr userDrawn="1"/>
        </p:nvSpPr>
        <p:spPr>
          <a:xfrm>
            <a:off x="-426720" y="4301897"/>
            <a:ext cx="266700" cy="685815"/>
          </a:xfrm>
          <a:prstGeom prst="roundRect">
            <a:avLst>
              <a:gd name="adj" fmla="val 8511"/>
            </a:avLst>
          </a:prstGeom>
          <a:solidFill>
            <a:srgbClr val="F371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0307555D-F79C-E344-874C-925FC8A7E3EF}"/>
              </a:ext>
            </a:extLst>
          </p:cNvPr>
          <p:cNvSpPr/>
          <p:nvPr userDrawn="1"/>
        </p:nvSpPr>
        <p:spPr>
          <a:xfrm>
            <a:off x="-426720" y="5097764"/>
            <a:ext cx="266700" cy="685815"/>
          </a:xfrm>
          <a:prstGeom prst="roundRect">
            <a:avLst>
              <a:gd name="adj" fmla="val 8511"/>
            </a:avLst>
          </a:prstGeom>
          <a:solidFill>
            <a:srgbClr val="E4E5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3">
            <a:extLst>
              <a:ext uri="{FF2B5EF4-FFF2-40B4-BE49-F238E27FC236}">
                <a16:creationId xmlns:a16="http://schemas.microsoft.com/office/drawing/2014/main" id="{6D752961-38D0-8244-BF6A-A7591FA4D9FE}"/>
              </a:ext>
            </a:extLst>
          </p:cNvPr>
          <p:cNvSpPr>
            <a:spLocks noGrp="1"/>
          </p:cNvSpPr>
          <p:nvPr>
            <p:ph type="sldNum" sz="quarter" idx="12"/>
          </p:nvPr>
        </p:nvSpPr>
        <p:spPr>
          <a:xfrm>
            <a:off x="11311875" y="6415503"/>
            <a:ext cx="596198" cy="251969"/>
          </a:xfrm>
          <a:prstGeom prst="rect">
            <a:avLst/>
          </a:prstGeom>
        </p:spPr>
        <p:txBody>
          <a:bodyPr/>
          <a:lstStyle>
            <a:lvl1pPr algn="r">
              <a:defRPr sz="1200">
                <a:solidFill>
                  <a:schemeClr val="bg1"/>
                </a:solidFill>
              </a:defRPr>
            </a:lvl1pPr>
          </a:lstStyle>
          <a:p>
            <a:fld id="{E012F146-47F9-A646-B182-8CC39B8AD32B}" type="slidenum">
              <a:rPr lang="x-none" smtClean="0"/>
              <a:pPr/>
              <a:t>‹#›</a:t>
            </a:fld>
            <a:endParaRPr lang="x-none"/>
          </a:p>
        </p:txBody>
      </p:sp>
      <p:sp>
        <p:nvSpPr>
          <p:cNvPr id="9" name="Rounded Rectangle 8">
            <a:extLst>
              <a:ext uri="{FF2B5EF4-FFF2-40B4-BE49-F238E27FC236}">
                <a16:creationId xmlns:a16="http://schemas.microsoft.com/office/drawing/2014/main" id="{CA83E1E6-DB8F-8F46-B7A2-A20D6BC8F3FB}"/>
              </a:ext>
            </a:extLst>
          </p:cNvPr>
          <p:cNvSpPr/>
          <p:nvPr userDrawn="1"/>
        </p:nvSpPr>
        <p:spPr>
          <a:xfrm>
            <a:off x="-426720" y="5893631"/>
            <a:ext cx="266700" cy="685815"/>
          </a:xfrm>
          <a:prstGeom prst="roundRect">
            <a:avLst>
              <a:gd name="adj" fmla="val 8511"/>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319764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4"/>
        <p:cNvGrpSpPr/>
        <p:nvPr/>
      </p:nvGrpSpPr>
      <p:grpSpPr>
        <a:xfrm>
          <a:off x="0" y="0"/>
          <a:ext cx="0" cy="0"/>
          <a:chOff x="0" y="0"/>
          <a:chExt cx="0" cy="0"/>
        </a:xfrm>
      </p:grpSpPr>
      <p:pic>
        <p:nvPicPr>
          <p:cNvPr id="15" name="Google Shape;15;p41"/>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0" y="0"/>
            <a:ext cx="12192000" cy="6858000"/>
          </a:xfrm>
          <a:prstGeom prst="rect">
            <a:avLst/>
          </a:prstGeom>
          <a:noFill/>
          <a:ln>
            <a:noFill/>
          </a:ln>
        </p:spPr>
      </p:pic>
      <p:sp>
        <p:nvSpPr>
          <p:cNvPr id="16" name="Google Shape;16;p41"/>
          <p:cNvSpPr txBox="1">
            <a:spLocks noGrp="1"/>
          </p:cNvSpPr>
          <p:nvPr>
            <p:ph type="sldNum" idx="12"/>
          </p:nvPr>
        </p:nvSpPr>
        <p:spPr>
          <a:xfrm>
            <a:off x="11597481" y="251938"/>
            <a:ext cx="453570" cy="39433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17" name="Google Shape;17;p41"/>
          <p:cNvSpPr txBox="1">
            <a:spLocks noGrp="1"/>
          </p:cNvSpPr>
          <p:nvPr>
            <p:ph type="body" idx="1"/>
          </p:nvPr>
        </p:nvSpPr>
        <p:spPr>
          <a:xfrm>
            <a:off x="765175" y="1735193"/>
            <a:ext cx="5241925" cy="1766266"/>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172271"/>
              </a:buClr>
              <a:buSzPts val="4200"/>
              <a:buNone/>
              <a:defRPr sz="4200">
                <a:solidFill>
                  <a:srgbClr val="172271"/>
                </a:solidFill>
                <a:latin typeface="Arial"/>
                <a:ea typeface="Arial"/>
                <a:cs typeface="Arial"/>
                <a:sym typeface="Aria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 name="Google Shape;18;p41"/>
          <p:cNvSpPr txBox="1">
            <a:spLocks noGrp="1"/>
          </p:cNvSpPr>
          <p:nvPr>
            <p:ph type="body" idx="2"/>
          </p:nvPr>
        </p:nvSpPr>
        <p:spPr>
          <a:xfrm>
            <a:off x="765175" y="3714979"/>
            <a:ext cx="5241925" cy="2531834"/>
          </a:xfrm>
          <a:prstGeom prst="rect">
            <a:avLst/>
          </a:prstGeom>
          <a:noFill/>
          <a:ln>
            <a:noFill/>
          </a:ln>
        </p:spPr>
        <p:txBody>
          <a:bodyPr spcFirstLastPara="1" wrap="square" lIns="91425" tIns="45700" rIns="91425" bIns="45700" anchor="t" anchorCtr="0">
            <a:normAutofit/>
          </a:bodyPr>
          <a:lstStyle>
            <a:lvl1pPr marL="457200" lvl="0" indent="-317500" algn="l">
              <a:lnSpc>
                <a:spcPct val="90000"/>
              </a:lnSpc>
              <a:spcBef>
                <a:spcPts val="1000"/>
              </a:spcBef>
              <a:spcAft>
                <a:spcPts val="0"/>
              </a:spcAft>
              <a:buClr>
                <a:schemeClr val="dk1"/>
              </a:buClr>
              <a:buSzPts val="1400"/>
              <a:buChar char="•"/>
              <a:defRPr sz="1400"/>
            </a:lvl1pPr>
            <a:lvl2pPr marL="914400" lvl="1" indent="-304800" algn="l">
              <a:lnSpc>
                <a:spcPct val="90000"/>
              </a:lnSpc>
              <a:spcBef>
                <a:spcPts val="500"/>
              </a:spcBef>
              <a:spcAft>
                <a:spcPts val="0"/>
              </a:spcAft>
              <a:buClr>
                <a:schemeClr val="dk1"/>
              </a:buClr>
              <a:buSzPts val="1200"/>
              <a:buChar char="•"/>
              <a:defRPr sz="1200"/>
            </a:lvl2pPr>
            <a:lvl3pPr marL="1371600" lvl="2" indent="-298450" algn="l">
              <a:lnSpc>
                <a:spcPct val="90000"/>
              </a:lnSpc>
              <a:spcBef>
                <a:spcPts val="500"/>
              </a:spcBef>
              <a:spcAft>
                <a:spcPts val="0"/>
              </a:spcAft>
              <a:buClr>
                <a:schemeClr val="dk1"/>
              </a:buClr>
              <a:buSzPts val="1100"/>
              <a:buChar char="•"/>
              <a:defRPr sz="1100"/>
            </a:lvl3pPr>
            <a:lvl4pPr marL="1828800" lvl="3" indent="-295275" algn="l">
              <a:lnSpc>
                <a:spcPct val="90000"/>
              </a:lnSpc>
              <a:spcBef>
                <a:spcPts val="500"/>
              </a:spcBef>
              <a:spcAft>
                <a:spcPts val="0"/>
              </a:spcAft>
              <a:buClr>
                <a:schemeClr val="dk1"/>
              </a:buClr>
              <a:buSzPts val="1050"/>
              <a:buChar char="•"/>
              <a:defRPr sz="1050"/>
            </a:lvl4pPr>
            <a:lvl5pPr marL="2286000" lvl="4" indent="-295275" algn="l">
              <a:lnSpc>
                <a:spcPct val="90000"/>
              </a:lnSpc>
              <a:spcBef>
                <a:spcPts val="500"/>
              </a:spcBef>
              <a:spcAft>
                <a:spcPts val="0"/>
              </a:spcAft>
              <a:buClr>
                <a:schemeClr val="dk1"/>
              </a:buClr>
              <a:buSzPts val="1050"/>
              <a:buChar char="•"/>
              <a:defRPr sz="105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 name="Google Shape;19;p41"/>
          <p:cNvSpPr txBox="1">
            <a:spLocks noGrp="1"/>
          </p:cNvSpPr>
          <p:nvPr>
            <p:ph type="body" idx="3"/>
          </p:nvPr>
        </p:nvSpPr>
        <p:spPr>
          <a:xfrm>
            <a:off x="748846" y="1100987"/>
            <a:ext cx="5241925" cy="4206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58585"/>
              </a:buClr>
              <a:buSzPts val="1400"/>
              <a:buNone/>
              <a:defRPr sz="1400" b="1">
                <a:solidFill>
                  <a:srgbClr val="858585"/>
                </a:solidFill>
                <a:latin typeface="Arial"/>
                <a:ea typeface="Arial"/>
                <a:cs typeface="Arial"/>
                <a:sym typeface="Aria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22791757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Title Slide">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4ED8A6C4-8D48-A741-8E70-35BC8A7DF24D}"/>
              </a:ext>
            </a:extLst>
          </p:cNvPr>
          <p:cNvSpPr/>
          <p:nvPr userDrawn="1"/>
        </p:nvSpPr>
        <p:spPr>
          <a:xfrm>
            <a:off x="-426720" y="1118429"/>
            <a:ext cx="266700" cy="685815"/>
          </a:xfrm>
          <a:prstGeom prst="roundRect">
            <a:avLst>
              <a:gd name="adj" fmla="val 8511"/>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 Rectangle 2">
            <a:extLst>
              <a:ext uri="{FF2B5EF4-FFF2-40B4-BE49-F238E27FC236}">
                <a16:creationId xmlns:a16="http://schemas.microsoft.com/office/drawing/2014/main" id="{0F7E00B9-D6C8-2C45-B19B-C85C8186A241}"/>
              </a:ext>
            </a:extLst>
          </p:cNvPr>
          <p:cNvSpPr/>
          <p:nvPr userDrawn="1"/>
        </p:nvSpPr>
        <p:spPr>
          <a:xfrm>
            <a:off x="-426720" y="1914296"/>
            <a:ext cx="266700" cy="685815"/>
          </a:xfrm>
          <a:prstGeom prst="roundRect">
            <a:avLst>
              <a:gd name="adj" fmla="val 8511"/>
            </a:avLst>
          </a:prstGeom>
          <a:solidFill>
            <a:srgbClr val="1922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le 3">
            <a:extLst>
              <a:ext uri="{FF2B5EF4-FFF2-40B4-BE49-F238E27FC236}">
                <a16:creationId xmlns:a16="http://schemas.microsoft.com/office/drawing/2014/main" id="{FAE58C11-7699-7D48-BC93-F583C9E5E40D}"/>
              </a:ext>
            </a:extLst>
          </p:cNvPr>
          <p:cNvSpPr/>
          <p:nvPr userDrawn="1"/>
        </p:nvSpPr>
        <p:spPr>
          <a:xfrm>
            <a:off x="-426720" y="2710163"/>
            <a:ext cx="266700" cy="685815"/>
          </a:xfrm>
          <a:prstGeom prst="roundRect">
            <a:avLst>
              <a:gd name="adj" fmla="val 8511"/>
            </a:avLst>
          </a:prstGeom>
          <a:solidFill>
            <a:srgbClr val="33B2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80AA8190-FCEC-DF44-9F5A-10095FB162EC}"/>
              </a:ext>
            </a:extLst>
          </p:cNvPr>
          <p:cNvSpPr/>
          <p:nvPr userDrawn="1"/>
        </p:nvSpPr>
        <p:spPr>
          <a:xfrm>
            <a:off x="-426720" y="3506030"/>
            <a:ext cx="266700" cy="685815"/>
          </a:xfrm>
          <a:prstGeom prst="roundRect">
            <a:avLst>
              <a:gd name="adj" fmla="val 8511"/>
            </a:avLst>
          </a:prstGeom>
          <a:solidFill>
            <a:srgbClr val="50B8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a:extLst>
              <a:ext uri="{FF2B5EF4-FFF2-40B4-BE49-F238E27FC236}">
                <a16:creationId xmlns:a16="http://schemas.microsoft.com/office/drawing/2014/main" id="{768B8A4F-3496-5B43-8E20-569DE91627CB}"/>
              </a:ext>
            </a:extLst>
          </p:cNvPr>
          <p:cNvSpPr/>
          <p:nvPr userDrawn="1"/>
        </p:nvSpPr>
        <p:spPr>
          <a:xfrm>
            <a:off x="-426720" y="4301897"/>
            <a:ext cx="266700" cy="685815"/>
          </a:xfrm>
          <a:prstGeom prst="roundRect">
            <a:avLst>
              <a:gd name="adj" fmla="val 8511"/>
            </a:avLst>
          </a:prstGeom>
          <a:solidFill>
            <a:srgbClr val="F371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7C307A14-4347-714F-9635-2188B14053F6}"/>
              </a:ext>
            </a:extLst>
          </p:cNvPr>
          <p:cNvSpPr/>
          <p:nvPr userDrawn="1"/>
        </p:nvSpPr>
        <p:spPr>
          <a:xfrm>
            <a:off x="-426720" y="5097764"/>
            <a:ext cx="266700" cy="685815"/>
          </a:xfrm>
          <a:prstGeom prst="roundRect">
            <a:avLst>
              <a:gd name="adj" fmla="val 8511"/>
            </a:avLst>
          </a:prstGeom>
          <a:solidFill>
            <a:srgbClr val="E4E5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3">
            <a:extLst>
              <a:ext uri="{FF2B5EF4-FFF2-40B4-BE49-F238E27FC236}">
                <a16:creationId xmlns:a16="http://schemas.microsoft.com/office/drawing/2014/main" id="{D7F839E2-1874-E14B-B9AE-C8EDD5809D45}"/>
              </a:ext>
            </a:extLst>
          </p:cNvPr>
          <p:cNvSpPr>
            <a:spLocks noGrp="1"/>
          </p:cNvSpPr>
          <p:nvPr>
            <p:ph type="sldNum" sz="quarter" idx="12"/>
          </p:nvPr>
        </p:nvSpPr>
        <p:spPr>
          <a:xfrm>
            <a:off x="11311875" y="6415503"/>
            <a:ext cx="596198" cy="251969"/>
          </a:xfrm>
          <a:prstGeom prst="rect">
            <a:avLst/>
          </a:prstGeom>
        </p:spPr>
        <p:txBody>
          <a:bodyPr/>
          <a:lstStyle>
            <a:lvl1pPr algn="r">
              <a:defRPr sz="1200">
                <a:solidFill>
                  <a:schemeClr val="bg1"/>
                </a:solidFill>
              </a:defRPr>
            </a:lvl1pPr>
          </a:lstStyle>
          <a:p>
            <a:fld id="{E012F146-47F9-A646-B182-8CC39B8AD32B}" type="slidenum">
              <a:rPr lang="x-none" smtClean="0"/>
              <a:pPr/>
              <a:t>‹#›</a:t>
            </a:fld>
            <a:endParaRPr lang="x-none"/>
          </a:p>
        </p:txBody>
      </p:sp>
    </p:spTree>
    <p:extLst>
      <p:ext uri="{BB962C8B-B14F-4D97-AF65-F5344CB8AC3E}">
        <p14:creationId xmlns:p14="http://schemas.microsoft.com/office/powerpoint/2010/main" val="275337363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2637405"/>
            <a:ext cx="10515600" cy="1325563"/>
          </a:xfrm>
          <a:prstGeom prst="rect">
            <a:avLst/>
          </a:prstGeom>
        </p:spPr>
        <p:txBody>
          <a:bodyPr vert="horz" lIns="91440" tIns="45720" rIns="91440" bIns="45720" rtlCol="0" anchor="ctr">
            <a:normAutofit/>
          </a:bodyPr>
          <a:lstStyle/>
          <a:p>
            <a:r>
              <a:rPr lang="en-US" dirty="0"/>
              <a:t>FPT SOFTWARE – SLIDE MASTER</a:t>
            </a:r>
          </a:p>
        </p:txBody>
      </p:sp>
    </p:spTree>
    <p:extLst>
      <p:ext uri="{BB962C8B-B14F-4D97-AF65-F5344CB8AC3E}">
        <p14:creationId xmlns:p14="http://schemas.microsoft.com/office/powerpoint/2010/main" val="2455494593"/>
      </p:ext>
    </p:extLst>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Lst>
  <p:hf hdr="0" dt="0"/>
  <p:txStyles>
    <p:titleStyle>
      <a:lvl1pPr algn="ctr" defTabSz="914400" rtl="0" eaLnBrk="1" latinLnBrk="0" hangingPunct="1">
        <a:lnSpc>
          <a:spcPct val="90000"/>
        </a:lnSpc>
        <a:spcBef>
          <a:spcPct val="0"/>
        </a:spcBef>
        <a:buNone/>
        <a:defRPr sz="4400" b="1" kern="1200" baseline="0">
          <a:solidFill>
            <a:schemeClr val="tx1"/>
          </a:solidFill>
          <a:latin typeface="Meiryo UI"/>
          <a:ea typeface="Meiryo UI"/>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eiryo UI"/>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eiryo UI"/>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eiryo UI"/>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eiryo UI"/>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eiryo UI"/>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eiryo UI"/>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eiryo UI"/>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eiryo UI"/>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eiryo UI"/>
          <a:cs typeface="+mn-cs"/>
        </a:defRPr>
      </a:lvl9pPr>
    </p:bodyStyle>
    <p:otherStyle>
      <a:defPPr>
        <a:defRPr lang="en-US"/>
      </a:defPPr>
      <a:lvl1pPr marL="0" algn="l" defTabSz="914400" rtl="0" eaLnBrk="1" latinLnBrk="0" hangingPunct="1">
        <a:defRPr sz="1800" kern="1200">
          <a:solidFill>
            <a:schemeClr val="tx1"/>
          </a:solidFill>
          <a:latin typeface="+mn-lt"/>
          <a:ea typeface="Meiryo UI"/>
          <a:cs typeface="+mn-cs"/>
        </a:defRPr>
      </a:lvl1pPr>
      <a:lvl2pPr marL="457200" algn="l" defTabSz="914400" rtl="0" eaLnBrk="1" latinLnBrk="0" hangingPunct="1">
        <a:defRPr sz="1800" kern="1200">
          <a:solidFill>
            <a:schemeClr val="tx1"/>
          </a:solidFill>
          <a:latin typeface="+mn-lt"/>
          <a:ea typeface="Meiryo UI"/>
          <a:cs typeface="+mn-cs"/>
        </a:defRPr>
      </a:lvl2pPr>
      <a:lvl3pPr marL="914400" algn="l" defTabSz="914400" rtl="0" eaLnBrk="1" latinLnBrk="0" hangingPunct="1">
        <a:defRPr sz="1800" kern="1200">
          <a:solidFill>
            <a:schemeClr val="tx1"/>
          </a:solidFill>
          <a:latin typeface="+mn-lt"/>
          <a:ea typeface="Meiryo UI"/>
          <a:cs typeface="+mn-cs"/>
        </a:defRPr>
      </a:lvl3pPr>
      <a:lvl4pPr marL="1371600" algn="l" defTabSz="914400" rtl="0" eaLnBrk="1" latinLnBrk="0" hangingPunct="1">
        <a:defRPr sz="1800" kern="1200">
          <a:solidFill>
            <a:schemeClr val="tx1"/>
          </a:solidFill>
          <a:latin typeface="+mn-lt"/>
          <a:ea typeface="Meiryo UI"/>
          <a:cs typeface="+mn-cs"/>
        </a:defRPr>
      </a:lvl4pPr>
      <a:lvl5pPr marL="1828800" algn="l" defTabSz="914400" rtl="0" eaLnBrk="1" latinLnBrk="0" hangingPunct="1">
        <a:defRPr sz="1800" kern="1200">
          <a:solidFill>
            <a:schemeClr val="tx1"/>
          </a:solidFill>
          <a:latin typeface="+mn-lt"/>
          <a:ea typeface="Meiryo UI"/>
          <a:cs typeface="+mn-cs"/>
        </a:defRPr>
      </a:lvl5pPr>
      <a:lvl6pPr marL="2286000" algn="l" defTabSz="914400" rtl="0" eaLnBrk="1" latinLnBrk="0" hangingPunct="1">
        <a:defRPr sz="1800" kern="1200">
          <a:solidFill>
            <a:schemeClr val="tx1"/>
          </a:solidFill>
          <a:latin typeface="+mn-lt"/>
          <a:ea typeface="Meiryo UI"/>
          <a:cs typeface="+mn-cs"/>
        </a:defRPr>
      </a:lvl6pPr>
      <a:lvl7pPr marL="2743200" algn="l" defTabSz="914400" rtl="0" eaLnBrk="1" latinLnBrk="0" hangingPunct="1">
        <a:defRPr sz="1800" kern="1200">
          <a:solidFill>
            <a:schemeClr val="tx1"/>
          </a:solidFill>
          <a:latin typeface="+mn-lt"/>
          <a:ea typeface="Meiryo UI"/>
          <a:cs typeface="+mn-cs"/>
        </a:defRPr>
      </a:lvl7pPr>
      <a:lvl8pPr marL="3200400" algn="l" defTabSz="914400" rtl="0" eaLnBrk="1" latinLnBrk="0" hangingPunct="1">
        <a:defRPr sz="1800" kern="1200">
          <a:solidFill>
            <a:schemeClr val="tx1"/>
          </a:solidFill>
          <a:latin typeface="+mn-lt"/>
          <a:ea typeface="Meiryo UI"/>
          <a:cs typeface="+mn-cs"/>
        </a:defRPr>
      </a:lvl8pPr>
      <a:lvl9pPr marL="3657600" algn="l" defTabSz="914400" rtl="0" eaLnBrk="1" latinLnBrk="0" hangingPunct="1">
        <a:defRPr sz="1800" kern="1200">
          <a:solidFill>
            <a:schemeClr val="tx1"/>
          </a:solidFill>
          <a:latin typeface="+mn-lt"/>
          <a:ea typeface="Meiryo UI"/>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image" Target="../media/image4.png"/><Relationship Id="rId4" Type="http://schemas.openxmlformats.org/officeDocument/2006/relationships/image" Target="../media/image5.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fptsoftware.com/"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fptsoftware.com/" TargetMode="External"/><Relationship Id="rId3" Type="http://schemas.openxmlformats.org/officeDocument/2006/relationships/tags" Target="../tags/tag1.xml"/><Relationship Id="rId4"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fptsoftware.com/" TargetMode="External"/><Relationship Id="rId3"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fptsoftware.com/" TargetMode="External"/><Relationship Id="rId3" Type="http://schemas.openxmlformats.org/officeDocument/2006/relationships/tags" Target="../tags/tag2.xml"/><Relationship Id="rId4"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fptsoftware.com/" TargetMode="External"/><Relationship Id="rId3" Type="http://schemas.openxmlformats.org/officeDocument/2006/relationships/tags" Target="../tags/tag3.xml"/><Relationship Id="rId4"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fptsoftware.com/" TargetMode="External"/><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fptsoftware.com/" TargetMode="External"/><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fptsoftware.com/" TargetMode="External"/><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fptsoftware.com/" TargetMode="External"/><Relationship Id="rId3" Type="http://schemas.openxmlformats.org/officeDocument/2006/relationships/tags" Target="../tags/tag4.xml"/><Relationship Id="rId4"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fptsoftware.com/" TargetMode="External"/><Relationship Id="rId3"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image" Target="../media/image6.jpeg"/><Relationship Id="rId4" Type="http://schemas.openxmlformats.org/officeDocument/2006/relationships/image" Target="../media/image5.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fptsoftware.com/" TargetMode="External"/><Relationship Id="rId3" Type="http://schemas.openxmlformats.org/officeDocument/2006/relationships/tags" Target="../tags/tag5.xml"/><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pic>
        <p:nvPicPr>
          <p:cNvPr id="2" name="Google Shape;93;p1">
            <a:extLst>
              <a:ext uri="{FF2B5EF4-FFF2-40B4-BE49-F238E27FC236}">
                <a16:creationId xmlns:a16="http://schemas.microsoft.com/office/drawing/2014/main" id="{70C7C5D3-121E-DD14-FB7F-D191D3BF28F1}"/>
              </a:ext>
            </a:extLst>
          </p:cNvPr>
          <p:cNvPicPr preferRelativeResize="0"/>
          <p:nvPr/>
        </p:nvPicPr>
        <p:blipFill>
          <a:blip r:embed="rId3">
            <a:extLst>
              <a:ext uri="{28A0092B-C50C-407E-A947-70E740481C1C}">
                <a14:useLocalDpi xmlns:a14="http://schemas.microsoft.com/office/drawing/2010/main"/>
              </a:ext>
            </a:extLst>
          </a:blip>
          <a:srcRect/>
          <a:stretch/>
        </p:blipFill>
        <p:spPr>
          <a:xfrm>
            <a:off x="-16110" y="-20130"/>
            <a:ext cx="12328912" cy="6942245"/>
          </a:xfrm>
          <a:prstGeom prst="rect">
            <a:avLst/>
          </a:prstGeom>
          <a:noFill/>
          <a:ln>
            <a:noFill/>
          </a:ln>
        </p:spPr>
      </p:pic>
      <p:sp>
        <p:nvSpPr>
          <p:cNvPr id="3" name="sc:cover-title:1">
            <a:extLst>
              <a:ext uri="{FF2B5EF4-FFF2-40B4-BE49-F238E27FC236}">
                <a16:creationId xmlns:a16="http://schemas.microsoft.com/office/drawing/2014/main" id="{F51E4D91-2326-D506-84FC-29A6C36FEE6B}"/>
              </a:ext>
            </a:extLst>
          </p:cNvPr>
          <p:cNvSpPr txBox="1">
            <a:spLocks/>
          </p:cNvSpPr>
          <p:nvPr/>
        </p:nvSpPr>
        <p:spPr>
          <a:xfrm>
            <a:off x="536753" y="1554480"/>
            <a:ext cx="6400800" cy="1737360"/>
          </a:xfrm>
          <a:prstGeom prst="rect">
            <a:avLst/>
          </a:prstGeom>
          <a:noFill/>
          <a:ln>
            <a:noFill/>
          </a:ln>
          <a:effectLst>
            <a:outerShdw blurRad="173507" dist="50800" dir="5400000" sx="28270" sy="28270" algn="ctr" rotWithShape="0">
              <a:schemeClr val="tx1">
                <a:alpha val="54496"/>
              </a:schemeClr>
            </a:outerShdw>
          </a:effectLst>
        </p:spPr>
        <p:txBody>
          <a:bodyPr spcFirstLastPara="1" wrap="square" lIns="91440" tIns="91440" rIns="91440" bIns="91440" anchor="t" anchorCtr="0">
            <a:noAutofit/>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nSpc>
                <a:spcPts val="5500"/>
              </a:lnSpc>
              <a:buNone/>
            </a:pPr>
            <a:r>
              <a:rPr lang="vi-VN" sz="5000" b="1" kern="0" dirty="0" altLang="en-US">
                <a:solidFill>
                  <a:schemeClr val="bg1"/>
                </a:solidFill>
                <a:latin typeface="Meiryo UI"/>
                <a:ea typeface="Meiryo UI"/>
              </a:rPr>
              <a:t>Kanji Bento —</a:t>
            </a:r>
          </a:p>
          <a:p>
            <a:pPr marL="0" indent="0">
              <a:lnSpc>
                <a:spcPts val="5500"/>
              </a:lnSpc>
              <a:buNone/>
            </a:pPr>
            <a:r>
              <a:rPr lang="vi-VN" sz="5000" b="1" kern="0" dirty="0" altLang="en-US">
                <a:solidFill>
                  <a:schemeClr val="bg1"/>
                </a:solidFill>
                <a:latin typeface="Meiryo UI"/>
                <a:ea typeface="Meiryo UI"/>
              </a:rPr>
              <a:t>Product Story</a:t>
            </a:r>
          </a:p>
        </p:txBody>
      </p:sp>
      <p:sp>
        <p:nvSpPr>
          <p:cNvPr id="4" name="sc:cover-subtitle:1">
            <a:extLst>
              <a:ext uri="{FF2B5EF4-FFF2-40B4-BE49-F238E27FC236}">
                <a16:creationId xmlns:a16="http://schemas.microsoft.com/office/drawing/2014/main" id="{ACE7B77F-F217-6A2E-A5DD-8069C53B4498}"/>
              </a:ext>
            </a:extLst>
          </p:cNvPr>
          <p:cNvSpPr txBox="1"/>
          <p:nvPr/>
        </p:nvSpPr>
        <p:spPr>
          <a:xfrm>
            <a:off x="536753" y="3401568"/>
            <a:ext cx="6400800" cy="868680"/>
          </a:xfrm>
          <a:prstGeom prst="rect">
            <a:avLst/>
          </a:prstGeom>
          <a:noFill/>
          <a:ln>
            <a:noFill/>
          </a:ln>
        </p:spPr>
        <p:txBody>
          <a:bodyPr spcFirstLastPara="1" wrap="square" lIns="91440" tIns="91440" rIns="91440" bIns="91440" anchor="t" anchorCtr="0">
            <a:noAutofit/>
          </a:bodyPr>
          <a:lstStyle/>
          <a:p>
            <a:pPr marL="0" indent="0">
              <a:lnSpc>
                <a:spcPts val="2640"/>
              </a:lnSpc>
              <a:buNone/>
            </a:pPr>
            <a:r>
              <a:rPr kumimoji="0" lang="vi-VN" sz="2400" u="none" strike="noStrike" kern="0" cap="none" spc="0" normalizeH="0" baseline="0" noProof="0" dirty="0" altLang="en-US" b="0">
                <a:ln>
                  <a:noFill/>
                </a:ln>
                <a:solidFill>
                  <a:schemeClr val="bg1"/>
                </a:solidFill>
                <a:effectLst>
                  <a:outerShdw blurRad="50800" dist="50800" dir="5400000" algn="ctr" rotWithShape="0">
                    <a:schemeClr val="tx1">
                      <a:alpha val="72058"/>
                    </a:schemeClr>
                  </a:outerShdw>
                </a:effectLst>
                <a:uLnTx/>
                <a:uFillTx/>
                <a:latin typeface="Meiryo UI"/>
                <a:ea typeface="Meiryo UI"/>
              </a:rPr>
              <a:t>Học Kanji bằng cách lắp ghép ý nghĩa</a:t>
            </a:r>
          </a:p>
        </p:txBody>
      </p:sp>
      <p:pic>
        <p:nvPicPr>
          <p:cNvPr id="5" name="Picture 4">
            <a:extLst>
              <a:ext uri="{FF2B5EF4-FFF2-40B4-BE49-F238E27FC236}">
                <a16:creationId xmlns:a16="http://schemas.microsoft.com/office/drawing/2014/main" id="{F40A83EB-6A1B-21DC-4744-25A5BC47B3DC}"/>
              </a:ext>
            </a:extLst>
          </p:cNvPr>
          <p:cNvPicPr>
            <a:picLocks noChangeAspect="1"/>
          </p:cNvPicPr>
          <p:nvPr/>
        </p:nvPicPr>
        <p:blipFill>
          <a:blip r:embed="rId4"/>
          <a:stretch>
            <a:fillRect/>
          </a:stretch>
        </p:blipFill>
        <p:spPr>
          <a:xfrm>
            <a:off x="673100" y="607244"/>
            <a:ext cx="2222500" cy="700368"/>
          </a:xfrm>
          <a:prstGeom prst="rect">
            <a:avLst/>
          </a:prstGeom>
        </p:spPr>
      </p:pic>
      <p:sp>
        <p:nvSpPr>
          <p:cNvPr id="6" name="sc:cover-meta:1"/>
          <p:cNvSpPr txBox="1"/>
          <p:nvPr/>
        </p:nvSpPr>
        <p:spPr>
          <a:xfrm>
            <a:off x="536753" y="4370832"/>
            <a:ext cx="6400800" cy="1188720"/>
          </a:xfrm>
          <a:prstGeom prst="rect">
            <a:avLst/>
          </a:prstGeom>
          <a:noFill/>
          <a:ln>
            <a:noFill/>
          </a:ln>
        </p:spPr>
        <p:txBody>
          <a:bodyPr spcFirstLastPara="1" wrap="square" lIns="91440" tIns="91440" rIns="91440" bIns="91440" anchor="t" anchorCtr="0">
            <a:noAutofit/>
          </a:bodyPr>
          <a:lstStyle/>
          <a:p>
            <a:pPr marL="0" indent="0">
              <a:lnSpc>
                <a:spcPts val="2240"/>
              </a:lnSpc>
              <a:buNone/>
            </a:pPr>
            <a:r>
              <a:rPr kumimoji="0" lang="en-US" sz="1600" u="none" strike="noStrike" kern="0" cap="none" spc="0" normalizeH="0" baseline="0" noProof="0" dirty="0" altLang="en-US" b="0">
                <a:ln>
                  <a:noFill/>
                </a:ln>
                <a:solidFill>
                  <a:schemeClr val="bg1"/>
                </a:solidFill>
                <a:effectLst>
                  <a:outerShdw blurRad="50800" dist="50800" dir="5400000" algn="ctr" rotWithShape="0">
                    <a:schemeClr val="tx1">
                      <a:alpha val="72058"/>
                    </a:schemeClr>
                  </a:outerShdw>
                </a:effectLst>
                <a:uLnTx/>
                <a:uFillTx/>
                <a:latin typeface="Meiryo UI"/>
                <a:ea typeface="Meiryo UI"/>
              </a:rPr>
              <a:t>2026-10-22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c:title:1"/>
          <p:cNvSpPr>
            <a:spLocks noGrp="1"/>
          </p:cNvSpPr>
          <p:nvPr>
            <p:ph type="title"/>
          </p:nvPr>
        </p:nvSpPr>
        <p:spPr/>
        <p:txBody>
          <a:bodyPr>
            <a:noAutofit/>
          </a:bodyPr>
          <a:lstStyle/>
          <a:p>
            <a:pPr>
              <a:lnSpc>
                <a:spcPts val="3360"/>
              </a:lnSpc>
            </a:pPr>
            <a:r>
              <a:rPr lang="vi-VN" altLang="en-US" sz="2800" dirty="0">
                <a:ea typeface="Meiryo UI"/>
              </a:rPr>
              <a:t>Nội dung</a:t>
            </a:r>
          </a:p>
        </p:txBody>
      </p:sp>
      <p:sp>
        <p:nvSpPr>
          <p:cNvPr id="3" name="Slide Number Placeholder 3">
            <a:extLst>
              <a:ext uri="{FF2B5EF4-FFF2-40B4-BE49-F238E27FC236}">
                <a16:creationId xmlns:a16="http://schemas.microsoft.com/office/drawing/2014/main" id="{13BB62CA-CBF7-31AD-BAA2-F360326FF91D}"/>
              </a:ext>
            </a:extLst>
          </p:cNvPr>
          <p:cNvSpPr>
            <a:spLocks noGrp="1"/>
          </p:cNvSpPr>
          <p:nvPr>
            <p:ph type="sldNum" sz="quarter" idx="12"/>
          </p:nvPr>
        </p:nvSpPr>
        <p:spPr>
          <a:xfrm>
            <a:off x="10330249" y="6415503"/>
            <a:ext cx="1577824" cy="251969"/>
          </a:xfrm>
          <a:prstGeom prst="rect">
            <a:avLst/>
          </a:prstGeom>
        </p:spPr>
        <p:txBody>
          <a:bodyPr/>
          <a:lstStyle>
            <a:lvl1pPr algn="r">
              <a:defRPr sz="1050">
                <a:solidFill>
                  <a:schemeClr val="accent6">
                    <a:lumMod val="60000"/>
                    <a:lumOff val="40000"/>
                  </a:schemeClr>
                </a:solidFill>
              </a:defRPr>
            </a:lvl1pPr>
          </a:lstStyle>
          <a:p>
            <a:r>
              <a:rPr lang="en-US" u="sng" dirty="0" err="1">
                <a:hlinkClick r:id="rId2">
                  <a:extLst>
                    <a:ext uri="{A12FA001-AC4F-418D-AE19-62706E023703}">
                      <ahyp:hlinkClr xmlns:ahyp="http://schemas.microsoft.com/office/drawing/2018/hyperlinkcolor" val="tx"/>
                    </a:ext>
                  </a:extLst>
                </a:hlinkClick>
              </a:rPr>
              <a:t>fptsoftware.com</a:t>
            </a:r>
            <a:r>
              <a:rPr lang="en-US" dirty="0">
                <a:hlinkClick r:id="rId2">
                  <a:extLst>
                    <a:ext uri="{A12FA001-AC4F-418D-AE19-62706E023703}">
                      <ahyp:hlinkClr xmlns:ahyp="http://schemas.microsoft.com/office/drawing/2018/hyperlinkcolor" val="tx"/>
                    </a:ext>
                  </a:extLst>
                </a:hlinkClick>
              </a:rPr>
              <a:t> </a:t>
            </a:r>
            <a:r>
              <a:rPr lang="en-US" dirty="0"/>
              <a:t>| </a:t>
            </a:r>
            <a:fld id="{E012F146-47F9-A646-B182-8CC39B8AD32B}" type="slidenum">
              <a:rPr lang="x-none" smtClean="0"/>
              <a:pPr/>
              <a:t>3</a:t>
            </a:fld>
            <a:endParaRPr lang="x-none"/>
          </a:p>
        </p:txBody>
      </p:sp>
      <p:sp>
        <p:nvSpPr>
          <p:cNvPr id="4" name="sc:agenda:1"/>
          <p:cNvSpPr/>
          <p:nvPr/>
        </p:nvSpPr>
        <p:spPr>
          <a:xfrm>
            <a:off x="512064" y="1280160"/>
            <a:ext cx="11155680" cy="396240"/>
          </a:xfrm>
          <a:prstGeom prst="rect">
            <a:avLst/>
          </a:prstGeom>
          <a:solidFill>
            <a:srgbClr val="E4E5E6"/>
          </a:solidFill>
          <a:ln>
            <a:noFill/>
          </a:ln>
        </p:spPr>
        <p:txBody>
          <a:bodyPr wrap="square" lIns="177800" tIns="76200" rIns="177800" bIns="76200" anchor="ctr" rtlCol="0">
            <a:noAutofit/>
          </a:bodyPr>
          <a:lstStyle/>
          <a:p>
            <a:pPr marL="0" indent="0" algn="l">
              <a:lnSpc>
                <a:spcPts val="1920"/>
              </a:lnSpc>
              <a:spcBef>
                <a:spcPts val="0"/>
              </a:spcBef>
              <a:spcAft>
                <a:spcPts val="0"/>
              </a:spcAft>
              <a:buNone/>
            </a:pPr>
            <a:r>
              <a:rPr lang="en-US" sz="1600" b="1" dirty="0">
                <a:solidFill>
                  <a:srgbClr val="034EA2"/>
                </a:solidFill>
                <a:latin typeface="Meiryo UI"/>
                <a:ea typeface="Meiryo UI"/>
              </a:rPr>
              <a:t>01</a:t>
            </a:r>
            <a:r>
              <a:rPr lang="vi-VN" altLang="en-US" sz="1600" b="0" dirty="0">
                <a:solidFill>
                  <a:srgbClr val="19226D"/>
                </a:solidFill>
                <a:latin typeface="Meiryo UI"/>
                <a:ea typeface="Meiryo UI"/>
              </a:rPr>
              <a:t>  Pain point</a:t>
            </a:r>
            <a:endParaRPr lang="en-US" sz="1600" dirty="0"/>
          </a:p>
        </p:txBody>
      </p:sp>
      <p:sp>
        <p:nvSpPr>
          <p:cNvPr id="5" name="sc:agenda:2"/>
          <p:cNvSpPr/>
          <p:nvPr/>
        </p:nvSpPr>
        <p:spPr>
          <a:xfrm>
            <a:off x="512064" y="1752600"/>
            <a:ext cx="11155680" cy="396240"/>
          </a:xfrm>
          <a:prstGeom prst="rect">
            <a:avLst/>
          </a:prstGeom>
          <a:solidFill>
            <a:srgbClr val="E4E5E6"/>
          </a:solidFill>
          <a:ln>
            <a:noFill/>
          </a:ln>
        </p:spPr>
        <p:txBody>
          <a:bodyPr wrap="square" lIns="177800" tIns="76200" rIns="177800" bIns="76200" anchor="ctr" rtlCol="0">
            <a:noAutofit/>
          </a:bodyPr>
          <a:lstStyle/>
          <a:p>
            <a:pPr marL="0" indent="0" algn="l">
              <a:lnSpc>
                <a:spcPts val="1920"/>
              </a:lnSpc>
              <a:spcBef>
                <a:spcPts val="0"/>
              </a:spcBef>
              <a:spcAft>
                <a:spcPts val="0"/>
              </a:spcAft>
              <a:buNone/>
            </a:pPr>
            <a:r>
              <a:rPr lang="en-US" sz="1600" b="1" dirty="0">
                <a:solidFill>
                  <a:srgbClr val="034EA2"/>
                </a:solidFill>
                <a:latin typeface="Meiryo UI"/>
                <a:ea typeface="Meiryo UI"/>
              </a:rPr>
              <a:t>02</a:t>
            </a:r>
            <a:r>
              <a:rPr lang="vi-VN" altLang="en-US" sz="1600" b="0" dirty="0">
                <a:solidFill>
                  <a:srgbClr val="19226D"/>
                </a:solidFill>
                <a:latin typeface="Meiryo UI"/>
                <a:ea typeface="Meiryo UI"/>
              </a:rPr>
              <a:t>  Người dùng</a:t>
            </a:r>
            <a:endParaRPr lang="en-US" sz="1600" dirty="0"/>
          </a:p>
        </p:txBody>
      </p:sp>
      <p:sp>
        <p:nvSpPr>
          <p:cNvPr id="6" name="sc:agenda:3"/>
          <p:cNvSpPr/>
          <p:nvPr/>
        </p:nvSpPr>
        <p:spPr>
          <a:xfrm>
            <a:off x="512064" y="2225040"/>
            <a:ext cx="11155680" cy="396240"/>
          </a:xfrm>
          <a:prstGeom prst="rect">
            <a:avLst/>
          </a:prstGeom>
          <a:solidFill>
            <a:srgbClr val="E4E5E6"/>
          </a:solidFill>
          <a:ln>
            <a:noFill/>
          </a:ln>
        </p:spPr>
        <p:txBody>
          <a:bodyPr wrap="square" lIns="177800" tIns="76200" rIns="177800" bIns="76200" anchor="ctr" rtlCol="0">
            <a:noAutofit/>
          </a:bodyPr>
          <a:lstStyle/>
          <a:p>
            <a:pPr marL="0" indent="0" algn="l">
              <a:lnSpc>
                <a:spcPts val="1920"/>
              </a:lnSpc>
              <a:spcBef>
                <a:spcPts val="0"/>
              </a:spcBef>
              <a:spcAft>
                <a:spcPts val="0"/>
              </a:spcAft>
              <a:buNone/>
            </a:pPr>
            <a:r>
              <a:rPr lang="en-US" sz="1600" b="1" dirty="0">
                <a:solidFill>
                  <a:srgbClr val="034EA2"/>
                </a:solidFill>
                <a:latin typeface="Meiryo UI"/>
                <a:ea typeface="Meiryo UI"/>
              </a:rPr>
              <a:t>03</a:t>
            </a:r>
            <a:r>
              <a:rPr lang="vi-VN" altLang="en-US" sz="1600" b="0" dirty="0">
                <a:solidFill>
                  <a:srgbClr val="19226D"/>
                </a:solidFill>
                <a:latin typeface="Meiryo UI"/>
                <a:ea typeface="Meiryo UI"/>
              </a:rPr>
              <a:t>  Bài toán</a:t>
            </a:r>
            <a:endParaRPr lang="en-US" sz="1600" dirty="0"/>
          </a:p>
        </p:txBody>
      </p:sp>
      <p:sp>
        <p:nvSpPr>
          <p:cNvPr id="7" name="sc:agenda:4"/>
          <p:cNvSpPr/>
          <p:nvPr/>
        </p:nvSpPr>
        <p:spPr>
          <a:xfrm>
            <a:off x="512064" y="2697480"/>
            <a:ext cx="11155680" cy="396240"/>
          </a:xfrm>
          <a:prstGeom prst="rect">
            <a:avLst/>
          </a:prstGeom>
          <a:solidFill>
            <a:srgbClr val="E4E5E6"/>
          </a:solidFill>
          <a:ln>
            <a:noFill/>
          </a:ln>
        </p:spPr>
        <p:txBody>
          <a:bodyPr wrap="square" lIns="177800" tIns="76200" rIns="177800" bIns="76200" anchor="ctr" rtlCol="0">
            <a:noAutofit/>
          </a:bodyPr>
          <a:lstStyle/>
          <a:p>
            <a:pPr marL="0" indent="0" algn="l">
              <a:lnSpc>
                <a:spcPts val="1920"/>
              </a:lnSpc>
              <a:spcBef>
                <a:spcPts val="0"/>
              </a:spcBef>
              <a:spcAft>
                <a:spcPts val="0"/>
              </a:spcAft>
              <a:buNone/>
            </a:pPr>
            <a:r>
              <a:rPr lang="en-US" sz="1600" b="1" dirty="0">
                <a:solidFill>
                  <a:srgbClr val="034EA2"/>
                </a:solidFill>
                <a:latin typeface="Meiryo UI"/>
                <a:ea typeface="Meiryo UI"/>
              </a:rPr>
              <a:t>04</a:t>
            </a:r>
            <a:r>
              <a:rPr lang="vi-VN" altLang="en-US" sz="1600" b="0" dirty="0">
                <a:solidFill>
                  <a:srgbClr val="19226D"/>
                </a:solidFill>
                <a:latin typeface="Meiryo UI"/>
                <a:ea typeface="Meiryo UI"/>
              </a:rPr>
              <a:t>  Giải pháp</a:t>
            </a:r>
            <a:endParaRPr lang="en-US" sz="1600" dirty="0"/>
          </a:p>
        </p:txBody>
      </p:sp>
      <p:sp>
        <p:nvSpPr>
          <p:cNvPr id="8" name="sc:agenda:5"/>
          <p:cNvSpPr/>
          <p:nvPr/>
        </p:nvSpPr>
        <p:spPr>
          <a:xfrm>
            <a:off x="512064" y="3169920"/>
            <a:ext cx="11155680" cy="396240"/>
          </a:xfrm>
          <a:prstGeom prst="rect">
            <a:avLst/>
          </a:prstGeom>
          <a:solidFill>
            <a:srgbClr val="E4E5E6"/>
          </a:solidFill>
          <a:ln>
            <a:noFill/>
          </a:ln>
        </p:spPr>
        <p:txBody>
          <a:bodyPr wrap="square" lIns="177800" tIns="76200" rIns="177800" bIns="76200" anchor="ctr" rtlCol="0">
            <a:noAutofit/>
          </a:bodyPr>
          <a:lstStyle/>
          <a:p>
            <a:pPr marL="0" indent="0" algn="l">
              <a:lnSpc>
                <a:spcPts val="1920"/>
              </a:lnSpc>
              <a:spcBef>
                <a:spcPts val="0"/>
              </a:spcBef>
              <a:spcAft>
                <a:spcPts val="0"/>
              </a:spcAft>
              <a:buNone/>
            </a:pPr>
            <a:r>
              <a:rPr lang="en-US" sz="1600" b="1" dirty="0">
                <a:solidFill>
                  <a:srgbClr val="034EA2"/>
                </a:solidFill>
                <a:latin typeface="Meiryo UI"/>
                <a:ea typeface="Meiryo UI"/>
              </a:rPr>
              <a:t>05</a:t>
            </a:r>
            <a:r>
              <a:rPr lang="vi-VN" altLang="en-US" sz="1600" b="0" dirty="0">
                <a:solidFill>
                  <a:srgbClr val="19226D"/>
                </a:solidFill>
                <a:latin typeface="Meiryo UI"/>
                <a:ea typeface="Meiryo UI"/>
              </a:rPr>
              <a:t>  Cơ chế độc đáo</a:t>
            </a:r>
            <a:endParaRPr lang="en-US" sz="1600" dirty="0"/>
          </a:p>
        </p:txBody>
      </p:sp>
      <p:sp>
        <p:nvSpPr>
          <p:cNvPr id="9" name="sc:agenda:6"/>
          <p:cNvSpPr/>
          <p:nvPr/>
        </p:nvSpPr>
        <p:spPr>
          <a:xfrm>
            <a:off x="512064" y="3642360"/>
            <a:ext cx="11155680" cy="396240"/>
          </a:xfrm>
          <a:prstGeom prst="rect">
            <a:avLst/>
          </a:prstGeom>
          <a:solidFill>
            <a:srgbClr val="E4E5E6"/>
          </a:solidFill>
          <a:ln>
            <a:noFill/>
          </a:ln>
        </p:spPr>
        <p:txBody>
          <a:bodyPr wrap="square" lIns="177800" tIns="76200" rIns="177800" bIns="76200" anchor="ctr" rtlCol="0">
            <a:noAutofit/>
          </a:bodyPr>
          <a:lstStyle/>
          <a:p>
            <a:pPr marL="0" indent="0" algn="l">
              <a:lnSpc>
                <a:spcPts val="1920"/>
              </a:lnSpc>
              <a:spcBef>
                <a:spcPts val="0"/>
              </a:spcBef>
              <a:spcAft>
                <a:spcPts val="0"/>
              </a:spcAft>
              <a:buNone/>
            </a:pPr>
            <a:r>
              <a:rPr lang="en-US" sz="1600" b="1" dirty="0">
                <a:solidFill>
                  <a:srgbClr val="034EA2"/>
                </a:solidFill>
                <a:latin typeface="Meiryo UI"/>
                <a:ea typeface="Meiryo UI"/>
              </a:rPr>
              <a:t>06</a:t>
            </a:r>
            <a:r>
              <a:rPr lang="vi-VN" altLang="en-US" sz="1600" b="0" dirty="0">
                <a:solidFill>
                  <a:srgbClr val="19226D"/>
                </a:solidFill>
                <a:latin typeface="Meiryo UI"/>
                <a:ea typeface="Meiryo UI"/>
              </a:rPr>
              <a:t>  Vì sao LEGO</a:t>
            </a:r>
            <a:endParaRPr lang="en-US" sz="1600" dirty="0"/>
          </a:p>
        </p:txBody>
      </p:sp>
      <p:sp>
        <p:nvSpPr>
          <p:cNvPr id="10" name="sc:agenda:7"/>
          <p:cNvSpPr/>
          <p:nvPr/>
        </p:nvSpPr>
        <p:spPr>
          <a:xfrm>
            <a:off x="512064" y="4114800"/>
            <a:ext cx="11155680" cy="396240"/>
          </a:xfrm>
          <a:prstGeom prst="rect">
            <a:avLst/>
          </a:prstGeom>
          <a:solidFill>
            <a:srgbClr val="E4E5E6"/>
          </a:solidFill>
          <a:ln>
            <a:noFill/>
          </a:ln>
        </p:spPr>
        <p:txBody>
          <a:bodyPr wrap="square" lIns="177800" tIns="76200" rIns="177800" bIns="76200" anchor="ctr" rtlCol="0">
            <a:noAutofit/>
          </a:bodyPr>
          <a:lstStyle/>
          <a:p>
            <a:pPr marL="0" indent="0" algn="l">
              <a:lnSpc>
                <a:spcPts val="1920"/>
              </a:lnSpc>
              <a:spcBef>
                <a:spcPts val="0"/>
              </a:spcBef>
              <a:spcAft>
                <a:spcPts val="0"/>
              </a:spcAft>
              <a:buNone/>
            </a:pPr>
            <a:r>
              <a:rPr lang="en-US" sz="1600" b="1" dirty="0">
                <a:solidFill>
                  <a:srgbClr val="034EA2"/>
                </a:solidFill>
                <a:latin typeface="Meiryo UI"/>
                <a:ea typeface="Meiryo UI"/>
              </a:rPr>
              <a:t>07</a:t>
            </a:r>
            <a:r>
              <a:rPr lang="vi-VN" altLang="en-US" sz="1600" b="0" dirty="0">
                <a:solidFill>
                  <a:srgbClr val="19226D"/>
                </a:solidFill>
                <a:latin typeface="Meiryo UI"/>
                <a:ea typeface="Meiryo UI"/>
              </a:rPr>
              <a:t>  Trải nghiệm cảm xúc</a:t>
            </a:r>
            <a:endParaRPr lang="en-US" sz="1600" dirty="0"/>
          </a:p>
        </p:txBody>
      </p:sp>
      <p:sp>
        <p:nvSpPr>
          <p:cNvPr id="11" name="sc:agenda:8"/>
          <p:cNvSpPr/>
          <p:nvPr/>
        </p:nvSpPr>
        <p:spPr>
          <a:xfrm>
            <a:off x="512064" y="4587240"/>
            <a:ext cx="11155680" cy="396240"/>
          </a:xfrm>
          <a:prstGeom prst="rect">
            <a:avLst/>
          </a:prstGeom>
          <a:solidFill>
            <a:srgbClr val="E4E5E6"/>
          </a:solidFill>
          <a:ln>
            <a:noFill/>
          </a:ln>
        </p:spPr>
        <p:txBody>
          <a:bodyPr wrap="square" lIns="177800" tIns="76200" rIns="177800" bIns="76200" anchor="ctr" rtlCol="0">
            <a:noAutofit/>
          </a:bodyPr>
          <a:lstStyle/>
          <a:p>
            <a:pPr marL="0" indent="0" algn="l">
              <a:lnSpc>
                <a:spcPts val="1920"/>
              </a:lnSpc>
              <a:spcBef>
                <a:spcPts val="0"/>
              </a:spcBef>
              <a:spcAft>
                <a:spcPts val="0"/>
              </a:spcAft>
              <a:buNone/>
            </a:pPr>
            <a:r>
              <a:rPr lang="en-US" sz="1600" b="1" dirty="0">
                <a:solidFill>
                  <a:srgbClr val="034EA2"/>
                </a:solidFill>
                <a:latin typeface="Meiryo UI"/>
                <a:ea typeface="Meiryo UI"/>
              </a:rPr>
              <a:t>08</a:t>
            </a:r>
            <a:r>
              <a:rPr lang="vi-VN" altLang="en-US" sz="1600" b="0" dirty="0">
                <a:solidFill>
                  <a:srgbClr val="19226D"/>
                </a:solidFill>
                <a:latin typeface="Meiryo UI"/>
                <a:ea typeface="Meiryo UI"/>
              </a:rPr>
              <a:t>  Kết quả</a:t>
            </a:r>
            <a:endParaRPr lang="en-US" sz="1600" dirty="0"/>
          </a:p>
        </p:txBody>
      </p:sp>
      <p:sp>
        <p:nvSpPr>
          <p:cNvPr id="12" name="sc:agenda:9"/>
          <p:cNvSpPr/>
          <p:nvPr/>
        </p:nvSpPr>
        <p:spPr>
          <a:xfrm>
            <a:off x="512064" y="5059680"/>
            <a:ext cx="11155680" cy="396240"/>
          </a:xfrm>
          <a:prstGeom prst="rect">
            <a:avLst/>
          </a:prstGeom>
          <a:solidFill>
            <a:srgbClr val="E4E5E6"/>
          </a:solidFill>
          <a:ln>
            <a:noFill/>
          </a:ln>
        </p:spPr>
        <p:txBody>
          <a:bodyPr wrap="square" lIns="177800" tIns="76200" rIns="177800" bIns="76200" anchor="ctr" rtlCol="0">
            <a:noAutofit/>
          </a:bodyPr>
          <a:lstStyle/>
          <a:p>
            <a:pPr marL="0" indent="0" algn="l">
              <a:lnSpc>
                <a:spcPts val="1920"/>
              </a:lnSpc>
              <a:spcBef>
                <a:spcPts val="0"/>
              </a:spcBef>
              <a:spcAft>
                <a:spcPts val="0"/>
              </a:spcAft>
              <a:buNone/>
            </a:pPr>
            <a:r>
              <a:rPr lang="en-US" sz="1600" b="1" dirty="0">
                <a:solidFill>
                  <a:srgbClr val="034EA2"/>
                </a:solidFill>
                <a:latin typeface="Meiryo UI"/>
                <a:ea typeface="Meiryo UI"/>
              </a:rPr>
              <a:t>09</a:t>
            </a:r>
            <a:r>
              <a:rPr lang="vi-VN" altLang="en-US" sz="1600" b="0" dirty="0">
                <a:solidFill>
                  <a:srgbClr val="19226D"/>
                </a:solidFill>
                <a:latin typeface="Meiryo UI"/>
                <a:ea typeface="Meiryo UI"/>
              </a:rPr>
              <a:t>  Hành trình sản phẩm</a:t>
            </a:r>
            <a:endParaRPr lang="en-US" sz="1600" dirty="0"/>
          </a:p>
        </p:txBody>
      </p:sp>
      <p:sp>
        <p:nvSpPr>
          <p:cNvPr id="13" name="sc:agenda:10"/>
          <p:cNvSpPr/>
          <p:nvPr/>
        </p:nvSpPr>
        <p:spPr>
          <a:xfrm>
            <a:off x="512064" y="5532120"/>
            <a:ext cx="11155680" cy="396240"/>
          </a:xfrm>
          <a:prstGeom prst="rect">
            <a:avLst/>
          </a:prstGeom>
          <a:solidFill>
            <a:srgbClr val="E4E5E6"/>
          </a:solidFill>
          <a:ln>
            <a:noFill/>
          </a:ln>
        </p:spPr>
        <p:txBody>
          <a:bodyPr wrap="square" lIns="177800" tIns="76200" rIns="177800" bIns="76200" anchor="ctr" rtlCol="0">
            <a:noAutofit/>
          </a:bodyPr>
          <a:lstStyle/>
          <a:p>
            <a:pPr marL="0" indent="0" algn="l">
              <a:lnSpc>
                <a:spcPts val="1920"/>
              </a:lnSpc>
              <a:spcBef>
                <a:spcPts val="0"/>
              </a:spcBef>
              <a:spcAft>
                <a:spcPts val="0"/>
              </a:spcAft>
              <a:buNone/>
            </a:pPr>
            <a:r>
              <a:rPr lang="en-US" sz="1600" b="1" dirty="0">
                <a:solidFill>
                  <a:srgbClr val="034EA2"/>
                </a:solidFill>
                <a:latin typeface="Meiryo UI"/>
                <a:ea typeface="Meiryo UI"/>
              </a:rPr>
              <a:t>10</a:t>
            </a:r>
            <a:r>
              <a:rPr lang="vi-VN" altLang="en-US" sz="1600" b="0" dirty="0">
                <a:solidFill>
                  <a:srgbClr val="19226D"/>
                </a:solidFill>
                <a:latin typeface="Meiryo UI"/>
                <a:ea typeface="Meiryo UI"/>
              </a:rPr>
              <a:t>  Kết luận</a:t>
            </a:r>
            <a:endParaRPr lang="en-US" sz="1600" dirty="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c:title:1"/>
          <p:cNvSpPr>
            <a:spLocks noGrp="1"/>
          </p:cNvSpPr>
          <p:nvPr>
            <p:ph type="title"/>
          </p:nvPr>
        </p:nvSpPr>
        <p:spPr/>
        <p:txBody>
          <a:bodyPr>
            <a:noAutofit/>
          </a:bodyPr>
          <a:lstStyle/>
          <a:p>
            <a:pPr>
              <a:lnSpc>
                <a:spcPts val="3360"/>
              </a:lnSpc>
            </a:pPr>
            <a:r>
              <a:rPr lang="vi-VN" altLang="en-US" sz="2800" dirty="0">
                <a:ea typeface="Meiryo UI"/>
              </a:rPr>
              <a:t>Kanji như hàng nghìn hình vẽ rời rạc</a:t>
            </a:r>
          </a:p>
        </p:txBody>
      </p:sp>
      <p:sp>
        <p:nvSpPr>
          <p:cNvPr id="3" name="Slide Number Placeholder 3">
            <a:extLst>
              <a:ext uri="{FF2B5EF4-FFF2-40B4-BE49-F238E27FC236}">
                <a16:creationId xmlns:a16="http://schemas.microsoft.com/office/drawing/2014/main" id="{13BB62CA-CBF7-31AD-BAA2-F360326FF91D}"/>
              </a:ext>
            </a:extLst>
          </p:cNvPr>
          <p:cNvSpPr>
            <a:spLocks noGrp="1"/>
          </p:cNvSpPr>
          <p:nvPr>
            <p:ph type="sldNum" sz="quarter" idx="12"/>
          </p:nvPr>
        </p:nvSpPr>
        <p:spPr>
          <a:xfrm>
            <a:off x="10330249" y="6415503"/>
            <a:ext cx="1577824" cy="251969"/>
          </a:xfrm>
          <a:prstGeom prst="rect">
            <a:avLst/>
          </a:prstGeom>
        </p:spPr>
        <p:txBody>
          <a:bodyPr/>
          <a:lstStyle>
            <a:lvl1pPr algn="r">
              <a:defRPr sz="1050">
                <a:solidFill>
                  <a:schemeClr val="accent6">
                    <a:lumMod val="60000"/>
                    <a:lumOff val="40000"/>
                  </a:schemeClr>
                </a:solidFill>
              </a:defRPr>
            </a:lvl1pPr>
          </a:lstStyle>
          <a:p>
            <a:r>
              <a:rPr lang="en-US" u="sng" dirty="0" err="1">
                <a:hlinkClick r:id="rId2">
                  <a:extLst>
                    <a:ext uri="{A12FA001-AC4F-418D-AE19-62706E023703}">
                      <ahyp:hlinkClr xmlns:ahyp="http://schemas.microsoft.com/office/drawing/2018/hyperlinkcolor" val="tx"/>
                    </a:ext>
                  </a:extLst>
                </a:hlinkClick>
              </a:rPr>
              <a:t>fptsoftware.com</a:t>
            </a:r>
            <a:r>
              <a:rPr lang="en-US" dirty="0">
                <a:hlinkClick r:id="rId2">
                  <a:extLst>
                    <a:ext uri="{A12FA001-AC4F-418D-AE19-62706E023703}">
                      <ahyp:hlinkClr xmlns:ahyp="http://schemas.microsoft.com/office/drawing/2018/hyperlinkcolor" val="tx"/>
                    </a:ext>
                  </a:extLst>
                </a:hlinkClick>
              </a:rPr>
              <a:t> </a:t>
            </a:r>
            <a:r>
              <a:rPr lang="en-US" dirty="0"/>
              <a:t>| </a:t>
            </a:r>
            <a:fld id="{E012F146-47F9-A646-B182-8CC39B8AD32B}" type="slidenum">
              <a:rPr lang="x-none" smtClean="0"/>
              <a:pPr/>
              <a:t>3</a:t>
            </a:fld>
            <a:endParaRPr lang="x-none"/>
          </a:p>
        </p:txBody>
      </p:sp>
      <p:sp>
        <p:nvSpPr>
          <p:cNvPr id="4" name="sc:lead:1"/>
          <p:cNvSpPr txBox="1"/>
          <p:nvPr/>
        </p:nvSpPr>
        <p:spPr>
          <a:xfrm>
            <a:off x="512064" y="987552"/>
            <a:ext cx="11155680" cy="257175"/>
          </a:xfrm>
          <a:prstGeom prst="rect">
            <a:avLst/>
          </a:prstGeom>
          <a:noFill/>
          <a:ln>
            <a:noFill/>
          </a:ln>
        </p:spPr>
        <p:txBody>
          <a:bodyPr wrap="square" lIns="0" tIns="0" rIns="0" bIns="0" anchor="t" rtlCol="0">
            <a:noAutofit/>
          </a:bodyPr>
          <a:lstStyle/>
          <a:p>
            <a:pPr marL="0" indent="0" algn="l">
              <a:lnSpc>
                <a:spcPts val="2025"/>
              </a:lnSpc>
              <a:spcBef>
                <a:spcPts val="0"/>
              </a:spcBef>
              <a:spcAft>
                <a:spcPts val="0"/>
              </a:spcAft>
              <a:buNone/>
            </a:pPr>
            <a:r>
              <a:rPr lang="vi-VN" altLang="en-US" sz="1500" b="1" dirty="0">
                <a:solidFill>
                  <a:srgbClr val="19226D"/>
                </a:solidFill>
                <a:latin typeface="Meiryo UI"/>
                <a:ea typeface="Meiryo UI"/>
              </a:rPr>
              <a:t>Ba nguyên nhân khiến Kanji khó học.</a:t>
            </a:r>
            <a:endParaRPr lang="en-US" sz="1500" dirty="0"/>
          </a:p>
        </p:txBody>
      </p:sp>
      <p:cxnSp>
        <p:nvCxnSpPr>
          <p:cNvPr id="6" name="pd:s-pain:fishbone.arrow:1"/>
          <p:cNvCxnSpPr/>
          <p:nvPr/>
        </p:nvCxnSpPr>
        <p:spPr>
          <a:xfrm>
            <a:off x="2304288" y="3511296"/>
            <a:ext cx="6986016" cy="0"/>
          </a:xfrm>
          <a:prstGeom prst="line">
            <a:avLst/>
          </a:prstGeom>
          <a:ln w="15875" cap="flat">
            <a:solidFill>
              <a:srgbClr val="19226D"/>
            </a:solidFill>
            <a:round/>
            <a:tailEnd type="triangle" w="sm" len="sm"/>
          </a:ln>
        </p:spPr>
      </p:cxnSp>
      <p:cxnSp>
        <p:nvCxnSpPr>
          <p:cNvPr id="7" name="pd:s-pain:fishbone.bone:1"/>
          <p:cNvCxnSpPr/>
          <p:nvPr/>
        </p:nvCxnSpPr>
        <p:spPr>
          <a:xfrm flipH="1" flipV="1">
            <a:off x="6291072" y="1975104"/>
            <a:ext cx="877824" cy="1536192"/>
          </a:xfrm>
          <a:prstGeom prst="line">
            <a:avLst/>
          </a:prstGeom>
          <a:ln w="12700" cap="flat">
            <a:solidFill>
              <a:srgbClr val="19226D">
                <a:alpha val="70000"/>
              </a:srgbClr>
            </a:solidFill>
            <a:round/>
          </a:ln>
        </p:spPr>
      </p:cxnSp>
      <p:cxnSp>
        <p:nvCxnSpPr>
          <p:cNvPr id="8" name="pd:s-pain:fishbone.tick:1"/>
          <p:cNvCxnSpPr/>
          <p:nvPr/>
        </p:nvCxnSpPr>
        <p:spPr>
          <a:xfrm flipH="1">
            <a:off x="6254496" y="2487168"/>
            <a:ext cx="329184" cy="0"/>
          </a:xfrm>
          <a:prstGeom prst="line">
            <a:avLst/>
          </a:prstGeom>
          <a:ln w="9525" cap="flat">
            <a:solidFill>
              <a:srgbClr val="19226D">
                <a:alpha val="55000"/>
              </a:srgbClr>
            </a:solidFill>
            <a:round/>
          </a:ln>
        </p:spPr>
      </p:cxnSp>
      <p:cxnSp>
        <p:nvCxnSpPr>
          <p:cNvPr id="9" name="pd:s-pain:fishbone.tick:2"/>
          <p:cNvCxnSpPr/>
          <p:nvPr/>
        </p:nvCxnSpPr>
        <p:spPr>
          <a:xfrm flipH="1">
            <a:off x="6547104" y="2999232"/>
            <a:ext cx="329184" cy="0"/>
          </a:xfrm>
          <a:prstGeom prst="line">
            <a:avLst/>
          </a:prstGeom>
          <a:ln w="9525" cap="flat">
            <a:solidFill>
              <a:srgbClr val="19226D">
                <a:alpha val="55000"/>
              </a:srgbClr>
            </a:solidFill>
            <a:round/>
          </a:ln>
        </p:spPr>
      </p:cxnSp>
      <p:cxnSp>
        <p:nvCxnSpPr>
          <p:cNvPr id="13" name="pd:s-pain:fishbone.bone:2"/>
          <p:cNvCxnSpPr/>
          <p:nvPr/>
        </p:nvCxnSpPr>
        <p:spPr>
          <a:xfrm flipH="1">
            <a:off x="4133088" y="3511296"/>
            <a:ext cx="877824" cy="1536192"/>
          </a:xfrm>
          <a:prstGeom prst="line">
            <a:avLst/>
          </a:prstGeom>
          <a:ln w="12700" cap="flat">
            <a:solidFill>
              <a:srgbClr val="19226D">
                <a:alpha val="70000"/>
              </a:srgbClr>
            </a:solidFill>
            <a:round/>
          </a:ln>
        </p:spPr>
      </p:cxnSp>
      <p:cxnSp>
        <p:nvCxnSpPr>
          <p:cNvPr id="14" name="pd:s-pain:fishbone.tick:3"/>
          <p:cNvCxnSpPr/>
          <p:nvPr/>
        </p:nvCxnSpPr>
        <p:spPr>
          <a:xfrm flipH="1">
            <a:off x="4389120" y="4023360"/>
            <a:ext cx="329184" cy="0"/>
          </a:xfrm>
          <a:prstGeom prst="line">
            <a:avLst/>
          </a:prstGeom>
          <a:ln w="9525" cap="flat">
            <a:solidFill>
              <a:srgbClr val="19226D">
                <a:alpha val="55000"/>
              </a:srgbClr>
            </a:solidFill>
            <a:round/>
          </a:ln>
        </p:spPr>
      </p:cxnSp>
      <p:cxnSp>
        <p:nvCxnSpPr>
          <p:cNvPr id="15" name="pd:s-pain:fishbone.tick:4"/>
          <p:cNvCxnSpPr/>
          <p:nvPr/>
        </p:nvCxnSpPr>
        <p:spPr>
          <a:xfrm flipH="1">
            <a:off x="4096512" y="4535424"/>
            <a:ext cx="329184" cy="0"/>
          </a:xfrm>
          <a:prstGeom prst="line">
            <a:avLst/>
          </a:prstGeom>
          <a:ln w="9525" cap="flat">
            <a:solidFill>
              <a:srgbClr val="19226D">
                <a:alpha val="55000"/>
              </a:srgbClr>
            </a:solidFill>
            <a:round/>
          </a:ln>
        </p:spPr>
      </p:cxnSp>
      <p:cxnSp>
        <p:nvCxnSpPr>
          <p:cNvPr id="19" name="pd:s-pain:fishbone.bone:3"/>
          <p:cNvCxnSpPr/>
          <p:nvPr/>
        </p:nvCxnSpPr>
        <p:spPr>
          <a:xfrm flipH="1" flipV="1">
            <a:off x="1975104" y="1975104"/>
            <a:ext cx="877824" cy="1536192"/>
          </a:xfrm>
          <a:prstGeom prst="line">
            <a:avLst/>
          </a:prstGeom>
          <a:ln w="15875" cap="flat">
            <a:solidFill>
              <a:srgbClr val="F37021"/>
            </a:solidFill>
            <a:round/>
          </a:ln>
        </p:spPr>
      </p:cxnSp>
      <p:cxnSp>
        <p:nvCxnSpPr>
          <p:cNvPr id="20" name="pd:s-pain:fishbone.tick:5"/>
          <p:cNvCxnSpPr/>
          <p:nvPr/>
        </p:nvCxnSpPr>
        <p:spPr>
          <a:xfrm flipH="1">
            <a:off x="1938528" y="2487168"/>
            <a:ext cx="329184" cy="0"/>
          </a:xfrm>
          <a:prstGeom prst="line">
            <a:avLst/>
          </a:prstGeom>
          <a:ln w="9525" cap="flat">
            <a:solidFill>
              <a:srgbClr val="19226D">
                <a:alpha val="55000"/>
              </a:srgbClr>
            </a:solidFill>
            <a:round/>
          </a:ln>
        </p:spPr>
      </p:cxnSp>
      <p:cxnSp>
        <p:nvCxnSpPr>
          <p:cNvPr id="21" name="pd:s-pain:fishbone.tick:6"/>
          <p:cNvCxnSpPr/>
          <p:nvPr/>
        </p:nvCxnSpPr>
        <p:spPr>
          <a:xfrm flipH="1">
            <a:off x="2231136" y="2999232"/>
            <a:ext cx="329184" cy="0"/>
          </a:xfrm>
          <a:prstGeom prst="line">
            <a:avLst/>
          </a:prstGeom>
          <a:ln w="9525" cap="flat">
            <a:solidFill>
              <a:srgbClr val="19226D">
                <a:alpha val="55000"/>
              </a:srgbClr>
            </a:solidFill>
            <a:round/>
          </a:ln>
        </p:spPr>
      </p:cxnSp>
      <p:cxnSp>
        <p:nvCxnSpPr>
          <p:cNvPr id="26" name="pd:s-pain:fishbone.sep:1"/>
          <p:cNvCxnSpPr/>
          <p:nvPr/>
        </p:nvCxnSpPr>
        <p:spPr>
          <a:xfrm>
            <a:off x="512064" y="5376672"/>
            <a:ext cx="11155680" cy="0"/>
          </a:xfrm>
          <a:prstGeom prst="line">
            <a:avLst/>
          </a:prstGeom>
          <a:ln w="9525" cap="flat">
            <a:solidFill>
              <a:srgbClr val="19226D">
                <a:alpha val="15000"/>
              </a:srgbClr>
            </a:solidFill>
            <a:round/>
          </a:ln>
        </p:spPr>
      </p:cxnSp>
      <p:cxnSp>
        <p:nvCxnSpPr>
          <p:cNvPr id="33" name="pd:s-pain:fishbone.legend-line:1"/>
          <p:cNvCxnSpPr/>
          <p:nvPr/>
        </p:nvCxnSpPr>
        <p:spPr>
          <a:xfrm>
            <a:off x="1609344" y="5852160"/>
            <a:ext cx="256032" cy="0"/>
          </a:xfrm>
          <a:prstGeom prst="line">
            <a:avLst/>
          </a:prstGeom>
          <a:ln w="12700" cap="flat">
            <a:solidFill>
              <a:srgbClr val="19226D">
                <a:alpha val="70000"/>
              </a:srgbClr>
            </a:solidFill>
            <a:round/>
          </a:ln>
        </p:spPr>
      </p:cxnSp>
      <p:cxnSp>
        <p:nvCxnSpPr>
          <p:cNvPr id="35" name="pd:s-pain:fishbone.legend-line:2"/>
          <p:cNvCxnSpPr/>
          <p:nvPr/>
        </p:nvCxnSpPr>
        <p:spPr>
          <a:xfrm>
            <a:off x="3364992" y="5852160"/>
            <a:ext cx="256032" cy="0"/>
          </a:xfrm>
          <a:prstGeom prst="line">
            <a:avLst/>
          </a:prstGeom>
          <a:ln w="15875" cap="flat">
            <a:solidFill>
              <a:srgbClr val="F37021"/>
            </a:solidFill>
            <a:round/>
          </a:ln>
        </p:spPr>
      </p:cxnSp>
      <p:sp>
        <p:nvSpPr>
          <p:cNvPr id="10" name="pd:s-pain:fishbone.node@bone.1:1"/>
          <p:cNvSpPr/>
          <p:nvPr/>
        </p:nvSpPr>
        <p:spPr>
          <a:xfrm>
            <a:off x="5486400" y="1828800"/>
            <a:ext cx="1609344" cy="292608"/>
          </a:xfrm>
          <a:prstGeom prst="roundRect">
            <a:avLst>
              <a:gd name="adj" fmla="val 10000"/>
            </a:avLst>
          </a:prstGeom>
          <a:solidFill>
            <a:srgbClr val="FFFFFF"/>
          </a:solidFill>
          <a:ln w="9525" cap="flat">
            <a:solidFill>
              <a:srgbClr val="19226D"/>
            </a:solidFill>
            <a:round/>
          </a:ln>
        </p:spPr>
        <p:txBody>
          <a:bodyPr wrap="square" lIns="64008" tIns="0" rIns="64008" bIns="0" anchor="ctr" rtlCol="0">
            <a:noAutofit/>
          </a:bodyPr>
          <a:lstStyle/>
          <a:p>
            <a:pPr algn="ctr" marL="0" marR="0" indent="0" rtl="0" eaLnBrk="1" latinLnBrk="0">
              <a:lnSpc>
                <a:spcPts val="1320"/>
              </a:lnSpc>
              <a:spcBef>
                <a:spcPts val="0"/>
              </a:spcBef>
              <a:spcAft>
                <a:spcPts val="0"/>
              </a:spcAft>
              <a:buNone/>
            </a:pPr>
            <a:r>
              <a:rPr lang="vi-VN" altLang="en-US" sz="1000" b="1" i="0" cap="none" spc="0" baseline="0" normalizeH="0" dirty="0">
                <a:solidFill>
                  <a:srgbClr val="19226D"/>
                </a:solidFill>
                <a:latin typeface="Meiryo UI"/>
                <a:ea typeface="Meiryo UI"/>
              </a:rPr>
              <a:t>Quá nhiều nét</a:t>
            </a:r>
            <a:endParaRPr lang="vi-VN" sz="1000" dirty="0"/>
          </a:p>
        </p:txBody>
      </p:sp>
      <p:sp>
        <p:nvSpPr>
          <p:cNvPr id="16" name="pd:s-pain:fishbone.node@bone.2:1"/>
          <p:cNvSpPr/>
          <p:nvPr/>
        </p:nvSpPr>
        <p:spPr>
          <a:xfrm>
            <a:off x="3328416" y="4901184"/>
            <a:ext cx="1609344" cy="292608"/>
          </a:xfrm>
          <a:prstGeom prst="roundRect">
            <a:avLst>
              <a:gd name="adj" fmla="val 10000"/>
            </a:avLst>
          </a:prstGeom>
          <a:solidFill>
            <a:srgbClr val="FFFFFF"/>
          </a:solidFill>
          <a:ln w="9525" cap="flat">
            <a:solidFill>
              <a:srgbClr val="19226D"/>
            </a:solidFill>
            <a:round/>
          </a:ln>
        </p:spPr>
        <p:txBody>
          <a:bodyPr wrap="square" lIns="64008" tIns="0" rIns="64008" bIns="0" anchor="ctr" rtlCol="0">
            <a:noAutofit/>
          </a:bodyPr>
          <a:lstStyle/>
          <a:p>
            <a:pPr algn="ctr" marL="0" marR="0" indent="0" rtl="0" eaLnBrk="1" latinLnBrk="0">
              <a:lnSpc>
                <a:spcPts val="1320"/>
              </a:lnSpc>
              <a:spcBef>
                <a:spcPts val="0"/>
              </a:spcBef>
              <a:spcAft>
                <a:spcPts val="0"/>
              </a:spcAft>
              <a:buNone/>
            </a:pPr>
            <a:r>
              <a:rPr lang="vi-VN" altLang="en-US" sz="1000" b="1" i="0" cap="none" spc="0" baseline="0" normalizeH="0" dirty="0">
                <a:solidFill>
                  <a:srgbClr val="19226D"/>
                </a:solidFill>
                <a:latin typeface="Meiryo UI"/>
                <a:ea typeface="Meiryo UI"/>
              </a:rPr>
              <a:t>Chép máy móc</a:t>
            </a:r>
            <a:endParaRPr lang="vi-VN" sz="1000" dirty="0"/>
          </a:p>
        </p:txBody>
      </p:sp>
      <p:sp>
        <p:nvSpPr>
          <p:cNvPr id="22" name="pd:s-pain:fishbone.node@bone.3:1" descr="Biểu đồ xương cá: ba nhóm nguyên nhân — quá nhiều nét, chép máy móc, thiếu ngữ cảnh — dẫn đến việc không hiểu chữ."/>
          <p:cNvSpPr/>
          <p:nvPr/>
        </p:nvSpPr>
        <p:spPr>
          <a:xfrm>
            <a:off x="1170432" y="1828800"/>
            <a:ext cx="1609344" cy="292608"/>
          </a:xfrm>
          <a:prstGeom prst="roundRect">
            <a:avLst>
              <a:gd name="adj" fmla="val 10000"/>
            </a:avLst>
          </a:prstGeom>
          <a:solidFill>
            <a:srgbClr val="FEF4ED"/>
          </a:solidFill>
          <a:ln w="15875" cap="flat">
            <a:solidFill>
              <a:srgbClr val="F37021"/>
            </a:solidFill>
            <a:round/>
          </a:ln>
        </p:spPr>
        <p:txBody>
          <a:bodyPr wrap="square" lIns="64008" tIns="0" rIns="64008" bIns="0" anchor="ctr" rtlCol="0">
            <a:noAutofit/>
          </a:bodyPr>
          <a:lstStyle/>
          <a:p>
            <a:pPr algn="ctr" marL="0" marR="0" indent="0" rtl="0" eaLnBrk="1" latinLnBrk="0">
              <a:lnSpc>
                <a:spcPts val="1320"/>
              </a:lnSpc>
              <a:spcBef>
                <a:spcPts val="0"/>
              </a:spcBef>
              <a:spcAft>
                <a:spcPts val="0"/>
              </a:spcAft>
              <a:buNone/>
            </a:pPr>
            <a:r>
              <a:rPr lang="vi-VN" altLang="en-US" sz="1000" b="1" i="0" cap="none" spc="0" baseline="0" normalizeH="0" dirty="0">
                <a:solidFill>
                  <a:srgbClr val="F37021"/>
                </a:solidFill>
                <a:latin typeface="Meiryo UI"/>
                <a:ea typeface="Meiryo UI"/>
              </a:rPr>
              <a:t>Thiếu ngữ cảnh</a:t>
            </a:r>
            <a:endParaRPr lang="vi-VN" sz="1000" dirty="0"/>
          </a:p>
        </p:txBody>
      </p:sp>
      <p:sp>
        <p:nvSpPr>
          <p:cNvPr id="25" name="pd:s-pain:fishbone.node:1"/>
          <p:cNvSpPr/>
          <p:nvPr/>
        </p:nvSpPr>
        <p:spPr>
          <a:xfrm>
            <a:off x="9326880" y="3035808"/>
            <a:ext cx="2340864" cy="950976"/>
          </a:xfrm>
          <a:prstGeom prst="roundRect">
            <a:avLst>
              <a:gd name="adj" fmla="val 8511"/>
            </a:avLst>
          </a:prstGeom>
          <a:solidFill>
            <a:srgbClr val="F37021">
              <a:alpha val="8000"/>
            </a:srgbClr>
          </a:solidFill>
          <a:ln w="15875" cap="flat">
            <a:solidFill>
              <a:srgbClr val="F37021"/>
            </a:solidFill>
            <a:round/>
          </a:ln>
        </p:spPr>
        <p:txBody>
          <a:bodyPr wrap="square" lIns="64008" tIns="0" rIns="64008" bIns="0" anchor="ctr" rtlCol="0">
            <a:noAutofit/>
          </a:bodyPr>
          <a:lstStyle/>
          <a:p>
            <a:pPr algn="ctr" marL="0" marR="0" indent="0" rtl="0" eaLnBrk="1" latinLnBrk="0">
              <a:lnSpc>
                <a:spcPts val="1452"/>
              </a:lnSpc>
              <a:spcBef>
                <a:spcPts val="0"/>
              </a:spcBef>
              <a:spcAft>
                <a:spcPts val="0"/>
              </a:spcAft>
              <a:buNone/>
            </a:pPr>
            <a:r>
              <a:rPr lang="vi-VN" altLang="en-US" sz="1100" b="1" i="0" cap="none" spc="0" baseline="0" normalizeH="0" dirty="0">
                <a:solidFill>
                  <a:srgbClr val="F37021"/>
                </a:solidFill>
                <a:latin typeface="Meiryo UI"/>
                <a:ea typeface="Meiryo UI"/>
              </a:rPr>
              <a:t>Kanji như hình vẽ rời rạc</a:t>
            </a:r>
            <a:endParaRPr lang="vi-VN" sz="1100" dirty="0"/>
          </a:p>
          <a:p>
            <a:pPr algn="ctr" marL="0" marR="0" indent="0" rtl="0" eaLnBrk="1" latinLnBrk="0">
              <a:lnSpc>
                <a:spcPts val="1188"/>
              </a:lnSpc>
              <a:spcBef>
                <a:spcPts val="0"/>
              </a:spcBef>
              <a:spcAft>
                <a:spcPts val="0"/>
              </a:spcAft>
              <a:buNone/>
            </a:pPr>
            <a:r>
              <a:rPr lang="vi-VN" altLang="en-US" sz="900" b="0" i="0" cap="none" spc="0" baseline="0" normalizeH="0" dirty="0">
                <a:solidFill>
                  <a:srgbClr val="19226D">
                    <a:alpha val="55000"/>
                  </a:srgbClr>
                </a:solidFill>
                <a:latin typeface="Meiryo UI"/>
                <a:ea typeface="Meiryo UI"/>
              </a:rPr>
              <a:t>không biết bắt đầu phân tích</a:t>
            </a:r>
            <a:endParaRPr lang="vi-VN" sz="900" dirty="0"/>
          </a:p>
        </p:txBody>
      </p:sp>
      <p:sp>
        <p:nvSpPr>
          <p:cNvPr id="28" name="pd:s-pain:fishbone.swatch:1"/>
          <p:cNvSpPr/>
          <p:nvPr/>
        </p:nvSpPr>
        <p:spPr>
          <a:xfrm>
            <a:off x="1609344" y="5559552"/>
            <a:ext cx="256032" cy="146304"/>
          </a:xfrm>
          <a:prstGeom prst="roundRect">
            <a:avLst>
              <a:gd name="adj" fmla="val 2000"/>
            </a:avLst>
          </a:prstGeom>
          <a:solidFill>
            <a:srgbClr val="FFFFFF"/>
          </a:solidFill>
          <a:ln w="9525" cap="flat">
            <a:solidFill>
              <a:srgbClr val="19226D"/>
            </a:solidFill>
            <a:round/>
          </a:ln>
        </p:spPr>
      </p:sp>
      <p:sp>
        <p:nvSpPr>
          <p:cNvPr id="30" name="pd:s-pain:fishbone.swatch:2"/>
          <p:cNvSpPr/>
          <p:nvPr/>
        </p:nvSpPr>
        <p:spPr>
          <a:xfrm>
            <a:off x="3328416" y="5559552"/>
            <a:ext cx="256032" cy="146304"/>
          </a:xfrm>
          <a:prstGeom prst="roundRect">
            <a:avLst>
              <a:gd name="adj" fmla="val 2000"/>
            </a:avLst>
          </a:prstGeom>
          <a:solidFill>
            <a:srgbClr val="F37021">
              <a:alpha val="8000"/>
            </a:srgbClr>
          </a:solidFill>
          <a:ln w="15875" cap="flat">
            <a:solidFill>
              <a:srgbClr val="F37021"/>
            </a:solidFill>
            <a:round/>
          </a:ln>
        </p:spPr>
      </p:sp>
      <p:sp>
        <p:nvSpPr>
          <p:cNvPr id="5" name="pd:s-pain:premise:1"/>
          <p:cNvSpPr txBox="1"/>
          <p:nvPr/>
        </p:nvSpPr>
        <p:spPr>
          <a:xfrm>
            <a:off x="512064" y="1280160"/>
            <a:ext cx="11155680" cy="182880"/>
          </a:xfrm>
          <a:prstGeom prst="rect">
            <a:avLst/>
          </a:prstGeom>
          <a:noFill/>
          <a:ln>
            <a:noFill/>
          </a:ln>
        </p:spPr>
        <p:txBody>
          <a:bodyPr wrap="square" lIns="0" tIns="0" rIns="0" bIns="0" anchor="t">
            <a:noAutofit/>
          </a:bodyPr>
          <a:lstStyle/>
          <a:p>
            <a:pPr algn="l" marL="0" marR="0" indent="0" rtl="0" eaLnBrk="1" latinLnBrk="0">
              <a:lnSpc>
                <a:spcPct val="100000"/>
              </a:lnSpc>
              <a:spcBef>
                <a:spcPts val="0"/>
              </a:spcBef>
              <a:spcAft>
                <a:spcPts val="0"/>
              </a:spcAft>
              <a:buNone/>
            </a:pPr>
            <a:r>
              <a:rPr lang="vi-VN" sz="900" i="0" cap="none" spc="0" baseline="0" normalizeH="0" dirty="0">
                <a:solidFill>
                  <a:srgbClr val="5E6499"/>
                </a:solidFill>
                <a:latin typeface="Meiryo UI"/>
                <a:ea typeface="Meiryo UI"/>
              </a:rPr>
              <a:t>※ Ghi nhớ ký hiệu, chưa hiểu chữ.</a:t>
            </a:r>
          </a:p>
        </p:txBody>
      </p:sp>
      <p:sp>
        <p:nvSpPr>
          <p:cNvPr id="11" name="pd:s-pain:fishbone.label:1"/>
          <p:cNvSpPr txBox="1"/>
          <p:nvPr/>
        </p:nvSpPr>
        <p:spPr>
          <a:xfrm>
            <a:off x="4864608" y="2267712"/>
            <a:ext cx="1316736" cy="182880"/>
          </a:xfrm>
          <a:prstGeom prst="rect">
            <a:avLst/>
          </a:prstGeom>
          <a:noFill/>
          <a:ln w="9525">
            <a:noFill/>
          </a:ln>
        </p:spPr>
        <p:txBody>
          <a:bodyPr wrap="square" lIns="0" tIns="0" rIns="0" bIns="0" anchor="ctr" rtlCol="0">
            <a:noAutofit/>
          </a:bodyPr>
          <a:lstStyle/>
          <a:p>
            <a:pPr algn="r" marL="0" marR="0" indent="0" rtl="0" eaLnBrk="1" latinLnBrk="0">
              <a:lnSpc>
                <a:spcPts val="1188"/>
              </a:lnSpc>
              <a:spcBef>
                <a:spcPts val="0"/>
              </a:spcBef>
              <a:spcAft>
                <a:spcPts val="0"/>
              </a:spcAft>
              <a:buNone/>
            </a:pPr>
            <a:r>
              <a:rPr lang="vi-VN" altLang="en-US" sz="900" b="0" i="0" cap="none" spc="0" baseline="0" normalizeH="0" dirty="0">
                <a:solidFill>
                  <a:srgbClr val="080808"/>
                </a:solidFill>
                <a:latin typeface="Meiryo UI"/>
                <a:ea typeface="Meiryo UI"/>
              </a:rPr>
              <a:t>Khối phức tạp</a:t>
            </a:r>
            <a:endParaRPr lang="vi-VN" sz="900" dirty="0"/>
          </a:p>
        </p:txBody>
      </p:sp>
      <p:sp>
        <p:nvSpPr>
          <p:cNvPr id="12" name="pd:s-pain:fishbone.label:2"/>
          <p:cNvSpPr txBox="1"/>
          <p:nvPr/>
        </p:nvSpPr>
        <p:spPr>
          <a:xfrm>
            <a:off x="5157216" y="2779776"/>
            <a:ext cx="1316736" cy="182880"/>
          </a:xfrm>
          <a:prstGeom prst="rect">
            <a:avLst/>
          </a:prstGeom>
          <a:noFill/>
          <a:ln w="9525">
            <a:noFill/>
          </a:ln>
        </p:spPr>
        <p:txBody>
          <a:bodyPr wrap="square" lIns="0" tIns="0" rIns="0" bIns="0" anchor="ctr" rtlCol="0">
            <a:noAutofit/>
          </a:bodyPr>
          <a:lstStyle/>
          <a:p>
            <a:pPr algn="r" marL="0" marR="0" indent="0" rtl="0" eaLnBrk="1" latinLnBrk="0">
              <a:lnSpc>
                <a:spcPts val="1188"/>
              </a:lnSpc>
              <a:spcBef>
                <a:spcPts val="0"/>
              </a:spcBef>
              <a:spcAft>
                <a:spcPts val="0"/>
              </a:spcAft>
              <a:buNone/>
            </a:pPr>
            <a:r>
              <a:rPr lang="vi-VN" altLang="en-US" sz="900" b="0" i="0" cap="none" spc="0" baseline="0" normalizeH="0" dirty="0">
                <a:solidFill>
                  <a:srgbClr val="080808"/>
                </a:solidFill>
                <a:latin typeface="Meiryo UI"/>
                <a:ea typeface="Meiryo UI"/>
              </a:rPr>
              <a:t>Không biết bắt đầu</a:t>
            </a:r>
            <a:endParaRPr lang="vi-VN" sz="900" dirty="0"/>
          </a:p>
        </p:txBody>
      </p:sp>
      <p:sp>
        <p:nvSpPr>
          <p:cNvPr id="17" name="pd:s-pain:fishbone.label:3"/>
          <p:cNvSpPr txBox="1"/>
          <p:nvPr/>
        </p:nvSpPr>
        <p:spPr>
          <a:xfrm>
            <a:off x="2999232" y="4059936"/>
            <a:ext cx="1316736" cy="182880"/>
          </a:xfrm>
          <a:prstGeom prst="rect">
            <a:avLst/>
          </a:prstGeom>
          <a:noFill/>
          <a:ln w="9525">
            <a:noFill/>
          </a:ln>
        </p:spPr>
        <p:txBody>
          <a:bodyPr wrap="square" lIns="0" tIns="0" rIns="0" bIns="0" anchor="ctr" rtlCol="0">
            <a:noAutofit/>
          </a:bodyPr>
          <a:lstStyle/>
          <a:p>
            <a:pPr algn="r" marL="0" marR="0" indent="0" rtl="0" eaLnBrk="1" latinLnBrk="0">
              <a:lnSpc>
                <a:spcPts val="1188"/>
              </a:lnSpc>
              <a:spcBef>
                <a:spcPts val="0"/>
              </a:spcBef>
              <a:spcAft>
                <a:spcPts val="0"/>
              </a:spcAft>
              <a:buNone/>
            </a:pPr>
            <a:r>
              <a:rPr lang="vi-VN" altLang="en-US" sz="900" b="0" i="0" cap="none" spc="0" baseline="0" normalizeH="0" dirty="0">
                <a:solidFill>
                  <a:srgbClr val="080808"/>
                </a:solidFill>
                <a:latin typeface="Meiryo UI"/>
                <a:ea typeface="Meiryo UI"/>
              </a:rPr>
              <a:t>Quen tay</a:t>
            </a:r>
            <a:endParaRPr lang="vi-VN" sz="900" dirty="0"/>
          </a:p>
        </p:txBody>
      </p:sp>
      <p:sp>
        <p:nvSpPr>
          <p:cNvPr id="18" name="pd:s-pain:fishbone.label:4"/>
          <p:cNvSpPr txBox="1"/>
          <p:nvPr/>
        </p:nvSpPr>
        <p:spPr>
          <a:xfrm>
            <a:off x="2706624" y="4572000"/>
            <a:ext cx="1316736" cy="182880"/>
          </a:xfrm>
          <a:prstGeom prst="rect">
            <a:avLst/>
          </a:prstGeom>
          <a:noFill/>
          <a:ln w="9525">
            <a:noFill/>
          </a:ln>
        </p:spPr>
        <p:txBody>
          <a:bodyPr wrap="square" lIns="0" tIns="0" rIns="0" bIns="0" anchor="ctr" rtlCol="0">
            <a:noAutofit/>
          </a:bodyPr>
          <a:lstStyle/>
          <a:p>
            <a:pPr algn="r" marL="0" marR="0" indent="0" rtl="0" eaLnBrk="1" latinLnBrk="0">
              <a:lnSpc>
                <a:spcPts val="1188"/>
              </a:lnSpc>
              <a:spcBef>
                <a:spcPts val="0"/>
              </a:spcBef>
              <a:spcAft>
                <a:spcPts val="0"/>
              </a:spcAft>
              <a:buNone/>
            </a:pPr>
            <a:r>
              <a:rPr lang="vi-VN" altLang="en-US" sz="900" b="0" i="0" cap="none" spc="0" baseline="0" normalizeH="0" dirty="0">
                <a:solidFill>
                  <a:srgbClr val="080808"/>
                </a:solidFill>
                <a:latin typeface="Meiryo UI"/>
                <a:ea typeface="Meiryo UI"/>
              </a:rPr>
              <a:t>Không hiểu cấu trúc</a:t>
            </a:r>
            <a:endParaRPr lang="vi-VN" sz="900" dirty="0"/>
          </a:p>
        </p:txBody>
      </p:sp>
      <p:sp>
        <p:nvSpPr>
          <p:cNvPr id="23" name="pd:s-pain:fishbone.label:5"/>
          <p:cNvSpPr txBox="1"/>
          <p:nvPr/>
        </p:nvSpPr>
        <p:spPr>
          <a:xfrm>
            <a:off x="548640" y="2267712"/>
            <a:ext cx="1316736" cy="182880"/>
          </a:xfrm>
          <a:prstGeom prst="rect">
            <a:avLst/>
          </a:prstGeom>
          <a:noFill/>
          <a:ln w="9525">
            <a:noFill/>
          </a:ln>
        </p:spPr>
        <p:txBody>
          <a:bodyPr wrap="square" lIns="0" tIns="0" rIns="0" bIns="0" anchor="ctr" rtlCol="0">
            <a:noAutofit/>
          </a:bodyPr>
          <a:lstStyle/>
          <a:p>
            <a:pPr algn="r" marL="0" marR="0" indent="0" rtl="0" eaLnBrk="1" latinLnBrk="0">
              <a:lnSpc>
                <a:spcPts val="1188"/>
              </a:lnSpc>
              <a:spcBef>
                <a:spcPts val="0"/>
              </a:spcBef>
              <a:spcAft>
                <a:spcPts val="0"/>
              </a:spcAft>
              <a:buNone/>
            </a:pPr>
            <a:r>
              <a:rPr lang="vi-VN" altLang="en-US" sz="900" b="0" i="0" cap="none" spc="0" baseline="0" normalizeH="0" dirty="0">
                <a:solidFill>
                  <a:srgbClr val="080808"/>
                </a:solidFill>
                <a:latin typeface="Meiryo UI"/>
                <a:ea typeface="Meiryo UI"/>
              </a:rPr>
              <a:t>Flashcard tĩnh</a:t>
            </a:r>
            <a:endParaRPr lang="vi-VN" sz="900" dirty="0"/>
          </a:p>
        </p:txBody>
      </p:sp>
      <p:sp>
        <p:nvSpPr>
          <p:cNvPr id="24" name="pd:s-pain:fishbone.label:6"/>
          <p:cNvSpPr txBox="1"/>
          <p:nvPr/>
        </p:nvSpPr>
        <p:spPr>
          <a:xfrm>
            <a:off x="841248" y="2779776"/>
            <a:ext cx="1316736" cy="182880"/>
          </a:xfrm>
          <a:prstGeom prst="rect">
            <a:avLst/>
          </a:prstGeom>
          <a:noFill/>
          <a:ln w="9525">
            <a:noFill/>
          </a:ln>
        </p:spPr>
        <p:txBody>
          <a:bodyPr wrap="square" lIns="0" tIns="0" rIns="0" bIns="0" anchor="ctr" rtlCol="0">
            <a:noAutofit/>
          </a:bodyPr>
          <a:lstStyle/>
          <a:p>
            <a:pPr algn="r" marL="0" marR="0" indent="0" rtl="0" eaLnBrk="1" latinLnBrk="0">
              <a:lnSpc>
                <a:spcPts val="1188"/>
              </a:lnSpc>
              <a:spcBef>
                <a:spcPts val="0"/>
              </a:spcBef>
              <a:spcAft>
                <a:spcPts val="0"/>
              </a:spcAft>
              <a:buNone/>
            </a:pPr>
            <a:r>
              <a:rPr lang="vi-VN" altLang="en-US" sz="900" b="0" i="0" cap="none" spc="0" baseline="0" normalizeH="0" dirty="0">
                <a:solidFill>
                  <a:srgbClr val="080808"/>
                </a:solidFill>
                <a:latin typeface="Meiryo UI"/>
                <a:ea typeface="Meiryo UI"/>
              </a:rPr>
              <a:t>Âm, từ tách rời</a:t>
            </a:r>
            <a:endParaRPr lang="vi-VN" sz="900" dirty="0"/>
          </a:p>
        </p:txBody>
      </p:sp>
      <p:sp>
        <p:nvSpPr>
          <p:cNvPr id="27" name="pd:s-pain:fishbone.legend-head:1"/>
          <p:cNvSpPr txBox="1"/>
          <p:nvPr/>
        </p:nvSpPr>
        <p:spPr>
          <a:xfrm>
            <a:off x="512064" y="5522976"/>
            <a:ext cx="1024128" cy="219456"/>
          </a:xfrm>
          <a:prstGeom prst="rect">
            <a:avLst/>
          </a:prstGeom>
          <a:noFill/>
          <a:ln w="9525">
            <a:noFill/>
          </a:ln>
        </p:spPr>
        <p:txBody>
          <a:bodyPr wrap="square" lIns="0" tIns="0" rIns="0" bIns="0" anchor="ctr" rtlCol="0">
            <a:noAutofit/>
          </a:bodyPr>
          <a:lstStyle/>
          <a:p>
            <a:pPr algn="l" marL="0" marR="0" indent="0" rtl="0" eaLnBrk="1" latinLnBrk="0">
              <a:lnSpc>
                <a:spcPts val="1188"/>
              </a:lnSpc>
              <a:spcBef>
                <a:spcPts val="0"/>
              </a:spcBef>
              <a:spcAft>
                <a:spcPts val="0"/>
              </a:spcAft>
              <a:buNone/>
            </a:pPr>
            <a:r>
              <a:rPr lang="vi-VN" altLang="en-US" sz="900" b="1" i="0" cap="none" spc="0" baseline="0" normalizeH="0" dirty="0">
                <a:solidFill>
                  <a:srgbClr val="19226D">
                    <a:alpha val="55000"/>
                  </a:srgbClr>
                </a:solidFill>
                <a:latin typeface="Meiryo UI"/>
                <a:ea typeface="Meiryo UI"/>
              </a:rPr>
              <a:t>Loại</a:t>
            </a:r>
            <a:endParaRPr lang="vi-VN" sz="900" dirty="0"/>
          </a:p>
        </p:txBody>
      </p:sp>
      <p:sp>
        <p:nvSpPr>
          <p:cNvPr id="29" name="pd:s-pain:fishbone.legend-text@swatch.1:1"/>
          <p:cNvSpPr txBox="1"/>
          <p:nvPr/>
        </p:nvSpPr>
        <p:spPr>
          <a:xfrm>
            <a:off x="1938528" y="5522976"/>
            <a:ext cx="1170432" cy="219456"/>
          </a:xfrm>
          <a:prstGeom prst="rect">
            <a:avLst/>
          </a:prstGeom>
          <a:noFill/>
          <a:ln w="9525">
            <a:noFill/>
          </a:ln>
        </p:spPr>
        <p:txBody>
          <a:bodyPr wrap="square" lIns="0" tIns="0" rIns="0" bIns="0" anchor="ctr" rtlCol="0">
            <a:noAutofit/>
          </a:bodyPr>
          <a:lstStyle/>
          <a:p>
            <a:pPr algn="l" marL="0" marR="0" indent="0" rtl="0" eaLnBrk="1" latinLnBrk="0">
              <a:lnSpc>
                <a:spcPts val="1188"/>
              </a:lnSpc>
              <a:spcBef>
                <a:spcPts val="0"/>
              </a:spcBef>
              <a:spcAft>
                <a:spcPts val="0"/>
              </a:spcAft>
              <a:buNone/>
            </a:pPr>
            <a:r>
              <a:rPr lang="vi-VN" altLang="en-US" sz="900" b="0" i="0" cap="none" spc="0" baseline="0" normalizeH="0" dirty="0">
                <a:solidFill>
                  <a:srgbClr val="080808"/>
                </a:solidFill>
                <a:latin typeface="Meiryo UI"/>
                <a:ea typeface="Meiryo UI"/>
              </a:rPr>
              <a:t>Nhóm nguyên nhân</a:t>
            </a:r>
            <a:endParaRPr lang="vi-VN" sz="900" dirty="0"/>
          </a:p>
        </p:txBody>
      </p:sp>
      <p:sp>
        <p:nvSpPr>
          <p:cNvPr id="31" name="pd:s-pain:fishbone.legend-text@swatch.2:1"/>
          <p:cNvSpPr txBox="1"/>
          <p:nvPr/>
        </p:nvSpPr>
        <p:spPr>
          <a:xfrm>
            <a:off x="3657600" y="5522976"/>
            <a:ext cx="1755648" cy="219456"/>
          </a:xfrm>
          <a:prstGeom prst="rect">
            <a:avLst/>
          </a:prstGeom>
          <a:noFill/>
          <a:ln w="9525">
            <a:noFill/>
          </a:ln>
        </p:spPr>
        <p:txBody>
          <a:bodyPr wrap="square" lIns="0" tIns="0" rIns="0" bIns="0" anchor="ctr" rtlCol="0">
            <a:noAutofit/>
          </a:bodyPr>
          <a:lstStyle/>
          <a:p>
            <a:pPr algn="l" marL="0" marR="0" indent="0" rtl="0" eaLnBrk="1" latinLnBrk="0">
              <a:lnSpc>
                <a:spcPts val="1188"/>
              </a:lnSpc>
              <a:spcBef>
                <a:spcPts val="0"/>
              </a:spcBef>
              <a:spcAft>
                <a:spcPts val="0"/>
              </a:spcAft>
              <a:buNone/>
            </a:pPr>
            <a:r>
              <a:rPr lang="vi-VN" altLang="en-US" sz="900" b="0" i="0" cap="none" spc="0" baseline="0" normalizeH="0" dirty="0">
                <a:solidFill>
                  <a:srgbClr val="080808"/>
                </a:solidFill>
                <a:latin typeface="Meiryo UI"/>
                <a:ea typeface="Meiryo UI"/>
              </a:rPr>
              <a:t>Nguyên nhân gốc / hiện tượng</a:t>
            </a:r>
            <a:endParaRPr lang="vi-VN" sz="900" dirty="0"/>
          </a:p>
        </p:txBody>
      </p:sp>
      <p:sp>
        <p:nvSpPr>
          <p:cNvPr id="32" name="pd:s-pain:fishbone.legend-head:2"/>
          <p:cNvSpPr txBox="1"/>
          <p:nvPr/>
        </p:nvSpPr>
        <p:spPr>
          <a:xfrm>
            <a:off x="512064" y="5742432"/>
            <a:ext cx="1024128" cy="219456"/>
          </a:xfrm>
          <a:prstGeom prst="rect">
            <a:avLst/>
          </a:prstGeom>
          <a:noFill/>
          <a:ln w="9525">
            <a:noFill/>
          </a:ln>
        </p:spPr>
        <p:txBody>
          <a:bodyPr wrap="square" lIns="0" tIns="0" rIns="0" bIns="0" anchor="ctr" rtlCol="0">
            <a:noAutofit/>
          </a:bodyPr>
          <a:lstStyle/>
          <a:p>
            <a:pPr algn="l" marL="0" marR="0" indent="0" rtl="0" eaLnBrk="1" latinLnBrk="0">
              <a:lnSpc>
                <a:spcPts val="1188"/>
              </a:lnSpc>
              <a:spcBef>
                <a:spcPts val="0"/>
              </a:spcBef>
              <a:spcAft>
                <a:spcPts val="0"/>
              </a:spcAft>
              <a:buNone/>
            </a:pPr>
            <a:r>
              <a:rPr lang="vi-VN" altLang="en-US" sz="900" b="1" i="0" cap="none" spc="0" baseline="0" normalizeH="0" dirty="0">
                <a:solidFill>
                  <a:srgbClr val="19226D">
                    <a:alpha val="55000"/>
                  </a:srgbClr>
                </a:solidFill>
                <a:latin typeface="Meiryo UI"/>
                <a:ea typeface="Meiryo UI"/>
              </a:rPr>
              <a:t>Đường</a:t>
            </a:r>
            <a:endParaRPr lang="vi-VN" sz="900" dirty="0"/>
          </a:p>
        </p:txBody>
      </p:sp>
      <p:sp>
        <p:nvSpPr>
          <p:cNvPr id="34" name="pd:s-pain:fishbone.legend-text@legend-line.1:1"/>
          <p:cNvSpPr txBox="1"/>
          <p:nvPr/>
        </p:nvSpPr>
        <p:spPr>
          <a:xfrm>
            <a:off x="1938528" y="5742432"/>
            <a:ext cx="1207008" cy="219456"/>
          </a:xfrm>
          <a:prstGeom prst="rect">
            <a:avLst/>
          </a:prstGeom>
          <a:noFill/>
          <a:ln w="9525">
            <a:noFill/>
          </a:ln>
        </p:spPr>
        <p:txBody>
          <a:bodyPr wrap="square" lIns="0" tIns="0" rIns="0" bIns="0" anchor="ctr" rtlCol="0">
            <a:noAutofit/>
          </a:bodyPr>
          <a:lstStyle/>
          <a:p>
            <a:pPr algn="l" marL="0" marR="0" indent="0" rtl="0" eaLnBrk="1" latinLnBrk="0">
              <a:lnSpc>
                <a:spcPts val="1188"/>
              </a:lnSpc>
              <a:spcBef>
                <a:spcPts val="0"/>
              </a:spcBef>
              <a:spcAft>
                <a:spcPts val="0"/>
              </a:spcAft>
              <a:buNone/>
            </a:pPr>
            <a:r>
              <a:rPr lang="vi-VN" altLang="en-US" sz="900" b="0" i="0" cap="none" spc="0" baseline="0" normalizeH="0" dirty="0">
                <a:solidFill>
                  <a:srgbClr val="080808"/>
                </a:solidFill>
                <a:latin typeface="Meiryo UI"/>
                <a:ea typeface="Meiryo UI"/>
              </a:rPr>
              <a:t>Nhánh nguyên nhân</a:t>
            </a:r>
            <a:endParaRPr lang="vi-VN" sz="900" dirty="0"/>
          </a:p>
        </p:txBody>
      </p:sp>
      <p:sp>
        <p:nvSpPr>
          <p:cNvPr id="36" name="pd:s-pain:fishbone.legend-text@legend-line.2:1"/>
          <p:cNvSpPr txBox="1"/>
          <p:nvPr/>
        </p:nvSpPr>
        <p:spPr>
          <a:xfrm>
            <a:off x="3694176" y="5742432"/>
            <a:ext cx="658368" cy="219456"/>
          </a:xfrm>
          <a:prstGeom prst="rect">
            <a:avLst/>
          </a:prstGeom>
          <a:noFill/>
          <a:ln w="9525">
            <a:noFill/>
          </a:ln>
        </p:spPr>
        <p:txBody>
          <a:bodyPr wrap="square" lIns="0" tIns="0" rIns="0" bIns="0" anchor="ctr" rtlCol="0">
            <a:noAutofit/>
          </a:bodyPr>
          <a:lstStyle/>
          <a:p>
            <a:pPr algn="l" marL="0" marR="0" indent="0" rtl="0" eaLnBrk="1" latinLnBrk="0">
              <a:lnSpc>
                <a:spcPts val="1188"/>
              </a:lnSpc>
              <a:spcBef>
                <a:spcPts val="0"/>
              </a:spcBef>
              <a:spcAft>
                <a:spcPts val="0"/>
              </a:spcAft>
              <a:buNone/>
            </a:pPr>
            <a:r>
              <a:rPr lang="vi-VN" altLang="en-US" sz="900" b="0" i="0" cap="none" spc="0" baseline="0" normalizeH="0" dirty="0">
                <a:solidFill>
                  <a:srgbClr val="080808"/>
                </a:solidFill>
                <a:latin typeface="Meiryo UI"/>
                <a:ea typeface="Meiryo UI"/>
              </a:rPr>
              <a:t>Nhánh gốc</a:t>
            </a:r>
            <a:endParaRPr lang="vi-VN" sz="900" dirty="0"/>
          </a:p>
        </p:txBody>
      </p:sp>
    </p:spTree>
    <p:custDataLst>
      <p:tags r:id="rId3"/>
    </p:custDataLst>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c:title:1"/>
          <p:cNvSpPr>
            <a:spLocks noGrp="1"/>
          </p:cNvSpPr>
          <p:nvPr>
            <p:ph type="title"/>
          </p:nvPr>
        </p:nvSpPr>
        <p:spPr/>
        <p:txBody>
          <a:bodyPr>
            <a:noAutofit/>
          </a:bodyPr>
          <a:lstStyle/>
          <a:p>
            <a:pPr>
              <a:lnSpc>
                <a:spcPts val="3360"/>
              </a:lnSpc>
            </a:pPr>
            <a:r>
              <a:rPr lang="vi-VN" altLang="en-US" sz="2800" dirty="0">
                <a:ea typeface="Meiryo UI"/>
              </a:rPr>
              <a:t>Ba nhóm người dùng chính</a:t>
            </a:r>
          </a:p>
        </p:txBody>
      </p:sp>
      <p:sp>
        <p:nvSpPr>
          <p:cNvPr id="3" name="Slide Number Placeholder 3">
            <a:extLst>
              <a:ext uri="{FF2B5EF4-FFF2-40B4-BE49-F238E27FC236}">
                <a16:creationId xmlns:a16="http://schemas.microsoft.com/office/drawing/2014/main" id="{13BB62CA-CBF7-31AD-BAA2-F360326FF91D}"/>
              </a:ext>
            </a:extLst>
          </p:cNvPr>
          <p:cNvSpPr>
            <a:spLocks noGrp="1"/>
          </p:cNvSpPr>
          <p:nvPr>
            <p:ph type="sldNum" sz="quarter" idx="12"/>
          </p:nvPr>
        </p:nvSpPr>
        <p:spPr>
          <a:xfrm>
            <a:off x="10330249" y="6415503"/>
            <a:ext cx="1577824" cy="251969"/>
          </a:xfrm>
          <a:prstGeom prst="rect">
            <a:avLst/>
          </a:prstGeom>
        </p:spPr>
        <p:txBody>
          <a:bodyPr/>
          <a:lstStyle>
            <a:lvl1pPr algn="r">
              <a:defRPr sz="1050">
                <a:solidFill>
                  <a:schemeClr val="accent6">
                    <a:lumMod val="60000"/>
                    <a:lumOff val="40000"/>
                  </a:schemeClr>
                </a:solidFill>
              </a:defRPr>
            </a:lvl1pPr>
          </a:lstStyle>
          <a:p>
            <a:r>
              <a:rPr lang="en-US" u="sng" dirty="0" err="1">
                <a:hlinkClick r:id="rId2">
                  <a:extLst>
                    <a:ext uri="{A12FA001-AC4F-418D-AE19-62706E023703}">
                      <ahyp:hlinkClr xmlns:ahyp="http://schemas.microsoft.com/office/drawing/2018/hyperlinkcolor" val="tx"/>
                    </a:ext>
                  </a:extLst>
                </a:hlinkClick>
              </a:rPr>
              <a:t>fptsoftware.com</a:t>
            </a:r>
            <a:r>
              <a:rPr lang="en-US" dirty="0">
                <a:hlinkClick r:id="rId2">
                  <a:extLst>
                    <a:ext uri="{A12FA001-AC4F-418D-AE19-62706E023703}">
                      <ahyp:hlinkClr xmlns:ahyp="http://schemas.microsoft.com/office/drawing/2018/hyperlinkcolor" val="tx"/>
                    </a:ext>
                  </a:extLst>
                </a:hlinkClick>
              </a:rPr>
              <a:t> </a:t>
            </a:r>
            <a:r>
              <a:rPr lang="en-US" dirty="0"/>
              <a:t>| </a:t>
            </a:r>
            <a:fld id="{E012F146-47F9-A646-B182-8CC39B8AD32B}" type="slidenum">
              <a:rPr lang="x-none" smtClean="0"/>
              <a:pPr/>
              <a:t>3</a:t>
            </a:fld>
            <a:endParaRPr lang="x-none"/>
          </a:p>
        </p:txBody>
      </p:sp>
      <p:sp>
        <p:nvSpPr>
          <p:cNvPr id="4" name="sc:li:1"/>
          <p:cNvSpPr txBox="1"/>
          <p:nvPr/>
        </p:nvSpPr>
        <p:spPr>
          <a:xfrm>
            <a:off x="512064" y="1280160"/>
            <a:ext cx="11155680" cy="1306195"/>
          </a:xfrm>
          <a:prstGeom prst="rect">
            <a:avLst/>
          </a:prstGeom>
          <a:noFill/>
          <a:ln>
            <a:noFill/>
          </a:ln>
        </p:spPr>
        <p:txBody>
          <a:bodyPr wrap="square" lIns="0" tIns="0" rIns="0" bIns="0" anchor="t" rtlCol="0">
            <a:noAutofit/>
          </a:bodyPr>
          <a:lstStyle/>
          <a:p>
            <a:pPr marL="177800" indent="-177800" algn="l">
              <a:lnSpc>
                <a:spcPts val="2465"/>
              </a:lnSpc>
              <a:spcBef>
                <a:spcPts val="0"/>
              </a:spcBef>
              <a:spcAft>
                <a:spcPts val="0"/>
              </a:spcAft>
              <a:buFont typeface="Arial"/>
              <a:buChar char="•"/>
            </a:pPr>
            <a:r>
              <a:rPr lang="vi-VN" altLang="en-US" sz="1700" b="0" dirty="0">
                <a:solidFill>
                  <a:srgbClr val="080808"/>
                </a:solidFill>
                <a:latin typeface="Meiryo UI"/>
                <a:ea typeface="Meiryo UI"/>
              </a:rPr>
              <a:t>N5 cần trực quan</a:t>
            </a:r>
            <a:endParaRPr lang="en-US" sz="1700" dirty="0"/>
          </a:p>
          <a:p>
            <a:pPr marL="177800" indent="-177800" algn="l">
              <a:lnSpc>
                <a:spcPts val="2465"/>
              </a:lnSpc>
              <a:spcBef>
                <a:spcPts val="1445"/>
              </a:spcBef>
              <a:spcAft>
                <a:spcPts val="0"/>
              </a:spcAft>
              <a:buFont typeface="Arial"/>
              <a:buChar char="•"/>
            </a:pPr>
            <a:r>
              <a:rPr lang="vi-VN" altLang="en-US" sz="1700" b="0" dirty="0">
                <a:solidFill>
                  <a:srgbClr val="080808"/>
                </a:solidFill>
                <a:latin typeface="Meiryo UI"/>
                <a:ea typeface="Meiryo UI"/>
              </a:rPr>
              <a:t>Game cần động lực</a:t>
            </a:r>
            <a:endParaRPr lang="en-US" sz="1700" dirty="0"/>
          </a:p>
          <a:p>
            <a:pPr marL="177800" indent="-177800" algn="l">
              <a:lnSpc>
                <a:spcPts val="2465"/>
              </a:lnSpc>
              <a:spcBef>
                <a:spcPts val="1445"/>
              </a:spcBef>
              <a:spcAft>
                <a:spcPts val="0"/>
              </a:spcAft>
              <a:buFont typeface="Arial"/>
              <a:buChar char="•"/>
            </a:pPr>
            <a:r>
              <a:rPr lang="vi-VN" altLang="en-US" sz="1700" b="0" dirty="0">
                <a:solidFill>
                  <a:srgbClr val="080808"/>
                </a:solidFill>
                <a:latin typeface="Meiryo UI"/>
                <a:ea typeface="Meiryo UI"/>
              </a:rPr>
              <a:t>Lớp nhập môn cần mở bài</a:t>
            </a:r>
            <a:endParaRPr lang="en-US" sz="1700" dirty="0"/>
          </a:p>
        </p:txBody>
      </p:sp>
      <p:graphicFrame>
        <p:nvGraphicFramePr>
          <p:cNvPr id="5" name="sc:table:1"/>
          <p:cNvGraphicFramePr>
            <a:graphicFrameLocks noGrp="1"/>
          </p:cNvGraphicFramePr>
          <p:nvPr/>
        </p:nvGraphicFramePr>
        <p:xfrm>
          <a:off x="512064" y="2743200"/>
          <a:ext cx="11155680" cy="3072384"/>
        </p:xfrm>
        <a:graphic>
          <a:graphicData uri="http://schemas.openxmlformats.org/drawingml/2006/table">
            <a:tbl>
              <a:tblPr firstRow="1" bandRow="0"/>
              <a:tblGrid>
                <a:gridCol w="3694176"/>
                <a:gridCol w="7461504"/>
              </a:tblGrid>
              <a:tr h="512064">
                <a:tc>
                  <a:txBody>
                    <a:bodyPr wrap="square"/>
                    <a:lstStyle/>
                    <a:p>
                      <a:pPr algn="l">
                        <a:lnSpc>
                          <a:spcPts val="2170"/>
                        </a:lnSpc>
                      </a:pPr>
                      <a:r>
                        <a:rPr lang="vi-VN" altLang="en-US" sz="1400" b="1" dirty="0">
                          <a:solidFill>
                            <a:srgbClr val="FFFFFF"/>
                          </a:solidFill>
                          <a:latin typeface="Meiryo UI"/>
                          <a:ea typeface="Meiryo UI"/>
                        </a:rPr>
                        <a:t>Nhóm</a:t>
                      </a:r>
                      <a:endParaRPr lang="en-US" sz="1400" dirty="0"/>
                    </a:p>
                  </a:txBody>
                  <a:tcPr marL="146304" marR="146304" marT="109728" marB="109728" anchor="ctr">
                    <a:lnL w="9525" cap="flat" cmpd="sng" algn="ctr">
                      <a:solidFill>
                        <a:srgbClr val="DCDEE9"/>
                      </a:solidFill>
                      <a:prstDash val="solid"/>
                    </a:lnL>
                    <a:lnR w="9525" cap="flat" cmpd="sng" algn="ctr">
                      <a:solidFill>
                        <a:srgbClr val="DCDEE9"/>
                      </a:solidFill>
                      <a:prstDash val="solid"/>
                    </a:lnR>
                    <a:lnT w="9525" cap="flat" cmpd="sng" algn="ctr">
                      <a:solidFill>
                        <a:srgbClr val="DCDEE9"/>
                      </a:solidFill>
                      <a:prstDash val="solid"/>
                    </a:lnT>
                    <a:lnB w="9525" cap="flat" cmpd="sng" algn="ctr">
                      <a:solidFill>
                        <a:srgbClr val="DCDEE9"/>
                      </a:solidFill>
                      <a:prstDash val="solid"/>
                    </a:lnB>
                    <a:solidFill>
                      <a:srgbClr val="034EA2"/>
                    </a:solidFill>
                  </a:tcPr>
                </a:tc>
                <a:tc>
                  <a:txBody>
                    <a:bodyPr wrap="square"/>
                    <a:lstStyle/>
                    <a:p>
                      <a:pPr algn="l">
                        <a:lnSpc>
                          <a:spcPts val="2170"/>
                        </a:lnSpc>
                      </a:pPr>
                      <a:r>
                        <a:rPr lang="vi-VN" altLang="en-US" sz="1400" b="1" dirty="0">
                          <a:solidFill>
                            <a:srgbClr val="FFFFFF"/>
                          </a:solidFill>
                          <a:latin typeface="Meiryo UI"/>
                          <a:ea typeface="Meiryo UI"/>
                        </a:rPr>
                        <a:t>Nhu cầu</a:t>
                      </a:r>
                      <a:endParaRPr lang="en-US" sz="1400" dirty="0"/>
                    </a:p>
                  </a:txBody>
                  <a:tcPr marL="146304" marR="146304" marT="109728" marB="109728" anchor="ctr">
                    <a:lnL w="9525" cap="flat" cmpd="sng" algn="ctr">
                      <a:solidFill>
                        <a:srgbClr val="DCDEE9"/>
                      </a:solidFill>
                      <a:prstDash val="solid"/>
                    </a:lnL>
                    <a:lnR w="9525" cap="flat" cmpd="sng" algn="ctr">
                      <a:solidFill>
                        <a:srgbClr val="DCDEE9"/>
                      </a:solidFill>
                      <a:prstDash val="solid"/>
                    </a:lnR>
                    <a:lnT w="9525" cap="flat" cmpd="sng" algn="ctr">
                      <a:solidFill>
                        <a:srgbClr val="DCDEE9"/>
                      </a:solidFill>
                      <a:prstDash val="solid"/>
                    </a:lnT>
                    <a:lnB w="9525" cap="flat" cmpd="sng" algn="ctr">
                      <a:solidFill>
                        <a:srgbClr val="DCDEE9"/>
                      </a:solidFill>
                      <a:prstDash val="solid"/>
                    </a:lnB>
                    <a:solidFill>
                      <a:srgbClr val="034EA2"/>
                    </a:solidFill>
                  </a:tcPr>
                </a:tc>
              </a:tr>
              <a:tr h="512064">
                <a:tc>
                  <a:txBody>
                    <a:bodyPr wrap="square"/>
                    <a:lstStyle/>
                    <a:p>
                      <a:pPr algn="l">
                        <a:lnSpc>
                          <a:spcPts val="2170"/>
                        </a:lnSpc>
                      </a:pPr>
                      <a:r>
                        <a:rPr lang="vi-VN" altLang="en-US" sz="1400" b="0" dirty="0">
                          <a:solidFill>
                            <a:srgbClr val="080808"/>
                          </a:solidFill>
                          <a:latin typeface="Meiryo UI"/>
                          <a:ea typeface="Meiryo UI"/>
                        </a:rPr>
                        <a:t>N5</a:t>
                      </a:r>
                      <a:endParaRPr lang="en-US" sz="1400" dirty="0"/>
                    </a:p>
                  </a:txBody>
                  <a:tcPr marL="146304" marR="146304" marT="109728" marB="109728" anchor="ctr">
                    <a:lnL w="9525" cap="flat" cmpd="sng" algn="ctr">
                      <a:solidFill>
                        <a:srgbClr val="DCDEE9"/>
                      </a:solidFill>
                      <a:prstDash val="solid"/>
                    </a:lnL>
                    <a:lnR w="9525" cap="flat" cmpd="sng" algn="ctr">
                      <a:solidFill>
                        <a:srgbClr val="DCDEE9"/>
                      </a:solidFill>
                      <a:prstDash val="solid"/>
                    </a:lnR>
                    <a:lnT w="9525" cap="flat" cmpd="sng" algn="ctr">
                      <a:solidFill>
                        <a:srgbClr val="DCDEE9"/>
                      </a:solidFill>
                      <a:prstDash val="solid"/>
                    </a:lnT>
                    <a:lnB w="9525" cap="flat" cmpd="sng" algn="ctr">
                      <a:solidFill>
                        <a:srgbClr val="DCDEE9"/>
                      </a:solidFill>
                      <a:prstDash val="solid"/>
                    </a:lnB>
                    <a:solidFill>
                      <a:srgbClr val="FFFFFF"/>
                    </a:solidFill>
                  </a:tcPr>
                </a:tc>
                <a:tc>
                  <a:txBody>
                    <a:bodyPr wrap="square"/>
                    <a:lstStyle/>
                    <a:p>
                      <a:pPr algn="l">
                        <a:lnSpc>
                          <a:spcPts val="2170"/>
                        </a:lnSpc>
                      </a:pPr>
                      <a:r>
                        <a:rPr lang="vi-VN" altLang="en-US" sz="1400" b="0" dirty="0">
                          <a:solidFill>
                            <a:srgbClr val="080808"/>
                          </a:solidFill>
                          <a:latin typeface="Meiryo UI"/>
                          <a:ea typeface="Meiryo UI"/>
                        </a:rPr>
                        <a:t>Trực quan, phiên ngắn</a:t>
                      </a:r>
                      <a:endParaRPr lang="en-US" sz="1400" dirty="0"/>
                    </a:p>
                  </a:txBody>
                  <a:tcPr marL="146304" marR="146304" marT="109728" marB="109728" anchor="ctr">
                    <a:lnL w="9525" cap="flat" cmpd="sng" algn="ctr">
                      <a:solidFill>
                        <a:srgbClr val="DCDEE9"/>
                      </a:solidFill>
                      <a:prstDash val="solid"/>
                    </a:lnL>
                    <a:lnR w="9525" cap="flat" cmpd="sng" algn="ctr">
                      <a:solidFill>
                        <a:srgbClr val="DCDEE9"/>
                      </a:solidFill>
                      <a:prstDash val="solid"/>
                    </a:lnR>
                    <a:lnT w="9525" cap="flat" cmpd="sng" algn="ctr">
                      <a:solidFill>
                        <a:srgbClr val="DCDEE9"/>
                      </a:solidFill>
                      <a:prstDash val="solid"/>
                    </a:lnT>
                    <a:lnB w="9525" cap="flat" cmpd="sng" algn="ctr">
                      <a:solidFill>
                        <a:srgbClr val="DCDEE9"/>
                      </a:solidFill>
                      <a:prstDash val="solid"/>
                    </a:lnB>
                    <a:solidFill>
                      <a:srgbClr val="FFFFFF"/>
                    </a:solidFill>
                  </a:tcPr>
                </a:tc>
              </a:tr>
              <a:tr h="512064">
                <a:tc>
                  <a:txBody>
                    <a:bodyPr wrap="square"/>
                    <a:lstStyle/>
                    <a:p>
                      <a:pPr algn="l">
                        <a:lnSpc>
                          <a:spcPts val="2170"/>
                        </a:lnSpc>
                      </a:pPr>
                      <a:r>
                        <a:rPr lang="vi-VN" altLang="en-US" sz="1400" b="0" dirty="0">
                          <a:solidFill>
                            <a:srgbClr val="080808"/>
                          </a:solidFill>
                          <a:latin typeface="Meiryo UI"/>
                          <a:ea typeface="Meiryo UI"/>
                        </a:rPr>
                        <a:t>N5</a:t>
                      </a:r>
                      <a:endParaRPr lang="en-US" sz="1400" dirty="0"/>
                    </a:p>
                  </a:txBody>
                  <a:tcPr marL="146304" marR="146304" marT="109728" marB="109728" anchor="ctr">
                    <a:lnL w="9525" cap="flat" cmpd="sng" algn="ctr">
                      <a:solidFill>
                        <a:srgbClr val="DCDEE9"/>
                      </a:solidFill>
                      <a:prstDash val="solid"/>
                    </a:lnL>
                    <a:lnR w="9525" cap="flat" cmpd="sng" algn="ctr">
                      <a:solidFill>
                        <a:srgbClr val="DCDEE9"/>
                      </a:solidFill>
                      <a:prstDash val="solid"/>
                    </a:lnR>
                    <a:lnT w="9525" cap="flat" cmpd="sng" algn="ctr">
                      <a:solidFill>
                        <a:srgbClr val="DCDEE9"/>
                      </a:solidFill>
                      <a:prstDash val="solid"/>
                    </a:lnT>
                    <a:lnB w="9525" cap="flat" cmpd="sng" algn="ctr">
                      <a:solidFill>
                        <a:srgbClr val="DCDEE9"/>
                      </a:solidFill>
                      <a:prstDash val="solid"/>
                    </a:lnB>
                    <a:solidFill>
                      <a:srgbClr val="F4F4F8"/>
                    </a:solidFill>
                  </a:tcPr>
                </a:tc>
                <a:tc>
                  <a:txBody>
                    <a:bodyPr wrap="square"/>
                    <a:lstStyle/>
                    <a:p>
                      <a:pPr algn="l">
                        <a:lnSpc>
                          <a:spcPts val="2170"/>
                        </a:lnSpc>
                      </a:pPr>
                      <a:r>
                        <a:rPr lang="vi-VN" altLang="en-US" sz="1400" b="0" dirty="0">
                          <a:solidFill>
                            <a:srgbClr val="080808"/>
                          </a:solidFill>
                          <a:latin typeface="Meiryo UI"/>
                          <a:ea typeface="Meiryo UI"/>
                        </a:rPr>
                        <a:t>Phân biệt chữ</a:t>
                      </a:r>
                      <a:endParaRPr lang="en-US" sz="1400" dirty="0"/>
                    </a:p>
                  </a:txBody>
                  <a:tcPr marL="146304" marR="146304" marT="109728" marB="109728" anchor="ctr">
                    <a:lnL w="9525" cap="flat" cmpd="sng" algn="ctr">
                      <a:solidFill>
                        <a:srgbClr val="DCDEE9"/>
                      </a:solidFill>
                      <a:prstDash val="solid"/>
                    </a:lnL>
                    <a:lnR w="9525" cap="flat" cmpd="sng" algn="ctr">
                      <a:solidFill>
                        <a:srgbClr val="DCDEE9"/>
                      </a:solidFill>
                      <a:prstDash val="solid"/>
                    </a:lnR>
                    <a:lnT w="9525" cap="flat" cmpd="sng" algn="ctr">
                      <a:solidFill>
                        <a:srgbClr val="DCDEE9"/>
                      </a:solidFill>
                      <a:prstDash val="solid"/>
                    </a:lnT>
                    <a:lnB w="9525" cap="flat" cmpd="sng" algn="ctr">
                      <a:solidFill>
                        <a:srgbClr val="DCDEE9"/>
                      </a:solidFill>
                      <a:prstDash val="solid"/>
                    </a:lnB>
                    <a:solidFill>
                      <a:srgbClr val="F4F4F8"/>
                    </a:solidFill>
                  </a:tcPr>
                </a:tc>
              </a:tr>
              <a:tr h="512064">
                <a:tc>
                  <a:txBody>
                    <a:bodyPr wrap="square"/>
                    <a:lstStyle/>
                    <a:p>
                      <a:pPr algn="l">
                        <a:lnSpc>
                          <a:spcPts val="2170"/>
                        </a:lnSpc>
                      </a:pPr>
                      <a:r>
                        <a:rPr lang="vi-VN" altLang="en-US" sz="1400" b="0" dirty="0">
                          <a:solidFill>
                            <a:srgbClr val="080808"/>
                          </a:solidFill>
                          <a:latin typeface="Meiryo UI"/>
                          <a:ea typeface="Meiryo UI"/>
                        </a:rPr>
                        <a:t>Game</a:t>
                      </a:r>
                      <a:endParaRPr lang="en-US" sz="1400" dirty="0"/>
                    </a:p>
                  </a:txBody>
                  <a:tcPr marL="146304" marR="146304" marT="109728" marB="109728" anchor="ctr">
                    <a:lnL w="9525" cap="flat" cmpd="sng" algn="ctr">
                      <a:solidFill>
                        <a:srgbClr val="DCDEE9"/>
                      </a:solidFill>
                      <a:prstDash val="solid"/>
                    </a:lnL>
                    <a:lnR w="9525" cap="flat" cmpd="sng" algn="ctr">
                      <a:solidFill>
                        <a:srgbClr val="DCDEE9"/>
                      </a:solidFill>
                      <a:prstDash val="solid"/>
                    </a:lnR>
                    <a:lnT w="9525" cap="flat" cmpd="sng" algn="ctr">
                      <a:solidFill>
                        <a:srgbClr val="DCDEE9"/>
                      </a:solidFill>
                      <a:prstDash val="solid"/>
                    </a:lnT>
                    <a:lnB w="9525" cap="flat" cmpd="sng" algn="ctr">
                      <a:solidFill>
                        <a:srgbClr val="DCDEE9"/>
                      </a:solidFill>
                      <a:prstDash val="solid"/>
                    </a:lnB>
                    <a:solidFill>
                      <a:srgbClr val="FFFFFF"/>
                    </a:solidFill>
                  </a:tcPr>
                </a:tc>
                <a:tc>
                  <a:txBody>
                    <a:bodyPr wrap="square"/>
                    <a:lstStyle/>
                    <a:p>
                      <a:pPr algn="l">
                        <a:lnSpc>
                          <a:spcPts val="2170"/>
                        </a:lnSpc>
                      </a:pPr>
                      <a:r>
                        <a:rPr lang="vi-VN" altLang="en-US" sz="1400" b="0" dirty="0">
                          <a:solidFill>
                            <a:srgbClr val="080808"/>
                          </a:solidFill>
                          <a:latin typeface="Meiryo UI"/>
                          <a:ea typeface="Meiryo UI"/>
                        </a:rPr>
                        <a:t>Thao tác, sưu tập</a:t>
                      </a:r>
                      <a:endParaRPr lang="en-US" sz="1400" dirty="0"/>
                    </a:p>
                  </a:txBody>
                  <a:tcPr marL="146304" marR="146304" marT="109728" marB="109728" anchor="ctr">
                    <a:lnL w="9525" cap="flat" cmpd="sng" algn="ctr">
                      <a:solidFill>
                        <a:srgbClr val="DCDEE9"/>
                      </a:solidFill>
                      <a:prstDash val="solid"/>
                    </a:lnL>
                    <a:lnR w="9525" cap="flat" cmpd="sng" algn="ctr">
                      <a:solidFill>
                        <a:srgbClr val="DCDEE9"/>
                      </a:solidFill>
                      <a:prstDash val="solid"/>
                    </a:lnR>
                    <a:lnT w="9525" cap="flat" cmpd="sng" algn="ctr">
                      <a:solidFill>
                        <a:srgbClr val="DCDEE9"/>
                      </a:solidFill>
                      <a:prstDash val="solid"/>
                    </a:lnT>
                    <a:lnB w="9525" cap="flat" cmpd="sng" algn="ctr">
                      <a:solidFill>
                        <a:srgbClr val="DCDEE9"/>
                      </a:solidFill>
                      <a:prstDash val="solid"/>
                    </a:lnB>
                    <a:solidFill>
                      <a:srgbClr val="FFFFFF"/>
                    </a:solidFill>
                  </a:tcPr>
                </a:tc>
              </a:tr>
              <a:tr h="512064">
                <a:tc>
                  <a:txBody>
                    <a:bodyPr wrap="square"/>
                    <a:lstStyle/>
                    <a:p>
                      <a:pPr algn="l">
                        <a:lnSpc>
                          <a:spcPts val="2170"/>
                        </a:lnSpc>
                      </a:pPr>
                      <a:r>
                        <a:rPr lang="vi-VN" altLang="en-US" sz="1400" b="0" dirty="0">
                          <a:solidFill>
                            <a:srgbClr val="080808"/>
                          </a:solidFill>
                          <a:latin typeface="Meiryo UI"/>
                          <a:ea typeface="Meiryo UI"/>
                        </a:rPr>
                        <a:t>Game</a:t>
                      </a:r>
                      <a:endParaRPr lang="en-US" sz="1400" dirty="0"/>
                    </a:p>
                  </a:txBody>
                  <a:tcPr marL="146304" marR="146304" marT="109728" marB="109728" anchor="ctr">
                    <a:lnL w="9525" cap="flat" cmpd="sng" algn="ctr">
                      <a:solidFill>
                        <a:srgbClr val="DCDEE9"/>
                      </a:solidFill>
                      <a:prstDash val="solid"/>
                    </a:lnL>
                    <a:lnR w="9525" cap="flat" cmpd="sng" algn="ctr">
                      <a:solidFill>
                        <a:srgbClr val="DCDEE9"/>
                      </a:solidFill>
                      <a:prstDash val="solid"/>
                    </a:lnR>
                    <a:lnT w="9525" cap="flat" cmpd="sng" algn="ctr">
                      <a:solidFill>
                        <a:srgbClr val="DCDEE9"/>
                      </a:solidFill>
                      <a:prstDash val="solid"/>
                    </a:lnT>
                    <a:lnB w="9525" cap="flat" cmpd="sng" algn="ctr">
                      <a:solidFill>
                        <a:srgbClr val="DCDEE9"/>
                      </a:solidFill>
                      <a:prstDash val="solid"/>
                    </a:lnB>
                    <a:solidFill>
                      <a:srgbClr val="F4F4F8"/>
                    </a:solidFill>
                  </a:tcPr>
                </a:tc>
                <a:tc>
                  <a:txBody>
                    <a:bodyPr wrap="square"/>
                    <a:lstStyle/>
                    <a:p>
                      <a:pPr algn="l">
                        <a:lnSpc>
                          <a:spcPts val="2170"/>
                        </a:lnSpc>
                      </a:pPr>
                      <a:r>
                        <a:rPr lang="vi-VN" altLang="en-US" sz="1400" b="0" dirty="0">
                          <a:solidFill>
                            <a:srgbClr val="080808"/>
                          </a:solidFill>
                          <a:latin typeface="Meiryo UI"/>
                          <a:ea typeface="Meiryo UI"/>
                        </a:rPr>
                        <a:t>Tiến bộ, điện thoại</a:t>
                      </a:r>
                      <a:endParaRPr lang="en-US" sz="1400" dirty="0"/>
                    </a:p>
                  </a:txBody>
                  <a:tcPr marL="146304" marR="146304" marT="109728" marB="109728" anchor="ctr">
                    <a:lnL w="9525" cap="flat" cmpd="sng" algn="ctr">
                      <a:solidFill>
                        <a:srgbClr val="DCDEE9"/>
                      </a:solidFill>
                      <a:prstDash val="solid"/>
                    </a:lnL>
                    <a:lnR w="9525" cap="flat" cmpd="sng" algn="ctr">
                      <a:solidFill>
                        <a:srgbClr val="DCDEE9"/>
                      </a:solidFill>
                      <a:prstDash val="solid"/>
                    </a:lnR>
                    <a:lnT w="9525" cap="flat" cmpd="sng" algn="ctr">
                      <a:solidFill>
                        <a:srgbClr val="DCDEE9"/>
                      </a:solidFill>
                      <a:prstDash val="solid"/>
                    </a:lnT>
                    <a:lnB w="9525" cap="flat" cmpd="sng" algn="ctr">
                      <a:solidFill>
                        <a:srgbClr val="DCDEE9"/>
                      </a:solidFill>
                      <a:prstDash val="solid"/>
                    </a:lnB>
                    <a:solidFill>
                      <a:srgbClr val="F4F4F8"/>
                    </a:solidFill>
                  </a:tcPr>
                </a:tc>
              </a:tr>
              <a:tr h="512064">
                <a:tc>
                  <a:txBody>
                    <a:bodyPr wrap="square"/>
                    <a:lstStyle/>
                    <a:p>
                      <a:pPr algn="l">
                        <a:lnSpc>
                          <a:spcPts val="2170"/>
                        </a:lnSpc>
                      </a:pPr>
                      <a:r>
                        <a:rPr lang="vi-VN" altLang="en-US" sz="1400" b="0" dirty="0">
                          <a:solidFill>
                            <a:srgbClr val="080808"/>
                          </a:solidFill>
                          <a:latin typeface="Meiryo UI"/>
                          <a:ea typeface="Meiryo UI"/>
                        </a:rPr>
                        <a:t>Giáo viên</a:t>
                      </a:r>
                      <a:endParaRPr lang="en-US" sz="1400" dirty="0"/>
                    </a:p>
                  </a:txBody>
                  <a:tcPr marL="146304" marR="146304" marT="109728" marB="109728" anchor="ctr">
                    <a:lnL w="9525" cap="flat" cmpd="sng" algn="ctr">
                      <a:solidFill>
                        <a:srgbClr val="DCDEE9"/>
                      </a:solidFill>
                      <a:prstDash val="solid"/>
                    </a:lnL>
                    <a:lnR w="9525" cap="flat" cmpd="sng" algn="ctr">
                      <a:solidFill>
                        <a:srgbClr val="DCDEE9"/>
                      </a:solidFill>
                      <a:prstDash val="solid"/>
                    </a:lnR>
                    <a:lnT w="9525" cap="flat" cmpd="sng" algn="ctr">
                      <a:solidFill>
                        <a:srgbClr val="DCDEE9"/>
                      </a:solidFill>
                      <a:prstDash val="solid"/>
                    </a:lnT>
                    <a:lnB w="9525" cap="flat" cmpd="sng" algn="ctr">
                      <a:solidFill>
                        <a:srgbClr val="DCDEE9"/>
                      </a:solidFill>
                      <a:prstDash val="solid"/>
                    </a:lnB>
                    <a:solidFill>
                      <a:srgbClr val="FFFFFF"/>
                    </a:solidFill>
                  </a:tcPr>
                </a:tc>
                <a:tc>
                  <a:txBody>
                    <a:bodyPr wrap="square"/>
                    <a:lstStyle/>
                    <a:p>
                      <a:pPr algn="l">
                        <a:lnSpc>
                          <a:spcPts val="2170"/>
                        </a:lnSpc>
                      </a:pPr>
                      <a:r>
                        <a:rPr lang="vi-VN" altLang="en-US" sz="1400" b="0" dirty="0">
                          <a:solidFill>
                            <a:srgbClr val="080808"/>
                          </a:solidFill>
                          <a:latin typeface="Meiryo UI"/>
                          <a:ea typeface="Meiryo UI"/>
                        </a:rPr>
                        <a:t>Chiếu web</a:t>
                      </a:r>
                      <a:endParaRPr lang="en-US" sz="1400" dirty="0"/>
                    </a:p>
                  </a:txBody>
                  <a:tcPr marL="146304" marR="146304" marT="109728" marB="109728" anchor="ctr">
                    <a:lnL w="9525" cap="flat" cmpd="sng" algn="ctr">
                      <a:solidFill>
                        <a:srgbClr val="DCDEE9"/>
                      </a:solidFill>
                      <a:prstDash val="solid"/>
                    </a:lnL>
                    <a:lnR w="9525" cap="flat" cmpd="sng" algn="ctr">
                      <a:solidFill>
                        <a:srgbClr val="DCDEE9"/>
                      </a:solidFill>
                      <a:prstDash val="solid"/>
                    </a:lnR>
                    <a:lnT w="9525" cap="flat" cmpd="sng" algn="ctr">
                      <a:solidFill>
                        <a:srgbClr val="DCDEE9"/>
                      </a:solidFill>
                      <a:prstDash val="solid"/>
                    </a:lnT>
                    <a:lnB w="9525" cap="flat" cmpd="sng" algn="ctr">
                      <a:solidFill>
                        <a:srgbClr val="DCDEE9"/>
                      </a:solidFill>
                      <a:prstDash val="solid"/>
                    </a:lnB>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c:title:1"/>
          <p:cNvSpPr>
            <a:spLocks noGrp="1"/>
          </p:cNvSpPr>
          <p:nvPr>
            <p:ph type="title"/>
          </p:nvPr>
        </p:nvSpPr>
        <p:spPr/>
        <p:txBody>
          <a:bodyPr>
            <a:noAutofit/>
          </a:bodyPr>
          <a:lstStyle/>
          <a:p>
            <a:pPr>
              <a:lnSpc>
                <a:spcPts val="3360"/>
              </a:lnSpc>
            </a:pPr>
            <a:r>
              <a:rPr lang="vi-VN" altLang="en-US" sz="2800" dirty="0">
                <a:ea typeface="Meiryo UI"/>
              </a:rPr>
              <a:t>Từ nhìn – nhớ sang quan sát – tái tạo</a:t>
            </a:r>
          </a:p>
        </p:txBody>
      </p:sp>
      <p:sp>
        <p:nvSpPr>
          <p:cNvPr id="3" name="Slide Number Placeholder 3">
            <a:extLst>
              <a:ext uri="{FF2B5EF4-FFF2-40B4-BE49-F238E27FC236}">
                <a16:creationId xmlns:a16="http://schemas.microsoft.com/office/drawing/2014/main" id="{13BB62CA-CBF7-31AD-BAA2-F360326FF91D}"/>
              </a:ext>
            </a:extLst>
          </p:cNvPr>
          <p:cNvSpPr>
            <a:spLocks noGrp="1"/>
          </p:cNvSpPr>
          <p:nvPr>
            <p:ph type="sldNum" sz="quarter" idx="12"/>
          </p:nvPr>
        </p:nvSpPr>
        <p:spPr>
          <a:xfrm>
            <a:off x="10330249" y="6415503"/>
            <a:ext cx="1577824" cy="251969"/>
          </a:xfrm>
          <a:prstGeom prst="rect">
            <a:avLst/>
          </a:prstGeom>
        </p:spPr>
        <p:txBody>
          <a:bodyPr/>
          <a:lstStyle>
            <a:lvl1pPr algn="r">
              <a:defRPr sz="1050">
                <a:solidFill>
                  <a:schemeClr val="accent6">
                    <a:lumMod val="60000"/>
                    <a:lumOff val="40000"/>
                  </a:schemeClr>
                </a:solidFill>
              </a:defRPr>
            </a:lvl1pPr>
          </a:lstStyle>
          <a:p>
            <a:r>
              <a:rPr lang="en-US" u="sng" dirty="0" err="1">
                <a:hlinkClick r:id="rId2">
                  <a:extLst>
                    <a:ext uri="{A12FA001-AC4F-418D-AE19-62706E023703}">
                      <ahyp:hlinkClr xmlns:ahyp="http://schemas.microsoft.com/office/drawing/2018/hyperlinkcolor" val="tx"/>
                    </a:ext>
                  </a:extLst>
                </a:hlinkClick>
              </a:rPr>
              <a:t>fptsoftware.com</a:t>
            </a:r>
            <a:r>
              <a:rPr lang="en-US" dirty="0">
                <a:hlinkClick r:id="rId2">
                  <a:extLst>
                    <a:ext uri="{A12FA001-AC4F-418D-AE19-62706E023703}">
                      <ahyp:hlinkClr xmlns:ahyp="http://schemas.microsoft.com/office/drawing/2018/hyperlinkcolor" val="tx"/>
                    </a:ext>
                  </a:extLst>
                </a:hlinkClick>
              </a:rPr>
              <a:t> </a:t>
            </a:r>
            <a:r>
              <a:rPr lang="en-US" dirty="0"/>
              <a:t>| </a:t>
            </a:r>
            <a:fld id="{E012F146-47F9-A646-B182-8CC39B8AD32B}" type="slidenum">
              <a:rPr lang="x-none" smtClean="0"/>
              <a:pPr/>
              <a:t>3</a:t>
            </a:fld>
            <a:endParaRPr lang="x-none"/>
          </a:p>
        </p:txBody>
      </p:sp>
      <p:sp>
        <p:nvSpPr>
          <p:cNvPr id="4" name="sc:lead:1"/>
          <p:cNvSpPr txBox="1"/>
          <p:nvPr/>
        </p:nvSpPr>
        <p:spPr>
          <a:xfrm>
            <a:off x="512064" y="987552"/>
            <a:ext cx="11155680" cy="257175"/>
          </a:xfrm>
          <a:prstGeom prst="rect">
            <a:avLst/>
          </a:prstGeom>
          <a:noFill/>
          <a:ln>
            <a:noFill/>
          </a:ln>
        </p:spPr>
        <p:txBody>
          <a:bodyPr wrap="square" lIns="0" tIns="0" rIns="0" bIns="0" anchor="t" rtlCol="0">
            <a:noAutofit/>
          </a:bodyPr>
          <a:lstStyle/>
          <a:p>
            <a:pPr marL="0" indent="0" algn="l">
              <a:lnSpc>
                <a:spcPts val="2025"/>
              </a:lnSpc>
              <a:spcBef>
                <a:spcPts val="0"/>
              </a:spcBef>
              <a:spcAft>
                <a:spcPts val="0"/>
              </a:spcAft>
              <a:buNone/>
            </a:pPr>
            <a:r>
              <a:rPr lang="vi-VN" altLang="en-US" sz="1500" b="1" dirty="0">
                <a:solidFill>
                  <a:srgbClr val="19226D"/>
                </a:solidFill>
                <a:latin typeface="Meiryo UI"/>
                <a:ea typeface="Meiryo UI"/>
              </a:rPr>
              <a:t>Bốn bước, một vòng truy hồi liên tục.</a:t>
            </a:r>
            <a:endParaRPr lang="en-US" sz="1500" dirty="0"/>
          </a:p>
        </p:txBody>
      </p:sp>
      <p:cxnSp>
        <p:nvCxnSpPr>
          <p:cNvPr id="11" name="pd:s-problem:loop.edge:1"/>
          <p:cNvCxnSpPr>
            <a:stCxn id="7" idx="3"/>
            <a:endCxn id="8" idx="0"/>
          </p:cNvCxnSpPr>
          <p:nvPr/>
        </p:nvCxnSpPr>
        <p:spPr>
          <a:xfrm>
            <a:off x="7315200" y="1975104"/>
            <a:ext cx="1865376" cy="1024128"/>
          </a:xfrm>
          <a:prstGeom prst="bentConnector2">
            <a:avLst/>
          </a:prstGeom>
          <a:ln w="12700" cap="flat">
            <a:solidFill>
              <a:srgbClr val="19226D">
                <a:alpha val="70000"/>
              </a:srgbClr>
            </a:solidFill>
            <a:round/>
            <a:tailEnd type="triangle" w="sm" len="sm"/>
          </a:ln>
        </p:spPr>
      </p:cxnSp>
      <p:cxnSp>
        <p:nvCxnSpPr>
          <p:cNvPr id="12" name="pd:s-problem:loop.edge:2"/>
          <p:cNvCxnSpPr>
            <a:stCxn id="9" idx="3"/>
            <a:endCxn id="8" idx="2"/>
          </p:cNvCxnSpPr>
          <p:nvPr/>
        </p:nvCxnSpPr>
        <p:spPr>
          <a:xfrm flipV="1">
            <a:off x="7315200" y="3803904"/>
            <a:ext cx="1865376" cy="1024128"/>
          </a:xfrm>
          <a:prstGeom prst="bentConnector2">
            <a:avLst/>
          </a:prstGeom>
          <a:ln w="12700" cap="flat">
            <a:solidFill>
              <a:srgbClr val="19226D">
                <a:alpha val="70000"/>
              </a:srgbClr>
            </a:solidFill>
            <a:round/>
            <a:headEnd type="triangle" w="sm" len="sm"/>
          </a:ln>
        </p:spPr>
      </p:cxnSp>
      <p:cxnSp>
        <p:nvCxnSpPr>
          <p:cNvPr id="13" name="pd:s-problem:loop.edge:3"/>
          <p:cNvCxnSpPr>
            <a:stCxn id="9" idx="1"/>
            <a:endCxn id="10" idx="2"/>
          </p:cNvCxnSpPr>
          <p:nvPr/>
        </p:nvCxnSpPr>
        <p:spPr>
          <a:xfrm flipH="1" flipV="1">
            <a:off x="2962656" y="3803904"/>
            <a:ext cx="1865376" cy="1024128"/>
          </a:xfrm>
          <a:prstGeom prst="bentConnector2">
            <a:avLst/>
          </a:prstGeom>
          <a:ln w="12700" cap="flat">
            <a:solidFill>
              <a:srgbClr val="19226D">
                <a:alpha val="70000"/>
              </a:srgbClr>
            </a:solidFill>
            <a:round/>
            <a:tailEnd type="triangle" w="sm" len="sm"/>
          </a:ln>
        </p:spPr>
      </p:cxnSp>
      <p:cxnSp>
        <p:nvCxnSpPr>
          <p:cNvPr id="14" name="pd:s-problem:loop.edge:4"/>
          <p:cNvCxnSpPr>
            <a:stCxn id="7" idx="1"/>
            <a:endCxn id="10" idx="0"/>
          </p:cNvCxnSpPr>
          <p:nvPr/>
        </p:nvCxnSpPr>
        <p:spPr>
          <a:xfrm flipH="1">
            <a:off x="2962656" y="1975104"/>
            <a:ext cx="1865376" cy="1024128"/>
          </a:xfrm>
          <a:prstGeom prst="bentConnector2">
            <a:avLst/>
          </a:prstGeom>
          <a:ln w="12700" cap="flat">
            <a:solidFill>
              <a:srgbClr val="19226D">
                <a:alpha val="70000"/>
              </a:srgbClr>
            </a:solidFill>
            <a:round/>
            <a:headEnd type="triangle" w="sm" len="sm"/>
          </a:ln>
        </p:spPr>
      </p:cxnSp>
      <p:cxnSp>
        <p:nvCxnSpPr>
          <p:cNvPr id="15" name="pd:s-problem:loop.edge:5"/>
          <p:cNvCxnSpPr>
            <a:stCxn id="7" idx="2"/>
            <a:endCxn id="6" idx="0"/>
          </p:cNvCxnSpPr>
          <p:nvPr/>
        </p:nvCxnSpPr>
        <p:spPr>
          <a:xfrm>
            <a:off x="6071616" y="2377440"/>
            <a:ext cx="0" cy="621792"/>
          </a:xfrm>
          <a:prstGeom prst="straightConnector1">
            <a:avLst/>
          </a:prstGeom>
          <a:ln w="12700" cap="flat">
            <a:solidFill>
              <a:srgbClr val="19226D">
                <a:alpha val="30000"/>
              </a:srgbClr>
            </a:solidFill>
            <a:prstDash val="dash"/>
            <a:round/>
            <a:tailEnd type="triangle" w="sm" len="sm"/>
          </a:ln>
        </p:spPr>
      </p:cxnSp>
      <p:cxnSp>
        <p:nvCxnSpPr>
          <p:cNvPr id="16" name="pd:s-problem:loop.edge:6"/>
          <p:cNvCxnSpPr>
            <a:stCxn id="8" idx="1"/>
            <a:endCxn id="6" idx="3"/>
          </p:cNvCxnSpPr>
          <p:nvPr/>
        </p:nvCxnSpPr>
        <p:spPr>
          <a:xfrm flipH="1">
            <a:off x="7315200" y="3401568"/>
            <a:ext cx="621792" cy="0"/>
          </a:xfrm>
          <a:prstGeom prst="straightConnector1">
            <a:avLst/>
          </a:prstGeom>
          <a:ln w="12700" cap="flat">
            <a:solidFill>
              <a:srgbClr val="19226D">
                <a:alpha val="30000"/>
              </a:srgbClr>
            </a:solidFill>
            <a:prstDash val="dash"/>
            <a:round/>
            <a:tailEnd type="triangle" w="sm" len="sm"/>
          </a:ln>
        </p:spPr>
      </p:cxnSp>
      <p:cxnSp>
        <p:nvCxnSpPr>
          <p:cNvPr id="17" name="pd:s-problem:loop.edge:7"/>
          <p:cNvCxnSpPr>
            <a:stCxn id="9" idx="0"/>
            <a:endCxn id="6" idx="2"/>
          </p:cNvCxnSpPr>
          <p:nvPr/>
        </p:nvCxnSpPr>
        <p:spPr>
          <a:xfrm flipV="1">
            <a:off x="6071616" y="3803904"/>
            <a:ext cx="0" cy="621792"/>
          </a:xfrm>
          <a:prstGeom prst="straightConnector1">
            <a:avLst/>
          </a:prstGeom>
          <a:ln w="12700" cap="flat">
            <a:solidFill>
              <a:srgbClr val="19226D">
                <a:alpha val="30000"/>
              </a:srgbClr>
            </a:solidFill>
            <a:prstDash val="dash"/>
            <a:round/>
            <a:tailEnd type="triangle" w="sm" len="sm"/>
          </a:ln>
        </p:spPr>
      </p:cxnSp>
      <p:cxnSp>
        <p:nvCxnSpPr>
          <p:cNvPr id="18" name="pd:s-problem:loop.edge:8"/>
          <p:cNvCxnSpPr>
            <a:stCxn id="10" idx="3"/>
            <a:endCxn id="6" idx="1"/>
          </p:cNvCxnSpPr>
          <p:nvPr/>
        </p:nvCxnSpPr>
        <p:spPr>
          <a:xfrm>
            <a:off x="4206240" y="3401568"/>
            <a:ext cx="621792" cy="0"/>
          </a:xfrm>
          <a:prstGeom prst="straightConnector1">
            <a:avLst/>
          </a:prstGeom>
          <a:ln w="12700" cap="flat">
            <a:solidFill>
              <a:srgbClr val="19226D">
                <a:alpha val="30000"/>
              </a:srgbClr>
            </a:solidFill>
            <a:prstDash val="dash"/>
            <a:round/>
            <a:tailEnd type="triangle" w="sm" len="sm"/>
          </a:ln>
        </p:spPr>
      </p:cxnSp>
      <p:cxnSp>
        <p:nvCxnSpPr>
          <p:cNvPr id="19" name="pd:s-problem:loop.sep:1"/>
          <p:cNvCxnSpPr/>
          <p:nvPr/>
        </p:nvCxnSpPr>
        <p:spPr>
          <a:xfrm>
            <a:off x="512064" y="5376672"/>
            <a:ext cx="11155680" cy="0"/>
          </a:xfrm>
          <a:prstGeom prst="line">
            <a:avLst/>
          </a:prstGeom>
          <a:ln w="9525" cap="flat">
            <a:solidFill>
              <a:srgbClr val="19226D">
                <a:alpha val="15000"/>
              </a:srgbClr>
            </a:solidFill>
            <a:round/>
          </a:ln>
        </p:spPr>
      </p:cxnSp>
      <p:cxnSp>
        <p:nvCxnSpPr>
          <p:cNvPr id="24" name="pd:s-problem:loop.legend-line:1"/>
          <p:cNvCxnSpPr/>
          <p:nvPr/>
        </p:nvCxnSpPr>
        <p:spPr>
          <a:xfrm>
            <a:off x="1609344" y="5852160"/>
            <a:ext cx="256032" cy="0"/>
          </a:xfrm>
          <a:prstGeom prst="line">
            <a:avLst/>
          </a:prstGeom>
          <a:ln w="12700" cap="flat">
            <a:solidFill>
              <a:srgbClr val="19226D">
                <a:alpha val="70000"/>
              </a:srgbClr>
            </a:solidFill>
            <a:round/>
            <a:tailEnd type="triangle" w="sm" len="sm"/>
          </a:ln>
        </p:spPr>
      </p:cxnSp>
      <p:cxnSp>
        <p:nvCxnSpPr>
          <p:cNvPr id="26" name="pd:s-problem:loop.legend-line:2"/>
          <p:cNvCxnSpPr/>
          <p:nvPr/>
        </p:nvCxnSpPr>
        <p:spPr>
          <a:xfrm>
            <a:off x="3840480" y="5852160"/>
            <a:ext cx="256032" cy="0"/>
          </a:xfrm>
          <a:prstGeom prst="line">
            <a:avLst/>
          </a:prstGeom>
          <a:ln w="12700" cap="flat">
            <a:solidFill>
              <a:srgbClr val="19226D">
                <a:alpha val="30000"/>
              </a:srgbClr>
            </a:solidFill>
            <a:prstDash val="dash"/>
            <a:round/>
            <a:tailEnd type="triangle" w="sm" len="sm"/>
          </a:ln>
        </p:spPr>
      </p:cxnSp>
      <p:sp>
        <p:nvSpPr>
          <p:cNvPr id="6" name="pd:s-problem:loop.box:1" descr="Vòng học bốn bước: Nhìn, Phân tích, Lắp ghép, Giải thích, quanh trung tâm là Kanji được hiểu."/>
          <p:cNvSpPr/>
          <p:nvPr/>
        </p:nvSpPr>
        <p:spPr>
          <a:xfrm>
            <a:off x="4828032" y="2999232"/>
            <a:ext cx="2487168" cy="804672"/>
          </a:xfrm>
          <a:prstGeom prst="roundRect">
            <a:avLst>
              <a:gd name="adj" fmla="val 8511"/>
            </a:avLst>
          </a:prstGeom>
          <a:solidFill>
            <a:srgbClr val="19226D"/>
          </a:solidFill>
          <a:ln w="9525">
            <a:noFill/>
          </a:ln>
        </p:spPr>
        <p:txBody>
          <a:bodyPr wrap="square" lIns="64008" tIns="0" rIns="64008" bIns="0" anchor="ctr" rtlCol="0">
            <a:noAutofit/>
          </a:bodyPr>
          <a:lstStyle/>
          <a:p>
            <a:pPr algn="ctr" marL="0" marR="0" indent="0" rtl="0" eaLnBrk="1" latinLnBrk="0">
              <a:lnSpc>
                <a:spcPts val="1452"/>
              </a:lnSpc>
              <a:spcBef>
                <a:spcPts val="0"/>
              </a:spcBef>
              <a:spcAft>
                <a:spcPts val="0"/>
              </a:spcAft>
              <a:buNone/>
            </a:pPr>
            <a:r>
              <a:rPr lang="vi-VN" altLang="en-US" sz="1100" b="1" i="0" cap="none" spc="0" baseline="0" normalizeH="0" dirty="0">
                <a:solidFill>
                  <a:srgbClr val="FFFFFF"/>
                </a:solidFill>
                <a:latin typeface="Meiryo UI"/>
                <a:ea typeface="Meiryo UI"/>
              </a:rPr>
              <a:t>Kanji được hiểu</a:t>
            </a:r>
            <a:endParaRPr lang="vi-VN" sz="1100" dirty="0"/>
          </a:p>
          <a:p>
            <a:pPr algn="ctr" marL="0" marR="0" indent="0" rtl="0" eaLnBrk="1" latinLnBrk="0">
              <a:lnSpc>
                <a:spcPts val="1188"/>
              </a:lnSpc>
              <a:spcBef>
                <a:spcPts val="0"/>
              </a:spcBef>
              <a:spcAft>
                <a:spcPts val="0"/>
              </a:spcAft>
              <a:buNone/>
            </a:pPr>
            <a:r>
              <a:rPr lang="vi-VN" altLang="en-US" sz="900" b="0" i="0" cap="none" spc="0" baseline="0" normalizeH="0" dirty="0">
                <a:solidFill>
                  <a:srgbClr val="FFFFFF"/>
                </a:solidFill>
                <a:latin typeface="Meiryo UI"/>
                <a:ea typeface="Meiryo UI"/>
              </a:rPr>
              <a:t>hình · cấu tạo · âm · từ vựng</a:t>
            </a:r>
            <a:endParaRPr lang="vi-VN" sz="900" dirty="0"/>
          </a:p>
        </p:txBody>
      </p:sp>
      <p:sp>
        <p:nvSpPr>
          <p:cNvPr id="7" name="pd:s-problem:loop.node:1"/>
          <p:cNvSpPr/>
          <p:nvPr/>
        </p:nvSpPr>
        <p:spPr>
          <a:xfrm>
            <a:off x="4828032" y="1572768"/>
            <a:ext cx="2487168" cy="804672"/>
          </a:xfrm>
          <a:prstGeom prst="roundRect">
            <a:avLst>
              <a:gd name="adj" fmla="val 8511"/>
            </a:avLst>
          </a:prstGeom>
          <a:solidFill>
            <a:srgbClr val="FFFFFF"/>
          </a:solidFill>
          <a:ln w="9525" cap="flat">
            <a:solidFill>
              <a:srgbClr val="19226D"/>
            </a:solidFill>
            <a:round/>
          </a:ln>
        </p:spPr>
        <p:txBody>
          <a:bodyPr wrap="square" lIns="64008" tIns="0" rIns="64008" bIns="0" anchor="ctr" rtlCol="0">
            <a:noAutofit/>
          </a:bodyPr>
          <a:lstStyle/>
          <a:p>
            <a:pPr algn="ctr" marL="0" marR="0" indent="0" rtl="0" eaLnBrk="1" latinLnBrk="0">
              <a:lnSpc>
                <a:spcPts val="1452"/>
              </a:lnSpc>
              <a:spcBef>
                <a:spcPts val="0"/>
              </a:spcBef>
              <a:spcAft>
                <a:spcPts val="0"/>
              </a:spcAft>
              <a:buNone/>
            </a:pPr>
            <a:r>
              <a:rPr lang="vi-VN" altLang="en-US" sz="1100" b="1" i="0" cap="none" spc="0" baseline="0" normalizeH="0" dirty="0">
                <a:solidFill>
                  <a:srgbClr val="19226D"/>
                </a:solidFill>
                <a:latin typeface="Meiryo UI"/>
                <a:ea typeface="Meiryo UI"/>
              </a:rPr>
              <a:t>Nhìn</a:t>
            </a:r>
            <a:endParaRPr lang="vi-VN" sz="1100" dirty="0"/>
          </a:p>
          <a:p>
            <a:pPr algn="ctr" marL="0" marR="0" indent="0" rtl="0" eaLnBrk="1" latinLnBrk="0">
              <a:lnSpc>
                <a:spcPts val="1188"/>
              </a:lnSpc>
              <a:spcBef>
                <a:spcPts val="0"/>
              </a:spcBef>
              <a:spcAft>
                <a:spcPts val="0"/>
              </a:spcAft>
              <a:buNone/>
            </a:pPr>
            <a:r>
              <a:rPr lang="vi-VN" altLang="en-US" sz="900" b="0" i="0" cap="none" spc="0" baseline="0" normalizeH="0" dirty="0">
                <a:solidFill>
                  <a:srgbClr val="19226D">
                    <a:alpha val="55000"/>
                  </a:srgbClr>
                </a:solidFill>
                <a:latin typeface="Meiryo UI"/>
                <a:ea typeface="Meiryo UI"/>
              </a:rPr>
              <a:t>neo nghĩa bằng cảnh</a:t>
            </a:r>
            <a:endParaRPr lang="vi-VN" sz="900" dirty="0"/>
          </a:p>
        </p:txBody>
      </p:sp>
      <p:sp>
        <p:nvSpPr>
          <p:cNvPr id="8" name="pd:s-problem:loop.node:2"/>
          <p:cNvSpPr/>
          <p:nvPr/>
        </p:nvSpPr>
        <p:spPr>
          <a:xfrm>
            <a:off x="7936992" y="2999232"/>
            <a:ext cx="2487168" cy="804672"/>
          </a:xfrm>
          <a:prstGeom prst="roundRect">
            <a:avLst>
              <a:gd name="adj" fmla="val 8511"/>
            </a:avLst>
          </a:prstGeom>
          <a:solidFill>
            <a:srgbClr val="FFFFFF"/>
          </a:solidFill>
          <a:ln w="9525" cap="flat">
            <a:solidFill>
              <a:srgbClr val="19226D"/>
            </a:solidFill>
            <a:round/>
          </a:ln>
        </p:spPr>
        <p:txBody>
          <a:bodyPr wrap="square" lIns="64008" tIns="0" rIns="64008" bIns="0" anchor="ctr" rtlCol="0">
            <a:noAutofit/>
          </a:bodyPr>
          <a:lstStyle/>
          <a:p>
            <a:pPr algn="ctr" marL="0" marR="0" indent="0" rtl="0" eaLnBrk="1" latinLnBrk="0">
              <a:lnSpc>
                <a:spcPts val="1452"/>
              </a:lnSpc>
              <a:spcBef>
                <a:spcPts val="0"/>
              </a:spcBef>
              <a:spcAft>
                <a:spcPts val="0"/>
              </a:spcAft>
              <a:buNone/>
            </a:pPr>
            <a:r>
              <a:rPr lang="vi-VN" altLang="en-US" sz="1100" b="1" i="0" cap="none" spc="0" baseline="0" normalizeH="0" dirty="0">
                <a:solidFill>
                  <a:srgbClr val="19226D"/>
                </a:solidFill>
                <a:latin typeface="Meiryo UI"/>
                <a:ea typeface="Meiryo UI"/>
              </a:rPr>
              <a:t>Phân tích</a:t>
            </a:r>
            <a:endParaRPr lang="vi-VN" sz="1100" dirty="0"/>
          </a:p>
          <a:p>
            <a:pPr algn="ctr" marL="0" marR="0" indent="0" rtl="0" eaLnBrk="1" latinLnBrk="0">
              <a:lnSpc>
                <a:spcPts val="1188"/>
              </a:lnSpc>
              <a:spcBef>
                <a:spcPts val="0"/>
              </a:spcBef>
              <a:spcAft>
                <a:spcPts val="0"/>
              </a:spcAft>
              <a:buNone/>
            </a:pPr>
            <a:r>
              <a:rPr lang="vi-VN" altLang="en-US" sz="900" b="0" i="0" cap="none" spc="0" baseline="0" normalizeH="0" dirty="0">
                <a:solidFill>
                  <a:srgbClr val="19226D">
                    <a:alpha val="55000"/>
                  </a:srgbClr>
                </a:solidFill>
                <a:latin typeface="Meiryo UI"/>
                <a:ea typeface="Meiryo UI"/>
              </a:rPr>
              <a:t>nhận phần quen thuộc</a:t>
            </a:r>
            <a:endParaRPr lang="vi-VN" sz="900" dirty="0"/>
          </a:p>
        </p:txBody>
      </p:sp>
      <p:sp>
        <p:nvSpPr>
          <p:cNvPr id="9" name="pd:s-problem:loop.node:3"/>
          <p:cNvSpPr/>
          <p:nvPr/>
        </p:nvSpPr>
        <p:spPr>
          <a:xfrm>
            <a:off x="4828032" y="4425696"/>
            <a:ext cx="2487168" cy="804672"/>
          </a:xfrm>
          <a:prstGeom prst="roundRect">
            <a:avLst>
              <a:gd name="adj" fmla="val 8511"/>
            </a:avLst>
          </a:prstGeom>
          <a:solidFill>
            <a:srgbClr val="FFFFFF"/>
          </a:solidFill>
          <a:ln w="9525" cap="flat">
            <a:solidFill>
              <a:srgbClr val="19226D"/>
            </a:solidFill>
            <a:round/>
          </a:ln>
        </p:spPr>
        <p:txBody>
          <a:bodyPr wrap="square" lIns="64008" tIns="0" rIns="64008" bIns="0" anchor="ctr" rtlCol="0">
            <a:noAutofit/>
          </a:bodyPr>
          <a:lstStyle/>
          <a:p>
            <a:pPr algn="ctr" marL="0" marR="0" indent="0" rtl="0" eaLnBrk="1" latinLnBrk="0">
              <a:lnSpc>
                <a:spcPts val="1452"/>
              </a:lnSpc>
              <a:spcBef>
                <a:spcPts val="0"/>
              </a:spcBef>
              <a:spcAft>
                <a:spcPts val="0"/>
              </a:spcAft>
              <a:buNone/>
            </a:pPr>
            <a:r>
              <a:rPr lang="vi-VN" altLang="en-US" sz="1100" b="1" i="0" cap="none" spc="0" baseline="0" normalizeH="0" dirty="0">
                <a:solidFill>
                  <a:srgbClr val="19226D"/>
                </a:solidFill>
                <a:latin typeface="Meiryo UI"/>
                <a:ea typeface="Meiryo UI"/>
              </a:rPr>
              <a:t>Lắp ghép</a:t>
            </a:r>
            <a:endParaRPr lang="vi-VN" sz="1100" dirty="0"/>
          </a:p>
          <a:p>
            <a:pPr algn="ctr" marL="0" marR="0" indent="0" rtl="0" eaLnBrk="1" latinLnBrk="0">
              <a:lnSpc>
                <a:spcPts val="1188"/>
              </a:lnSpc>
              <a:spcBef>
                <a:spcPts val="0"/>
              </a:spcBef>
              <a:spcAft>
                <a:spcPts val="0"/>
              </a:spcAft>
              <a:buNone/>
            </a:pPr>
            <a:r>
              <a:rPr lang="vi-VN" altLang="en-US" sz="900" b="0" i="0" cap="none" spc="0" baseline="0" normalizeH="0" dirty="0">
                <a:solidFill>
                  <a:srgbClr val="19226D">
                    <a:alpha val="55000"/>
                  </a:srgbClr>
                </a:solidFill>
                <a:latin typeface="Meiryo UI"/>
                <a:ea typeface="Meiryo UI"/>
              </a:rPr>
              <a:t>đặt đúng vị trí</a:t>
            </a:r>
            <a:endParaRPr lang="vi-VN" sz="900" dirty="0"/>
          </a:p>
        </p:txBody>
      </p:sp>
      <p:sp>
        <p:nvSpPr>
          <p:cNvPr id="10" name="pd:s-problem:loop.node:4"/>
          <p:cNvSpPr/>
          <p:nvPr/>
        </p:nvSpPr>
        <p:spPr>
          <a:xfrm>
            <a:off x="1719072" y="2999232"/>
            <a:ext cx="2487168" cy="804672"/>
          </a:xfrm>
          <a:prstGeom prst="roundRect">
            <a:avLst>
              <a:gd name="adj" fmla="val 8511"/>
            </a:avLst>
          </a:prstGeom>
          <a:solidFill>
            <a:srgbClr val="FFFFFF"/>
          </a:solidFill>
          <a:ln w="9525" cap="flat">
            <a:solidFill>
              <a:srgbClr val="19226D"/>
            </a:solidFill>
            <a:round/>
          </a:ln>
        </p:spPr>
        <p:txBody>
          <a:bodyPr wrap="square" lIns="64008" tIns="0" rIns="64008" bIns="0" anchor="ctr" rtlCol="0">
            <a:noAutofit/>
          </a:bodyPr>
          <a:lstStyle/>
          <a:p>
            <a:pPr algn="ctr" marL="0" marR="0" indent="0" rtl="0" eaLnBrk="1" latinLnBrk="0">
              <a:lnSpc>
                <a:spcPts val="1452"/>
              </a:lnSpc>
              <a:spcBef>
                <a:spcPts val="0"/>
              </a:spcBef>
              <a:spcAft>
                <a:spcPts val="0"/>
              </a:spcAft>
              <a:buNone/>
            </a:pPr>
            <a:r>
              <a:rPr lang="vi-VN" altLang="en-US" sz="1100" b="1" i="0" cap="none" spc="0" baseline="0" normalizeH="0" dirty="0">
                <a:solidFill>
                  <a:srgbClr val="19226D"/>
                </a:solidFill>
                <a:latin typeface="Meiryo UI"/>
                <a:ea typeface="Meiryo UI"/>
              </a:rPr>
              <a:t>Giải thích</a:t>
            </a:r>
            <a:endParaRPr lang="vi-VN" sz="1100" dirty="0"/>
          </a:p>
          <a:p>
            <a:pPr algn="ctr" marL="0" marR="0" indent="0" rtl="0" eaLnBrk="1" latinLnBrk="0">
              <a:lnSpc>
                <a:spcPts val="1188"/>
              </a:lnSpc>
              <a:spcBef>
                <a:spcPts val="0"/>
              </a:spcBef>
              <a:spcAft>
                <a:spcPts val="0"/>
              </a:spcAft>
              <a:buNone/>
            </a:pPr>
            <a:r>
              <a:rPr lang="vi-VN" altLang="en-US" sz="900" b="0" i="0" cap="none" spc="0" baseline="0" normalizeH="0" dirty="0">
                <a:solidFill>
                  <a:srgbClr val="19226D">
                    <a:alpha val="55000"/>
                  </a:srgbClr>
                </a:solidFill>
                <a:latin typeface="Meiryo UI"/>
                <a:ea typeface="Meiryo UI"/>
              </a:rPr>
              <a:t>liên kết chữ, âm, từ</a:t>
            </a:r>
            <a:endParaRPr lang="vi-VN" sz="900" dirty="0"/>
          </a:p>
        </p:txBody>
      </p:sp>
      <p:sp>
        <p:nvSpPr>
          <p:cNvPr id="21" name="pd:s-problem:loop.swatch:1"/>
          <p:cNvSpPr/>
          <p:nvPr/>
        </p:nvSpPr>
        <p:spPr>
          <a:xfrm>
            <a:off x="1609344" y="5559552"/>
            <a:ext cx="256032" cy="146304"/>
          </a:xfrm>
          <a:prstGeom prst="roundRect">
            <a:avLst>
              <a:gd name="adj" fmla="val 2000"/>
            </a:avLst>
          </a:prstGeom>
          <a:solidFill>
            <a:srgbClr val="FFFFFF"/>
          </a:solidFill>
          <a:ln w="9525" cap="flat">
            <a:solidFill>
              <a:srgbClr val="19226D"/>
            </a:solidFill>
            <a:round/>
          </a:ln>
        </p:spPr>
      </p:sp>
      <p:sp>
        <p:nvSpPr>
          <p:cNvPr id="5" name="pd:s-problem:premise:1"/>
          <p:cNvSpPr txBox="1"/>
          <p:nvPr/>
        </p:nvSpPr>
        <p:spPr>
          <a:xfrm>
            <a:off x="512064" y="1280160"/>
            <a:ext cx="11155680" cy="182880"/>
          </a:xfrm>
          <a:prstGeom prst="rect">
            <a:avLst/>
          </a:prstGeom>
          <a:noFill/>
          <a:ln>
            <a:noFill/>
          </a:ln>
        </p:spPr>
        <p:txBody>
          <a:bodyPr wrap="square" lIns="0" tIns="0" rIns="0" bIns="0" anchor="t">
            <a:noAutofit/>
          </a:bodyPr>
          <a:lstStyle/>
          <a:p>
            <a:pPr algn="l" marL="0" marR="0" indent="0" rtl="0" eaLnBrk="1" latinLnBrk="0">
              <a:lnSpc>
                <a:spcPct val="100000"/>
              </a:lnSpc>
              <a:spcBef>
                <a:spcPts val="0"/>
              </a:spcBef>
              <a:spcAft>
                <a:spcPts val="0"/>
              </a:spcAft>
              <a:buNone/>
            </a:pPr>
            <a:r>
              <a:rPr lang="vi-VN" sz="900" i="0" cap="none" spc="0" baseline="0" normalizeH="0" dirty="0">
                <a:solidFill>
                  <a:srgbClr val="5E6499"/>
                </a:solidFill>
                <a:latin typeface="Meiryo UI"/>
                <a:ea typeface="Meiryo UI"/>
              </a:rPr>
              <a:t>※ Ví dụ: 亻 + 木 = 休 (người + cây = nghỉ). Nhiều điểm truy hồi: hình, vị trí, thao tác, câu chuyện.</a:t>
            </a:r>
          </a:p>
        </p:txBody>
      </p:sp>
      <p:sp>
        <p:nvSpPr>
          <p:cNvPr id="20" name="pd:s-problem:loop.legend-head:1"/>
          <p:cNvSpPr txBox="1"/>
          <p:nvPr/>
        </p:nvSpPr>
        <p:spPr>
          <a:xfrm>
            <a:off x="512064" y="5522976"/>
            <a:ext cx="1024128" cy="219456"/>
          </a:xfrm>
          <a:prstGeom prst="rect">
            <a:avLst/>
          </a:prstGeom>
          <a:noFill/>
          <a:ln w="9525">
            <a:noFill/>
          </a:ln>
        </p:spPr>
        <p:txBody>
          <a:bodyPr wrap="square" lIns="0" tIns="0" rIns="0" bIns="0" anchor="ctr" rtlCol="0">
            <a:noAutofit/>
          </a:bodyPr>
          <a:lstStyle/>
          <a:p>
            <a:pPr algn="l" marL="0" marR="0" indent="0" rtl="0" eaLnBrk="1" latinLnBrk="0">
              <a:lnSpc>
                <a:spcPts val="1188"/>
              </a:lnSpc>
              <a:spcBef>
                <a:spcPts val="0"/>
              </a:spcBef>
              <a:spcAft>
                <a:spcPts val="0"/>
              </a:spcAft>
              <a:buNone/>
            </a:pPr>
            <a:r>
              <a:rPr lang="vi-VN" altLang="en-US" sz="900" b="1" i="0" cap="none" spc="0" baseline="0" normalizeH="0" dirty="0">
                <a:solidFill>
                  <a:srgbClr val="19226D">
                    <a:alpha val="55000"/>
                  </a:srgbClr>
                </a:solidFill>
                <a:latin typeface="Meiryo UI"/>
                <a:ea typeface="Meiryo UI"/>
              </a:rPr>
              <a:t>Loại</a:t>
            </a:r>
            <a:endParaRPr lang="vi-VN" sz="900" dirty="0"/>
          </a:p>
        </p:txBody>
      </p:sp>
      <p:sp>
        <p:nvSpPr>
          <p:cNvPr id="22" name="pd:s-problem:loop.legend-text@swatch.1:1"/>
          <p:cNvSpPr txBox="1"/>
          <p:nvPr/>
        </p:nvSpPr>
        <p:spPr>
          <a:xfrm>
            <a:off x="1938528" y="5522976"/>
            <a:ext cx="365760" cy="219456"/>
          </a:xfrm>
          <a:prstGeom prst="rect">
            <a:avLst/>
          </a:prstGeom>
          <a:noFill/>
          <a:ln w="9525">
            <a:noFill/>
          </a:ln>
        </p:spPr>
        <p:txBody>
          <a:bodyPr wrap="square" lIns="0" tIns="0" rIns="0" bIns="0" anchor="ctr" rtlCol="0">
            <a:noAutofit/>
          </a:bodyPr>
          <a:lstStyle/>
          <a:p>
            <a:pPr algn="l" marL="0" marR="0" indent="0" rtl="0" eaLnBrk="1" latinLnBrk="0">
              <a:lnSpc>
                <a:spcPts val="1188"/>
              </a:lnSpc>
              <a:spcBef>
                <a:spcPts val="0"/>
              </a:spcBef>
              <a:spcAft>
                <a:spcPts val="0"/>
              </a:spcAft>
              <a:buNone/>
            </a:pPr>
            <a:r>
              <a:rPr lang="vi-VN" altLang="en-US" sz="900" b="0" i="0" cap="none" spc="0" baseline="0" normalizeH="0" dirty="0">
                <a:solidFill>
                  <a:srgbClr val="080808"/>
                </a:solidFill>
                <a:latin typeface="Meiryo UI"/>
                <a:ea typeface="Meiryo UI"/>
              </a:rPr>
              <a:t>Trạm</a:t>
            </a:r>
            <a:endParaRPr lang="vi-VN" sz="900" dirty="0"/>
          </a:p>
        </p:txBody>
      </p:sp>
      <p:sp>
        <p:nvSpPr>
          <p:cNvPr id="23" name="pd:s-problem:loop.legend-head:2"/>
          <p:cNvSpPr txBox="1"/>
          <p:nvPr/>
        </p:nvSpPr>
        <p:spPr>
          <a:xfrm>
            <a:off x="512064" y="5742432"/>
            <a:ext cx="1024128" cy="219456"/>
          </a:xfrm>
          <a:prstGeom prst="rect">
            <a:avLst/>
          </a:prstGeom>
          <a:noFill/>
          <a:ln w="9525">
            <a:noFill/>
          </a:ln>
        </p:spPr>
        <p:txBody>
          <a:bodyPr wrap="square" lIns="0" tIns="0" rIns="0" bIns="0" anchor="ctr" rtlCol="0">
            <a:noAutofit/>
          </a:bodyPr>
          <a:lstStyle/>
          <a:p>
            <a:pPr algn="l" marL="0" marR="0" indent="0" rtl="0" eaLnBrk="1" latinLnBrk="0">
              <a:lnSpc>
                <a:spcPts val="1188"/>
              </a:lnSpc>
              <a:spcBef>
                <a:spcPts val="0"/>
              </a:spcBef>
              <a:spcAft>
                <a:spcPts val="0"/>
              </a:spcAft>
              <a:buNone/>
            </a:pPr>
            <a:r>
              <a:rPr lang="vi-VN" altLang="en-US" sz="900" b="1" i="0" cap="none" spc="0" baseline="0" normalizeH="0" dirty="0">
                <a:solidFill>
                  <a:srgbClr val="19226D">
                    <a:alpha val="55000"/>
                  </a:srgbClr>
                </a:solidFill>
                <a:latin typeface="Meiryo UI"/>
                <a:ea typeface="Meiryo UI"/>
              </a:rPr>
              <a:t>Đường</a:t>
            </a:r>
            <a:endParaRPr lang="vi-VN" sz="900" dirty="0"/>
          </a:p>
        </p:txBody>
      </p:sp>
      <p:sp>
        <p:nvSpPr>
          <p:cNvPr id="25" name="pd:s-problem:loop.legend-text@legend-line.1:1"/>
          <p:cNvSpPr txBox="1"/>
          <p:nvPr/>
        </p:nvSpPr>
        <p:spPr>
          <a:xfrm>
            <a:off x="1938528" y="5742432"/>
            <a:ext cx="1682496" cy="219456"/>
          </a:xfrm>
          <a:prstGeom prst="rect">
            <a:avLst/>
          </a:prstGeom>
          <a:noFill/>
          <a:ln w="9525">
            <a:noFill/>
          </a:ln>
        </p:spPr>
        <p:txBody>
          <a:bodyPr wrap="square" lIns="0" tIns="0" rIns="0" bIns="0" anchor="ctr" rtlCol="0">
            <a:noAutofit/>
          </a:bodyPr>
          <a:lstStyle/>
          <a:p>
            <a:pPr algn="l" marL="0" marR="0" indent="0" rtl="0" eaLnBrk="1" latinLnBrk="0">
              <a:lnSpc>
                <a:spcPts val="1188"/>
              </a:lnSpc>
              <a:spcBef>
                <a:spcPts val="0"/>
              </a:spcBef>
              <a:spcAft>
                <a:spcPts val="0"/>
              </a:spcAft>
              <a:buNone/>
            </a:pPr>
            <a:r>
              <a:rPr lang="vi-VN" altLang="en-US" sz="900" b="0" i="0" cap="none" spc="0" baseline="0" normalizeH="0" dirty="0">
                <a:solidFill>
                  <a:srgbClr val="080808"/>
                </a:solidFill>
                <a:latin typeface="Meiryo UI"/>
                <a:ea typeface="Meiryo UI"/>
              </a:rPr>
              <a:t>Vòng theo chiều kim đồng hồ</a:t>
            </a:r>
            <a:endParaRPr lang="vi-VN" sz="900" dirty="0"/>
          </a:p>
        </p:txBody>
      </p:sp>
      <p:sp>
        <p:nvSpPr>
          <p:cNvPr id="27" name="pd:s-problem:loop.legend-text@legend-line.2:1"/>
          <p:cNvSpPr txBox="1"/>
          <p:nvPr/>
        </p:nvSpPr>
        <p:spPr>
          <a:xfrm>
            <a:off x="4169664" y="5742432"/>
            <a:ext cx="1389888" cy="219456"/>
          </a:xfrm>
          <a:prstGeom prst="rect">
            <a:avLst/>
          </a:prstGeom>
          <a:noFill/>
          <a:ln w="9525">
            <a:noFill/>
          </a:ln>
        </p:spPr>
        <p:txBody>
          <a:bodyPr wrap="square" lIns="0" tIns="0" rIns="0" bIns="0" anchor="ctr" rtlCol="0">
            <a:noAutofit/>
          </a:bodyPr>
          <a:lstStyle/>
          <a:p>
            <a:pPr algn="l" marL="0" marR="0" indent="0" rtl="0" eaLnBrk="1" latinLnBrk="0">
              <a:lnSpc>
                <a:spcPts val="1188"/>
              </a:lnSpc>
              <a:spcBef>
                <a:spcPts val="0"/>
              </a:spcBef>
              <a:spcAft>
                <a:spcPts val="0"/>
              </a:spcAft>
              <a:buNone/>
            </a:pPr>
            <a:r>
              <a:rPr lang="vi-VN" altLang="en-US" sz="900" b="0" i="0" cap="none" spc="0" baseline="0" normalizeH="0" dirty="0">
                <a:solidFill>
                  <a:srgbClr val="080808"/>
                </a:solidFill>
                <a:latin typeface="Meiryo UI"/>
                <a:ea typeface="Meiryo UI"/>
              </a:rPr>
              <a:t>Ghi ngược về trung tâm</a:t>
            </a:r>
            <a:endParaRPr lang="vi-VN" sz="900" dirty="0"/>
          </a:p>
        </p:txBody>
      </p:sp>
    </p:spTree>
    <p:custDataLst>
      <p:tags r:id="rId3"/>
    </p:custDataLst>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c:title:1"/>
          <p:cNvSpPr>
            <a:spLocks noGrp="1"/>
          </p:cNvSpPr>
          <p:nvPr>
            <p:ph type="title"/>
          </p:nvPr>
        </p:nvSpPr>
        <p:spPr/>
        <p:txBody>
          <a:bodyPr>
            <a:noAutofit/>
          </a:bodyPr>
          <a:lstStyle/>
          <a:p>
            <a:pPr>
              <a:lnSpc>
                <a:spcPts val="3360"/>
              </a:lnSpc>
            </a:pPr>
            <a:r>
              <a:rPr lang="vi-VN" altLang="en-US" sz="2800" dirty="0">
                <a:ea typeface="Meiryo UI"/>
              </a:rPr>
              <a:t>Vòng chơi ngắn, đủ nhận biết và hiểu</a:t>
            </a:r>
          </a:p>
        </p:txBody>
      </p:sp>
      <p:sp>
        <p:nvSpPr>
          <p:cNvPr id="3" name="Slide Number Placeholder 3">
            <a:extLst>
              <a:ext uri="{FF2B5EF4-FFF2-40B4-BE49-F238E27FC236}">
                <a16:creationId xmlns:a16="http://schemas.microsoft.com/office/drawing/2014/main" id="{13BB62CA-CBF7-31AD-BAA2-F360326FF91D}"/>
              </a:ext>
            </a:extLst>
          </p:cNvPr>
          <p:cNvSpPr>
            <a:spLocks noGrp="1"/>
          </p:cNvSpPr>
          <p:nvPr>
            <p:ph type="sldNum" sz="quarter" idx="12"/>
          </p:nvPr>
        </p:nvSpPr>
        <p:spPr>
          <a:xfrm>
            <a:off x="10330249" y="6415503"/>
            <a:ext cx="1577824" cy="251969"/>
          </a:xfrm>
          <a:prstGeom prst="rect">
            <a:avLst/>
          </a:prstGeom>
        </p:spPr>
        <p:txBody>
          <a:bodyPr/>
          <a:lstStyle>
            <a:lvl1pPr algn="r">
              <a:defRPr sz="1050">
                <a:solidFill>
                  <a:schemeClr val="accent6">
                    <a:lumMod val="60000"/>
                    <a:lumOff val="40000"/>
                  </a:schemeClr>
                </a:solidFill>
              </a:defRPr>
            </a:lvl1pPr>
          </a:lstStyle>
          <a:p>
            <a:r>
              <a:rPr lang="en-US" u="sng" dirty="0" err="1">
                <a:hlinkClick r:id="rId2">
                  <a:extLst>
                    <a:ext uri="{A12FA001-AC4F-418D-AE19-62706E023703}">
                      <ahyp:hlinkClr xmlns:ahyp="http://schemas.microsoft.com/office/drawing/2018/hyperlinkcolor" val="tx"/>
                    </a:ext>
                  </a:extLst>
                </a:hlinkClick>
              </a:rPr>
              <a:t>fptsoftware.com</a:t>
            </a:r>
            <a:r>
              <a:rPr lang="en-US" dirty="0">
                <a:hlinkClick r:id="rId2">
                  <a:extLst>
                    <a:ext uri="{A12FA001-AC4F-418D-AE19-62706E023703}">
                      <ahyp:hlinkClr xmlns:ahyp="http://schemas.microsoft.com/office/drawing/2018/hyperlinkcolor" val="tx"/>
                    </a:ext>
                  </a:extLst>
                </a:hlinkClick>
              </a:rPr>
              <a:t> </a:t>
            </a:r>
            <a:r>
              <a:rPr lang="en-US" dirty="0"/>
              <a:t>| </a:t>
            </a:r>
            <a:fld id="{E012F146-47F9-A646-B182-8CC39B8AD32B}" type="slidenum">
              <a:rPr lang="x-none" smtClean="0"/>
              <a:pPr/>
              <a:t>3</a:t>
            </a:fld>
            <a:endParaRPr lang="x-none"/>
          </a:p>
        </p:txBody>
      </p:sp>
      <p:sp>
        <p:nvSpPr>
          <p:cNvPr id="4" name="sc:lead:1"/>
          <p:cNvSpPr txBox="1"/>
          <p:nvPr/>
        </p:nvSpPr>
        <p:spPr>
          <a:xfrm>
            <a:off x="512064" y="987552"/>
            <a:ext cx="11155680" cy="257175"/>
          </a:xfrm>
          <a:prstGeom prst="rect">
            <a:avLst/>
          </a:prstGeom>
          <a:noFill/>
          <a:ln>
            <a:noFill/>
          </a:ln>
        </p:spPr>
        <p:txBody>
          <a:bodyPr wrap="square" lIns="0" tIns="0" rIns="0" bIns="0" anchor="t" rtlCol="0">
            <a:noAutofit/>
          </a:bodyPr>
          <a:lstStyle/>
          <a:p>
            <a:pPr marL="0" indent="0" algn="l">
              <a:lnSpc>
                <a:spcPts val="2025"/>
              </a:lnSpc>
              <a:spcBef>
                <a:spcPts val="0"/>
              </a:spcBef>
              <a:spcAft>
                <a:spcPts val="0"/>
              </a:spcAft>
              <a:buNone/>
            </a:pPr>
            <a:r>
              <a:rPr lang="vi-VN" altLang="en-US" sz="1500" b="1" dirty="0">
                <a:solidFill>
                  <a:srgbClr val="19226D"/>
                </a:solidFill>
                <a:latin typeface="Meiryo UI"/>
                <a:ea typeface="Meiryo UI"/>
              </a:rPr>
              <a:t>Sáu bước, mỗi bước một thao tác.</a:t>
            </a:r>
            <a:endParaRPr lang="en-US" sz="1500" dirty="0"/>
          </a:p>
        </p:txBody>
      </p:sp>
      <p:sp>
        <p:nvSpPr>
          <p:cNvPr id="6" name="pd:s-solution:process.bandrow:1"/>
          <p:cNvSpPr/>
          <p:nvPr/>
        </p:nvSpPr>
        <p:spPr>
          <a:xfrm>
            <a:off x="512064" y="2084832"/>
            <a:ext cx="11155680" cy="804672"/>
          </a:xfrm>
          <a:prstGeom prst="rect">
            <a:avLst/>
          </a:prstGeom>
          <a:solidFill>
            <a:srgbClr val="19226D">
              <a:alpha val="3000"/>
            </a:srgbClr>
          </a:solidFill>
          <a:ln w="9525">
            <a:noFill/>
          </a:ln>
        </p:spPr>
      </p:sp>
      <p:cxnSp>
        <p:nvCxnSpPr>
          <p:cNvPr id="9" name="pd:s-solution:process.rule:1"/>
          <p:cNvCxnSpPr/>
          <p:nvPr/>
        </p:nvCxnSpPr>
        <p:spPr>
          <a:xfrm>
            <a:off x="1755648" y="2084832"/>
            <a:ext cx="0" cy="1609344"/>
          </a:xfrm>
          <a:prstGeom prst="line">
            <a:avLst/>
          </a:prstGeom>
          <a:ln w="9525" cap="flat">
            <a:solidFill>
              <a:srgbClr val="19226D">
                <a:alpha val="15000"/>
              </a:srgbClr>
            </a:solidFill>
            <a:round/>
          </a:ln>
        </p:spPr>
      </p:cxnSp>
      <p:cxnSp>
        <p:nvCxnSpPr>
          <p:cNvPr id="28" name="pd:s-solution:process.edge:1"/>
          <p:cNvCxnSpPr>
            <a:stCxn id="22" idx="2"/>
            <a:endCxn id="23" idx="1"/>
          </p:cNvCxnSpPr>
          <p:nvPr/>
        </p:nvCxnSpPr>
        <p:spPr>
          <a:xfrm rot="5400000" flipV="1">
            <a:off x="2779776" y="2633472"/>
            <a:ext cx="438912" cy="877824"/>
          </a:xfrm>
          <a:prstGeom prst="bentConnector2">
            <a:avLst/>
          </a:prstGeom>
          <a:ln w="12700" cap="flat">
            <a:solidFill>
              <a:srgbClr val="19226D">
                <a:alpha val="70000"/>
              </a:srgbClr>
            </a:solidFill>
            <a:round/>
            <a:tailEnd type="triangle" w="sm" len="sm"/>
          </a:ln>
        </p:spPr>
      </p:cxnSp>
      <p:cxnSp>
        <p:nvCxnSpPr>
          <p:cNvPr id="29" name="pd:s-solution:process.edge:2"/>
          <p:cNvCxnSpPr>
            <a:stCxn id="23" idx="0"/>
            <a:endCxn id="24" idx="1"/>
          </p:cNvCxnSpPr>
          <p:nvPr/>
        </p:nvCxnSpPr>
        <p:spPr>
          <a:xfrm rot="5400000" flipH="1" flipV="1">
            <a:off x="4389120" y="2267712"/>
            <a:ext cx="438912" cy="877824"/>
          </a:xfrm>
          <a:prstGeom prst="bentConnector2">
            <a:avLst/>
          </a:prstGeom>
          <a:ln w="12700" cap="flat">
            <a:solidFill>
              <a:srgbClr val="19226D">
                <a:alpha val="70000"/>
              </a:srgbClr>
            </a:solidFill>
            <a:round/>
            <a:tailEnd type="triangle" w="sm" len="sm"/>
          </a:ln>
        </p:spPr>
      </p:cxnSp>
      <p:cxnSp>
        <p:nvCxnSpPr>
          <p:cNvPr id="30" name="pd:s-solution:process.edge:3"/>
          <p:cNvCxnSpPr>
            <a:stCxn id="24" idx="2"/>
            <a:endCxn id="25" idx="1"/>
          </p:cNvCxnSpPr>
          <p:nvPr/>
        </p:nvCxnSpPr>
        <p:spPr>
          <a:xfrm rot="5400000" flipV="1">
            <a:off x="5998464" y="2633472"/>
            <a:ext cx="438912" cy="877824"/>
          </a:xfrm>
          <a:prstGeom prst="bentConnector2">
            <a:avLst/>
          </a:prstGeom>
          <a:ln w="12700" cap="flat">
            <a:solidFill>
              <a:srgbClr val="19226D">
                <a:alpha val="70000"/>
              </a:srgbClr>
            </a:solidFill>
            <a:round/>
            <a:tailEnd type="triangle" w="sm" len="sm"/>
          </a:ln>
        </p:spPr>
      </p:cxnSp>
      <p:cxnSp>
        <p:nvCxnSpPr>
          <p:cNvPr id="31" name="pd:s-solution:process.edge:4"/>
          <p:cNvCxnSpPr>
            <a:stCxn id="25" idx="0"/>
            <a:endCxn id="26" idx="1"/>
          </p:cNvCxnSpPr>
          <p:nvPr/>
        </p:nvCxnSpPr>
        <p:spPr>
          <a:xfrm rot="5400000" flipH="1" flipV="1">
            <a:off x="7607808" y="2267712"/>
            <a:ext cx="438912" cy="877824"/>
          </a:xfrm>
          <a:prstGeom prst="bentConnector2">
            <a:avLst/>
          </a:prstGeom>
          <a:ln w="15875" cap="flat">
            <a:solidFill>
              <a:srgbClr val="F37021"/>
            </a:solidFill>
            <a:round/>
            <a:tailEnd type="triangle" w="sm" len="sm"/>
          </a:ln>
        </p:spPr>
      </p:cxnSp>
      <p:cxnSp>
        <p:nvCxnSpPr>
          <p:cNvPr id="32" name="pd:s-solution:process.edge:5"/>
          <p:cNvCxnSpPr>
            <a:stCxn id="26" idx="2"/>
            <a:endCxn id="27" idx="1"/>
          </p:cNvCxnSpPr>
          <p:nvPr/>
        </p:nvCxnSpPr>
        <p:spPr>
          <a:xfrm rot="5400000" flipV="1">
            <a:off x="9217152" y="2633472"/>
            <a:ext cx="438912" cy="877824"/>
          </a:xfrm>
          <a:prstGeom prst="bentConnector2">
            <a:avLst/>
          </a:prstGeom>
          <a:ln w="15875" cap="flat">
            <a:solidFill>
              <a:srgbClr val="F37021"/>
            </a:solidFill>
            <a:round/>
            <a:tailEnd type="triangle" w="sm" len="sm"/>
          </a:ln>
        </p:spPr>
      </p:cxnSp>
      <p:cxnSp>
        <p:nvCxnSpPr>
          <p:cNvPr id="33" name="pd:s-solution:process.sep:1"/>
          <p:cNvCxnSpPr/>
          <p:nvPr/>
        </p:nvCxnSpPr>
        <p:spPr>
          <a:xfrm>
            <a:off x="512064" y="5522976"/>
            <a:ext cx="11155680" cy="0"/>
          </a:xfrm>
          <a:prstGeom prst="line">
            <a:avLst/>
          </a:prstGeom>
          <a:ln w="9525" cap="flat">
            <a:solidFill>
              <a:srgbClr val="19226D">
                <a:alpha val="15000"/>
              </a:srgbClr>
            </a:solidFill>
            <a:round/>
          </a:ln>
        </p:spPr>
      </p:cxnSp>
      <p:cxnSp>
        <p:nvCxnSpPr>
          <p:cNvPr id="40" name="pd:s-solution:process.legend-line:1"/>
          <p:cNvCxnSpPr/>
          <p:nvPr/>
        </p:nvCxnSpPr>
        <p:spPr>
          <a:xfrm>
            <a:off x="1609344" y="5998464"/>
            <a:ext cx="256032" cy="0"/>
          </a:xfrm>
          <a:prstGeom prst="line">
            <a:avLst/>
          </a:prstGeom>
          <a:ln w="15875" cap="flat">
            <a:solidFill>
              <a:srgbClr val="F37021"/>
            </a:solidFill>
            <a:round/>
            <a:tailEnd type="triangle" w="sm" len="sm"/>
          </a:ln>
        </p:spPr>
      </p:cxnSp>
      <p:cxnSp>
        <p:nvCxnSpPr>
          <p:cNvPr id="42" name="pd:s-solution:process.legend-line:2"/>
          <p:cNvCxnSpPr/>
          <p:nvPr/>
        </p:nvCxnSpPr>
        <p:spPr>
          <a:xfrm>
            <a:off x="3401568" y="5998464"/>
            <a:ext cx="256032" cy="0"/>
          </a:xfrm>
          <a:prstGeom prst="line">
            <a:avLst/>
          </a:prstGeom>
          <a:ln w="12700" cap="flat">
            <a:solidFill>
              <a:srgbClr val="19226D">
                <a:alpha val="70000"/>
              </a:srgbClr>
            </a:solidFill>
            <a:round/>
            <a:tailEnd type="triangle" w="sm" len="sm"/>
          </a:ln>
        </p:spPr>
      </p:cxnSp>
      <p:sp>
        <p:nvSpPr>
          <p:cNvPr id="10" name="pd:s-solution:process.ruler-dot:1"/>
          <p:cNvSpPr/>
          <p:nvPr/>
        </p:nvSpPr>
        <p:spPr>
          <a:xfrm>
            <a:off x="2450592" y="1572768"/>
            <a:ext cx="219456" cy="219456"/>
          </a:xfrm>
          <a:prstGeom prst="ellipse">
            <a:avLst/>
          </a:prstGeom>
          <a:solidFill>
            <a:srgbClr val="19226D">
              <a:alpha val="8000"/>
            </a:srgbClr>
          </a:solidFill>
          <a:ln w="9525" cap="flat">
            <a:solidFill>
              <a:srgbClr val="19226D">
                <a:alpha val="25000"/>
              </a:srgbClr>
            </a:solidFill>
            <a:round/>
          </a:ln>
        </p:spPr>
        <p:txBody>
          <a:bodyPr wrap="square" lIns="0" tIns="0" rIns="0" bIns="0" anchor="ctr" rtlCol="0">
            <a:noAutofit/>
          </a:bodyPr>
          <a:lstStyle/>
          <a:p>
            <a:pPr algn="ctr" marL="0" marR="0" indent="0" rtl="0" eaLnBrk="1" latinLnBrk="0">
              <a:lnSpc>
                <a:spcPts val="924"/>
              </a:lnSpc>
              <a:spcBef>
                <a:spcPts val="0"/>
              </a:spcBef>
              <a:spcAft>
                <a:spcPts val="0"/>
              </a:spcAft>
              <a:buNone/>
            </a:pPr>
            <a:r>
              <a:rPr lang="en-US" sz="700" b="1" i="0" cap="none" spc="0" baseline="0" normalizeH="0" dirty="0">
                <a:solidFill>
                  <a:srgbClr val="19226D">
                    <a:alpha val="70000"/>
                  </a:srgbClr>
                </a:solidFill>
                <a:latin typeface="Meiryo UI"/>
                <a:ea typeface="Meiryo UI"/>
              </a:rPr>
              <a:t>1</a:t>
            </a:r>
            <a:endParaRPr lang="en-US" sz="700" dirty="0"/>
          </a:p>
        </p:txBody>
      </p:sp>
      <p:sp>
        <p:nvSpPr>
          <p:cNvPr id="12" name="pd:s-solution:process.ruler-dot:2"/>
          <p:cNvSpPr/>
          <p:nvPr/>
        </p:nvSpPr>
        <p:spPr>
          <a:xfrm>
            <a:off x="4059936" y="1572768"/>
            <a:ext cx="219456" cy="219456"/>
          </a:xfrm>
          <a:prstGeom prst="ellipse">
            <a:avLst/>
          </a:prstGeom>
          <a:solidFill>
            <a:srgbClr val="19226D">
              <a:alpha val="8000"/>
            </a:srgbClr>
          </a:solidFill>
          <a:ln w="9525" cap="flat">
            <a:solidFill>
              <a:srgbClr val="19226D">
                <a:alpha val="25000"/>
              </a:srgbClr>
            </a:solidFill>
            <a:round/>
          </a:ln>
        </p:spPr>
        <p:txBody>
          <a:bodyPr wrap="square" lIns="0" tIns="0" rIns="0" bIns="0" anchor="ctr" rtlCol="0">
            <a:noAutofit/>
          </a:bodyPr>
          <a:lstStyle/>
          <a:p>
            <a:pPr algn="ctr" marL="0" marR="0" indent="0" rtl="0" eaLnBrk="1" latinLnBrk="0">
              <a:lnSpc>
                <a:spcPts val="924"/>
              </a:lnSpc>
              <a:spcBef>
                <a:spcPts val="0"/>
              </a:spcBef>
              <a:spcAft>
                <a:spcPts val="0"/>
              </a:spcAft>
              <a:buNone/>
            </a:pPr>
            <a:r>
              <a:rPr lang="en-US" sz="700" b="1" i="0" cap="none" spc="0" baseline="0" normalizeH="0" dirty="0">
                <a:solidFill>
                  <a:srgbClr val="19226D">
                    <a:alpha val="70000"/>
                  </a:srgbClr>
                </a:solidFill>
                <a:latin typeface="Meiryo UI"/>
                <a:ea typeface="Meiryo UI"/>
              </a:rPr>
              <a:t>2</a:t>
            </a:r>
            <a:endParaRPr lang="en-US" sz="700" dirty="0"/>
          </a:p>
        </p:txBody>
      </p:sp>
      <p:sp>
        <p:nvSpPr>
          <p:cNvPr id="14" name="pd:s-solution:process.ruler-dot:3"/>
          <p:cNvSpPr/>
          <p:nvPr/>
        </p:nvSpPr>
        <p:spPr>
          <a:xfrm>
            <a:off x="5669280" y="1572768"/>
            <a:ext cx="219456" cy="219456"/>
          </a:xfrm>
          <a:prstGeom prst="ellipse">
            <a:avLst/>
          </a:prstGeom>
          <a:solidFill>
            <a:srgbClr val="19226D">
              <a:alpha val="8000"/>
            </a:srgbClr>
          </a:solidFill>
          <a:ln w="9525" cap="flat">
            <a:solidFill>
              <a:srgbClr val="19226D">
                <a:alpha val="25000"/>
              </a:srgbClr>
            </a:solidFill>
            <a:round/>
          </a:ln>
        </p:spPr>
        <p:txBody>
          <a:bodyPr wrap="square" lIns="0" tIns="0" rIns="0" bIns="0" anchor="ctr" rtlCol="0">
            <a:noAutofit/>
          </a:bodyPr>
          <a:lstStyle/>
          <a:p>
            <a:pPr algn="ctr" marL="0" marR="0" indent="0" rtl="0" eaLnBrk="1" latinLnBrk="0">
              <a:lnSpc>
                <a:spcPts val="924"/>
              </a:lnSpc>
              <a:spcBef>
                <a:spcPts val="0"/>
              </a:spcBef>
              <a:spcAft>
                <a:spcPts val="0"/>
              </a:spcAft>
              <a:buNone/>
            </a:pPr>
            <a:r>
              <a:rPr lang="en-US" sz="700" b="1" i="0" cap="none" spc="0" baseline="0" normalizeH="0" dirty="0">
                <a:solidFill>
                  <a:srgbClr val="19226D">
                    <a:alpha val="70000"/>
                  </a:srgbClr>
                </a:solidFill>
                <a:latin typeface="Meiryo UI"/>
                <a:ea typeface="Meiryo UI"/>
              </a:rPr>
              <a:t>3</a:t>
            </a:r>
            <a:endParaRPr lang="en-US" sz="700" dirty="0"/>
          </a:p>
        </p:txBody>
      </p:sp>
      <p:sp>
        <p:nvSpPr>
          <p:cNvPr id="16" name="pd:s-solution:process.ruler-dot:4"/>
          <p:cNvSpPr/>
          <p:nvPr/>
        </p:nvSpPr>
        <p:spPr>
          <a:xfrm>
            <a:off x="7278624" y="1572768"/>
            <a:ext cx="219456" cy="219456"/>
          </a:xfrm>
          <a:prstGeom prst="ellipse">
            <a:avLst/>
          </a:prstGeom>
          <a:solidFill>
            <a:srgbClr val="19226D">
              <a:alpha val="8000"/>
            </a:srgbClr>
          </a:solidFill>
          <a:ln w="9525" cap="flat">
            <a:solidFill>
              <a:srgbClr val="19226D">
                <a:alpha val="25000"/>
              </a:srgbClr>
            </a:solidFill>
            <a:round/>
          </a:ln>
        </p:spPr>
        <p:txBody>
          <a:bodyPr wrap="square" lIns="0" tIns="0" rIns="0" bIns="0" anchor="ctr" rtlCol="0">
            <a:noAutofit/>
          </a:bodyPr>
          <a:lstStyle/>
          <a:p>
            <a:pPr algn="ctr" marL="0" marR="0" indent="0" rtl="0" eaLnBrk="1" latinLnBrk="0">
              <a:lnSpc>
                <a:spcPts val="924"/>
              </a:lnSpc>
              <a:spcBef>
                <a:spcPts val="0"/>
              </a:spcBef>
              <a:spcAft>
                <a:spcPts val="0"/>
              </a:spcAft>
              <a:buNone/>
            </a:pPr>
            <a:r>
              <a:rPr lang="en-US" sz="700" b="1" i="0" cap="none" spc="0" baseline="0" normalizeH="0" dirty="0">
                <a:solidFill>
                  <a:srgbClr val="19226D">
                    <a:alpha val="70000"/>
                  </a:srgbClr>
                </a:solidFill>
                <a:latin typeface="Meiryo UI"/>
                <a:ea typeface="Meiryo UI"/>
              </a:rPr>
              <a:t>4</a:t>
            </a:r>
            <a:endParaRPr lang="en-US" sz="700" dirty="0"/>
          </a:p>
        </p:txBody>
      </p:sp>
      <p:sp>
        <p:nvSpPr>
          <p:cNvPr id="18" name="pd:s-solution:process.ruler-dot:5"/>
          <p:cNvSpPr/>
          <p:nvPr/>
        </p:nvSpPr>
        <p:spPr>
          <a:xfrm>
            <a:off x="8887968" y="1572768"/>
            <a:ext cx="219456" cy="219456"/>
          </a:xfrm>
          <a:prstGeom prst="ellipse">
            <a:avLst/>
          </a:prstGeom>
          <a:solidFill>
            <a:srgbClr val="F37021">
              <a:alpha val="8000"/>
            </a:srgbClr>
          </a:solidFill>
          <a:ln w="9525" cap="flat">
            <a:solidFill>
              <a:srgbClr val="F37021"/>
            </a:solidFill>
            <a:round/>
          </a:ln>
        </p:spPr>
        <p:txBody>
          <a:bodyPr wrap="square" lIns="0" tIns="0" rIns="0" bIns="0" anchor="ctr" rtlCol="0">
            <a:noAutofit/>
          </a:bodyPr>
          <a:lstStyle/>
          <a:p>
            <a:pPr algn="ctr" marL="0" marR="0" indent="0" rtl="0" eaLnBrk="1" latinLnBrk="0">
              <a:lnSpc>
                <a:spcPts val="924"/>
              </a:lnSpc>
              <a:spcBef>
                <a:spcPts val="0"/>
              </a:spcBef>
              <a:spcAft>
                <a:spcPts val="0"/>
              </a:spcAft>
              <a:buNone/>
            </a:pPr>
            <a:r>
              <a:rPr lang="en-US" sz="700" b="1" i="0" cap="none" spc="0" baseline="0" normalizeH="0" dirty="0">
                <a:solidFill>
                  <a:srgbClr val="F37021"/>
                </a:solidFill>
                <a:latin typeface="Meiryo UI"/>
                <a:ea typeface="Meiryo UI"/>
              </a:rPr>
              <a:t>5</a:t>
            </a:r>
            <a:endParaRPr lang="en-US" sz="700" dirty="0"/>
          </a:p>
        </p:txBody>
      </p:sp>
      <p:sp>
        <p:nvSpPr>
          <p:cNvPr id="20" name="pd:s-solution:process.ruler-dot:6"/>
          <p:cNvSpPr/>
          <p:nvPr/>
        </p:nvSpPr>
        <p:spPr>
          <a:xfrm>
            <a:off x="10497312" y="1572768"/>
            <a:ext cx="219456" cy="219456"/>
          </a:xfrm>
          <a:prstGeom prst="ellipse">
            <a:avLst/>
          </a:prstGeom>
          <a:solidFill>
            <a:srgbClr val="19226D">
              <a:alpha val="8000"/>
            </a:srgbClr>
          </a:solidFill>
          <a:ln w="9525" cap="flat">
            <a:solidFill>
              <a:srgbClr val="19226D">
                <a:alpha val="25000"/>
              </a:srgbClr>
            </a:solidFill>
            <a:round/>
          </a:ln>
        </p:spPr>
        <p:txBody>
          <a:bodyPr wrap="square" lIns="0" tIns="0" rIns="0" bIns="0" anchor="ctr" rtlCol="0">
            <a:noAutofit/>
          </a:bodyPr>
          <a:lstStyle/>
          <a:p>
            <a:pPr algn="ctr" marL="0" marR="0" indent="0" rtl="0" eaLnBrk="1" latinLnBrk="0">
              <a:lnSpc>
                <a:spcPts val="924"/>
              </a:lnSpc>
              <a:spcBef>
                <a:spcPts val="0"/>
              </a:spcBef>
              <a:spcAft>
                <a:spcPts val="0"/>
              </a:spcAft>
              <a:buNone/>
            </a:pPr>
            <a:r>
              <a:rPr lang="en-US" sz="700" b="1" i="0" cap="none" spc="0" baseline="0" normalizeH="0" dirty="0">
                <a:solidFill>
                  <a:srgbClr val="19226D">
                    <a:alpha val="70000"/>
                  </a:srgbClr>
                </a:solidFill>
                <a:latin typeface="Meiryo UI"/>
                <a:ea typeface="Meiryo UI"/>
              </a:rPr>
              <a:t>6</a:t>
            </a:r>
            <a:endParaRPr lang="en-US" sz="700" dirty="0"/>
          </a:p>
        </p:txBody>
      </p:sp>
      <p:sp>
        <p:nvSpPr>
          <p:cNvPr id="22" name="pd:s-solution:process.node:1"/>
          <p:cNvSpPr/>
          <p:nvPr/>
        </p:nvSpPr>
        <p:spPr>
          <a:xfrm>
            <a:off x="1828800" y="2121408"/>
            <a:ext cx="1463040" cy="731520"/>
          </a:xfrm>
          <a:prstGeom prst="roundRect">
            <a:avLst>
              <a:gd name="adj" fmla="val 8511"/>
            </a:avLst>
          </a:prstGeom>
          <a:solidFill>
            <a:srgbClr val="FFFFFF"/>
          </a:solidFill>
          <a:ln w="9525" cap="flat">
            <a:solidFill>
              <a:srgbClr val="19226D"/>
            </a:solidFill>
            <a:round/>
          </a:ln>
        </p:spPr>
        <p:txBody>
          <a:bodyPr wrap="square" lIns="64008" tIns="0" rIns="64008" bIns="0" anchor="ctr" rtlCol="0">
            <a:noAutofit/>
          </a:bodyPr>
          <a:lstStyle/>
          <a:p>
            <a:pPr algn="ctr" marL="0" marR="0" indent="0" rtl="0" eaLnBrk="1" latinLnBrk="0">
              <a:lnSpc>
                <a:spcPts val="1452"/>
              </a:lnSpc>
              <a:spcBef>
                <a:spcPts val="0"/>
              </a:spcBef>
              <a:spcAft>
                <a:spcPts val="0"/>
              </a:spcAft>
              <a:buNone/>
            </a:pPr>
            <a:r>
              <a:rPr lang="vi-VN" altLang="en-US" sz="1100" b="1" i="0" cap="none" spc="0" baseline="0" normalizeH="0" dirty="0">
                <a:solidFill>
                  <a:srgbClr val="19226D"/>
                </a:solidFill>
                <a:latin typeface="Meiryo UI"/>
                <a:ea typeface="Meiryo UI"/>
              </a:rPr>
              <a:t>Vào cảnh chọn thử thách</a:t>
            </a:r>
            <a:endParaRPr lang="vi-VN" sz="1100" dirty="0"/>
          </a:p>
        </p:txBody>
      </p:sp>
      <p:sp>
        <p:nvSpPr>
          <p:cNvPr id="23" name="pd:s-solution:process.node:2"/>
          <p:cNvSpPr/>
          <p:nvPr/>
        </p:nvSpPr>
        <p:spPr>
          <a:xfrm>
            <a:off x="3438144" y="2926080"/>
            <a:ext cx="1463040" cy="731520"/>
          </a:xfrm>
          <a:prstGeom prst="roundRect">
            <a:avLst>
              <a:gd name="adj" fmla="val 8511"/>
            </a:avLst>
          </a:prstGeom>
          <a:solidFill>
            <a:srgbClr val="FFFFFF"/>
          </a:solidFill>
          <a:ln w="9525" cap="flat">
            <a:solidFill>
              <a:srgbClr val="19226D"/>
            </a:solidFill>
            <a:round/>
          </a:ln>
        </p:spPr>
        <p:txBody>
          <a:bodyPr wrap="square" lIns="64008" tIns="0" rIns="64008" bIns="0" anchor="ctr" rtlCol="0">
            <a:noAutofit/>
          </a:bodyPr>
          <a:lstStyle/>
          <a:p>
            <a:pPr algn="ctr" marL="0" marR="0" indent="0" rtl="0" eaLnBrk="1" latinLnBrk="0">
              <a:lnSpc>
                <a:spcPts val="1452"/>
              </a:lnSpc>
              <a:spcBef>
                <a:spcPts val="0"/>
              </a:spcBef>
              <a:spcAft>
                <a:spcPts val="0"/>
              </a:spcAft>
              <a:buNone/>
            </a:pPr>
            <a:r>
              <a:rPr lang="vi-VN" altLang="en-US" sz="1100" b="1" i="0" cap="none" spc="0" baseline="0" normalizeH="0" dirty="0">
                <a:solidFill>
                  <a:srgbClr val="19226D"/>
                </a:solidFill>
                <a:latin typeface="Meiryo UI"/>
                <a:ea typeface="Meiryo UI"/>
              </a:rPr>
              <a:t>Hiện gợi ý hình ảnh</a:t>
            </a:r>
            <a:endParaRPr lang="vi-VN" sz="1100" dirty="0"/>
          </a:p>
        </p:txBody>
      </p:sp>
      <p:sp>
        <p:nvSpPr>
          <p:cNvPr id="24" name="pd:s-solution:process.node:3"/>
          <p:cNvSpPr/>
          <p:nvPr/>
        </p:nvSpPr>
        <p:spPr>
          <a:xfrm>
            <a:off x="5047488" y="2121408"/>
            <a:ext cx="1463040" cy="731520"/>
          </a:xfrm>
          <a:prstGeom prst="roundRect">
            <a:avLst>
              <a:gd name="adj" fmla="val 8511"/>
            </a:avLst>
          </a:prstGeom>
          <a:solidFill>
            <a:srgbClr val="FFFFFF"/>
          </a:solidFill>
          <a:ln w="9525" cap="flat">
            <a:solidFill>
              <a:srgbClr val="19226D"/>
            </a:solidFill>
            <a:round/>
          </a:ln>
        </p:spPr>
        <p:txBody>
          <a:bodyPr wrap="square" lIns="64008" tIns="0" rIns="64008" bIns="0" anchor="ctr" rtlCol="0">
            <a:noAutofit/>
          </a:bodyPr>
          <a:lstStyle/>
          <a:p>
            <a:pPr algn="ctr" marL="0" marR="0" indent="0" rtl="0" eaLnBrk="1" latinLnBrk="0">
              <a:lnSpc>
                <a:spcPts val="1452"/>
              </a:lnSpc>
              <a:spcBef>
                <a:spcPts val="0"/>
              </a:spcBef>
              <a:spcAft>
                <a:spcPts val="0"/>
              </a:spcAft>
              <a:buNone/>
            </a:pPr>
            <a:r>
              <a:rPr lang="vi-VN" altLang="en-US" sz="1100" b="1" i="0" cap="none" spc="0" baseline="0" normalizeH="0" dirty="0">
                <a:solidFill>
                  <a:srgbClr val="19226D"/>
                </a:solidFill>
                <a:latin typeface="Meiryo UI"/>
                <a:ea typeface="Meiryo UI"/>
              </a:rPr>
              <a:t>Đoán bộ phận cấu tạo</a:t>
            </a:r>
            <a:endParaRPr lang="vi-VN" sz="1100" dirty="0"/>
          </a:p>
        </p:txBody>
      </p:sp>
      <p:sp>
        <p:nvSpPr>
          <p:cNvPr id="25" name="pd:s-solution:process.node:4"/>
          <p:cNvSpPr/>
          <p:nvPr/>
        </p:nvSpPr>
        <p:spPr>
          <a:xfrm>
            <a:off x="6656832" y="2926080"/>
            <a:ext cx="1463040" cy="731520"/>
          </a:xfrm>
          <a:prstGeom prst="roundRect">
            <a:avLst>
              <a:gd name="adj" fmla="val 8511"/>
            </a:avLst>
          </a:prstGeom>
          <a:solidFill>
            <a:srgbClr val="FFFFFF"/>
          </a:solidFill>
          <a:ln w="9525" cap="flat">
            <a:solidFill>
              <a:srgbClr val="19226D"/>
            </a:solidFill>
            <a:round/>
          </a:ln>
        </p:spPr>
        <p:txBody>
          <a:bodyPr wrap="square" lIns="64008" tIns="0" rIns="64008" bIns="0" anchor="ctr" rtlCol="0">
            <a:noAutofit/>
          </a:bodyPr>
          <a:lstStyle/>
          <a:p>
            <a:pPr algn="ctr" marL="0" marR="0" indent="0" rtl="0" eaLnBrk="1" latinLnBrk="0">
              <a:lnSpc>
                <a:spcPts val="1452"/>
              </a:lnSpc>
              <a:spcBef>
                <a:spcPts val="0"/>
              </a:spcBef>
              <a:spcAft>
                <a:spcPts val="0"/>
              </a:spcAft>
              <a:buNone/>
            </a:pPr>
            <a:r>
              <a:rPr lang="vi-VN" altLang="en-US" sz="1100" b="1" i="0" cap="none" spc="0" baseline="0" normalizeH="0" dirty="0">
                <a:solidFill>
                  <a:srgbClr val="19226D"/>
                </a:solidFill>
                <a:latin typeface="Meiryo UI"/>
                <a:ea typeface="Meiryo UI"/>
              </a:rPr>
              <a:t>Mở cảnh gợi nghĩa</a:t>
            </a:r>
            <a:endParaRPr lang="vi-VN" sz="1100" dirty="0"/>
          </a:p>
        </p:txBody>
      </p:sp>
      <p:sp>
        <p:nvSpPr>
          <p:cNvPr id="26" name="pd:s-solution:process.node:5" descr="Luồng chơi một phiên gồm sáu bước: Khám phá, Lật thẻ, Suy luận, Đọc hình, Kiến tạo, Củng cố."/>
          <p:cNvSpPr/>
          <p:nvPr/>
        </p:nvSpPr>
        <p:spPr>
          <a:xfrm>
            <a:off x="8266176" y="2121408"/>
            <a:ext cx="1463040" cy="731520"/>
          </a:xfrm>
          <a:prstGeom prst="roundRect">
            <a:avLst>
              <a:gd name="adj" fmla="val 8511"/>
            </a:avLst>
          </a:prstGeom>
          <a:solidFill>
            <a:srgbClr val="F37021">
              <a:alpha val="8000"/>
            </a:srgbClr>
          </a:solidFill>
          <a:ln w="15875" cap="flat">
            <a:solidFill>
              <a:srgbClr val="F37021"/>
            </a:solidFill>
            <a:round/>
          </a:ln>
        </p:spPr>
        <p:txBody>
          <a:bodyPr wrap="square" lIns="64008" tIns="0" rIns="64008" bIns="0" anchor="ctr" rtlCol="0">
            <a:noAutofit/>
          </a:bodyPr>
          <a:lstStyle/>
          <a:p>
            <a:pPr algn="ctr" marL="0" marR="0" indent="0" rtl="0" eaLnBrk="1" latinLnBrk="0">
              <a:lnSpc>
                <a:spcPts val="1452"/>
              </a:lnSpc>
              <a:spcBef>
                <a:spcPts val="0"/>
              </a:spcBef>
              <a:spcAft>
                <a:spcPts val="0"/>
              </a:spcAft>
              <a:buNone/>
            </a:pPr>
            <a:r>
              <a:rPr lang="vi-VN" altLang="en-US" sz="1100" b="1" i="0" cap="none" spc="0" baseline="0" normalizeH="0" dirty="0">
                <a:solidFill>
                  <a:srgbClr val="F37021"/>
                </a:solidFill>
                <a:latin typeface="Meiryo UI"/>
                <a:ea typeface="Meiryo UI"/>
              </a:rPr>
              <a:t>Ghép bộ phận vào bento</a:t>
            </a:r>
            <a:endParaRPr lang="vi-VN" sz="1100" dirty="0"/>
          </a:p>
        </p:txBody>
      </p:sp>
      <p:sp>
        <p:nvSpPr>
          <p:cNvPr id="27" name="pd:s-solution:process.node:6"/>
          <p:cNvSpPr/>
          <p:nvPr/>
        </p:nvSpPr>
        <p:spPr>
          <a:xfrm>
            <a:off x="9875520" y="2926080"/>
            <a:ext cx="1463040" cy="731520"/>
          </a:xfrm>
          <a:prstGeom prst="roundRect">
            <a:avLst>
              <a:gd name="adj" fmla="val 8511"/>
            </a:avLst>
          </a:prstGeom>
          <a:solidFill>
            <a:srgbClr val="FFFFFF"/>
          </a:solidFill>
          <a:ln w="9525" cap="flat">
            <a:solidFill>
              <a:srgbClr val="19226D"/>
            </a:solidFill>
            <a:round/>
          </a:ln>
        </p:spPr>
        <p:txBody>
          <a:bodyPr wrap="square" lIns="64008" tIns="0" rIns="64008" bIns="0" anchor="ctr" rtlCol="0">
            <a:noAutofit/>
          </a:bodyPr>
          <a:lstStyle/>
          <a:p>
            <a:pPr algn="ctr" marL="0" marR="0" indent="0" rtl="0" eaLnBrk="1" latinLnBrk="0">
              <a:lnSpc>
                <a:spcPts val="1452"/>
              </a:lnSpc>
              <a:spcBef>
                <a:spcPts val="0"/>
              </a:spcBef>
              <a:spcAft>
                <a:spcPts val="0"/>
              </a:spcAft>
              <a:buNone/>
            </a:pPr>
            <a:r>
              <a:rPr lang="vi-VN" altLang="en-US" sz="1100" b="1" i="0" cap="none" spc="0" baseline="0" normalizeH="0" dirty="0">
                <a:solidFill>
                  <a:srgbClr val="19226D"/>
                </a:solidFill>
                <a:latin typeface="Meiryo UI"/>
                <a:ea typeface="Meiryo UI"/>
              </a:rPr>
              <a:t>Chốt chữ và từ vựng</a:t>
            </a:r>
            <a:endParaRPr lang="vi-VN" sz="1100" dirty="0"/>
          </a:p>
        </p:txBody>
      </p:sp>
      <p:sp>
        <p:nvSpPr>
          <p:cNvPr id="35" name="pd:s-solution:process.swatch:1"/>
          <p:cNvSpPr/>
          <p:nvPr/>
        </p:nvSpPr>
        <p:spPr>
          <a:xfrm>
            <a:off x="1609344" y="5705856"/>
            <a:ext cx="256032" cy="146304"/>
          </a:xfrm>
          <a:prstGeom prst="roundRect">
            <a:avLst>
              <a:gd name="adj" fmla="val 2000"/>
            </a:avLst>
          </a:prstGeom>
          <a:solidFill>
            <a:srgbClr val="FFFFFF"/>
          </a:solidFill>
          <a:ln w="9525" cap="flat">
            <a:solidFill>
              <a:srgbClr val="19226D"/>
            </a:solidFill>
            <a:round/>
          </a:ln>
        </p:spPr>
      </p:sp>
      <p:sp>
        <p:nvSpPr>
          <p:cNvPr id="37" name="pd:s-solution:process.swatch:2"/>
          <p:cNvSpPr/>
          <p:nvPr/>
        </p:nvSpPr>
        <p:spPr>
          <a:xfrm>
            <a:off x="2487168" y="5705856"/>
            <a:ext cx="256032" cy="146304"/>
          </a:xfrm>
          <a:prstGeom prst="roundRect">
            <a:avLst>
              <a:gd name="adj" fmla="val 2000"/>
            </a:avLst>
          </a:prstGeom>
          <a:solidFill>
            <a:srgbClr val="F37021">
              <a:alpha val="8000"/>
            </a:srgbClr>
          </a:solidFill>
          <a:ln w="15875" cap="flat">
            <a:solidFill>
              <a:srgbClr val="F37021"/>
            </a:solidFill>
            <a:round/>
          </a:ln>
        </p:spPr>
      </p:sp>
      <p:sp>
        <p:nvSpPr>
          <p:cNvPr id="5" name="pd:s-solution:premise:1"/>
          <p:cNvSpPr txBox="1"/>
          <p:nvPr/>
        </p:nvSpPr>
        <p:spPr>
          <a:xfrm>
            <a:off x="512064" y="1280160"/>
            <a:ext cx="11155680" cy="182880"/>
          </a:xfrm>
          <a:prstGeom prst="rect">
            <a:avLst/>
          </a:prstGeom>
          <a:noFill/>
          <a:ln>
            <a:noFill/>
          </a:ln>
        </p:spPr>
        <p:txBody>
          <a:bodyPr wrap="square" lIns="0" tIns="0" rIns="0" bIns="0" anchor="t">
            <a:noAutofit/>
          </a:bodyPr>
          <a:lstStyle/>
          <a:p>
            <a:pPr algn="l" marL="0" marR="0" indent="0" rtl="0" eaLnBrk="1" latinLnBrk="0">
              <a:lnSpc>
                <a:spcPct val="100000"/>
              </a:lnSpc>
              <a:spcBef>
                <a:spcPts val="0"/>
              </a:spcBef>
              <a:spcAft>
                <a:spcPts val="0"/>
              </a:spcAft>
              <a:buNone/>
            </a:pPr>
            <a:r>
              <a:rPr lang="vi-VN" sz="900" i="0" cap="none" spc="0" baseline="0" normalizeH="0" dirty="0">
                <a:solidFill>
                  <a:srgbClr val="5E6499"/>
                </a:solidFill>
                <a:latin typeface="Meiryo UI"/>
                <a:ea typeface="Meiryo UI"/>
              </a:rPr>
              <a:t>※ Sai là tín hiệu điều chỉnh, không phải kết thúc.</a:t>
            </a:r>
          </a:p>
        </p:txBody>
      </p:sp>
      <p:sp>
        <p:nvSpPr>
          <p:cNvPr id="7" name="pd:s-solution:process.name:1"/>
          <p:cNvSpPr txBox="1"/>
          <p:nvPr/>
        </p:nvSpPr>
        <p:spPr>
          <a:xfrm>
            <a:off x="512064" y="2377440"/>
            <a:ext cx="1097280" cy="182880"/>
          </a:xfrm>
          <a:prstGeom prst="rect">
            <a:avLst/>
          </a:prstGeom>
          <a:noFill/>
          <a:ln w="9525">
            <a:noFill/>
          </a:ln>
        </p:spPr>
        <p:txBody>
          <a:bodyPr wrap="square" lIns="0" tIns="0" rIns="0" bIns="0" anchor="ctr" rtlCol="0">
            <a:noAutofit/>
          </a:bodyPr>
          <a:lstStyle/>
          <a:p>
            <a:pPr algn="l" marL="0" marR="0" indent="0" rtl="0" eaLnBrk="1" latinLnBrk="0">
              <a:lnSpc>
                <a:spcPts val="1188"/>
              </a:lnSpc>
              <a:spcBef>
                <a:spcPts val="0"/>
              </a:spcBef>
              <a:spcAft>
                <a:spcPts val="0"/>
              </a:spcAft>
              <a:buNone/>
            </a:pPr>
            <a:r>
              <a:rPr lang="vi-VN" altLang="en-US" sz="900" b="1" i="0" cap="none" spc="0" baseline="0" normalizeH="0" dirty="0">
                <a:solidFill>
                  <a:srgbClr val="19226D">
                    <a:alpha val="55000"/>
                  </a:srgbClr>
                </a:solidFill>
                <a:latin typeface="Meiryo UI"/>
                <a:ea typeface="Meiryo UI"/>
              </a:rPr>
              <a:t>Người chơi</a:t>
            </a:r>
            <a:endParaRPr lang="vi-VN" sz="900" dirty="0"/>
          </a:p>
        </p:txBody>
      </p:sp>
      <p:sp>
        <p:nvSpPr>
          <p:cNvPr id="8" name="pd:s-solution:process.name:2"/>
          <p:cNvSpPr txBox="1"/>
          <p:nvPr/>
        </p:nvSpPr>
        <p:spPr>
          <a:xfrm>
            <a:off x="512064" y="3182112"/>
            <a:ext cx="1097280" cy="182880"/>
          </a:xfrm>
          <a:prstGeom prst="rect">
            <a:avLst/>
          </a:prstGeom>
          <a:noFill/>
          <a:ln w="9525">
            <a:noFill/>
          </a:ln>
        </p:spPr>
        <p:txBody>
          <a:bodyPr wrap="square" lIns="0" tIns="0" rIns="0" bIns="0" anchor="ctr" rtlCol="0">
            <a:noAutofit/>
          </a:bodyPr>
          <a:lstStyle/>
          <a:p>
            <a:pPr algn="l" marL="0" marR="0" indent="0" rtl="0" eaLnBrk="1" latinLnBrk="0">
              <a:lnSpc>
                <a:spcPts val="1188"/>
              </a:lnSpc>
              <a:spcBef>
                <a:spcPts val="0"/>
              </a:spcBef>
              <a:spcAft>
                <a:spcPts val="0"/>
              </a:spcAft>
              <a:buNone/>
            </a:pPr>
            <a:r>
              <a:rPr lang="vi-VN" altLang="en-US" sz="900" b="1" i="0" cap="none" spc="0" baseline="0" normalizeH="0" dirty="0">
                <a:solidFill>
                  <a:srgbClr val="19226D">
                    <a:alpha val="55000"/>
                  </a:srgbClr>
                </a:solidFill>
                <a:latin typeface="Meiryo UI"/>
                <a:ea typeface="Meiryo UI"/>
              </a:rPr>
              <a:t>Trò chơi</a:t>
            </a:r>
            <a:endParaRPr lang="vi-VN" sz="900" dirty="0"/>
          </a:p>
        </p:txBody>
      </p:sp>
      <p:sp>
        <p:nvSpPr>
          <p:cNvPr id="11" name="pd:s-solution:process.ruler-label:1"/>
          <p:cNvSpPr txBox="1"/>
          <p:nvPr/>
        </p:nvSpPr>
        <p:spPr>
          <a:xfrm>
            <a:off x="1755648" y="1828800"/>
            <a:ext cx="1609344" cy="182880"/>
          </a:xfrm>
          <a:prstGeom prst="rect">
            <a:avLst/>
          </a:prstGeom>
          <a:noFill/>
          <a:ln w="9525">
            <a:noFill/>
          </a:ln>
        </p:spPr>
        <p:txBody>
          <a:bodyPr wrap="square" lIns="0" tIns="0" rIns="0" bIns="0" anchor="t" rtlCol="0">
            <a:noAutofit/>
          </a:bodyPr>
          <a:lstStyle/>
          <a:p>
            <a:pPr algn="ctr" marL="0" marR="0" indent="0" rtl="0" eaLnBrk="1" latinLnBrk="0">
              <a:lnSpc>
                <a:spcPts val="1188"/>
              </a:lnSpc>
              <a:spcBef>
                <a:spcPts val="0"/>
              </a:spcBef>
              <a:spcAft>
                <a:spcPts val="0"/>
              </a:spcAft>
              <a:buNone/>
            </a:pPr>
            <a:r>
              <a:rPr lang="vi-VN" altLang="en-US" sz="900" b="1" i="0" cap="none" spc="0" baseline="0" normalizeH="0" dirty="0">
                <a:solidFill>
                  <a:srgbClr val="19226D">
                    <a:alpha val="55000"/>
                  </a:srgbClr>
                </a:solidFill>
                <a:latin typeface="Meiryo UI"/>
                <a:ea typeface="Meiryo UI"/>
              </a:rPr>
              <a:t>Khám phá</a:t>
            </a:r>
            <a:endParaRPr lang="vi-VN" sz="900" dirty="0"/>
          </a:p>
        </p:txBody>
      </p:sp>
      <p:sp>
        <p:nvSpPr>
          <p:cNvPr id="13" name="pd:s-solution:process.ruler-label:2"/>
          <p:cNvSpPr txBox="1"/>
          <p:nvPr/>
        </p:nvSpPr>
        <p:spPr>
          <a:xfrm>
            <a:off x="3364992" y="1828800"/>
            <a:ext cx="1609344" cy="182880"/>
          </a:xfrm>
          <a:prstGeom prst="rect">
            <a:avLst/>
          </a:prstGeom>
          <a:noFill/>
          <a:ln w="9525">
            <a:noFill/>
          </a:ln>
        </p:spPr>
        <p:txBody>
          <a:bodyPr wrap="square" lIns="0" tIns="0" rIns="0" bIns="0" anchor="t" rtlCol="0">
            <a:noAutofit/>
          </a:bodyPr>
          <a:lstStyle/>
          <a:p>
            <a:pPr algn="ctr" marL="0" marR="0" indent="0" rtl="0" eaLnBrk="1" latinLnBrk="0">
              <a:lnSpc>
                <a:spcPts val="1188"/>
              </a:lnSpc>
              <a:spcBef>
                <a:spcPts val="0"/>
              </a:spcBef>
              <a:spcAft>
                <a:spcPts val="0"/>
              </a:spcAft>
              <a:buNone/>
            </a:pPr>
            <a:r>
              <a:rPr lang="vi-VN" altLang="en-US" sz="900" b="1" i="0" cap="none" spc="0" baseline="0" normalizeH="0" dirty="0">
                <a:solidFill>
                  <a:srgbClr val="19226D">
                    <a:alpha val="55000"/>
                  </a:srgbClr>
                </a:solidFill>
                <a:latin typeface="Meiryo UI"/>
                <a:ea typeface="Meiryo UI"/>
              </a:rPr>
              <a:t>Lật thẻ</a:t>
            </a:r>
            <a:endParaRPr lang="vi-VN" sz="900" dirty="0"/>
          </a:p>
        </p:txBody>
      </p:sp>
      <p:sp>
        <p:nvSpPr>
          <p:cNvPr id="15" name="pd:s-solution:process.ruler-label:3"/>
          <p:cNvSpPr txBox="1"/>
          <p:nvPr/>
        </p:nvSpPr>
        <p:spPr>
          <a:xfrm>
            <a:off x="4974336" y="1828800"/>
            <a:ext cx="1609344" cy="182880"/>
          </a:xfrm>
          <a:prstGeom prst="rect">
            <a:avLst/>
          </a:prstGeom>
          <a:noFill/>
          <a:ln w="9525">
            <a:noFill/>
          </a:ln>
        </p:spPr>
        <p:txBody>
          <a:bodyPr wrap="square" lIns="0" tIns="0" rIns="0" bIns="0" anchor="t" rtlCol="0">
            <a:noAutofit/>
          </a:bodyPr>
          <a:lstStyle/>
          <a:p>
            <a:pPr algn="ctr" marL="0" marR="0" indent="0" rtl="0" eaLnBrk="1" latinLnBrk="0">
              <a:lnSpc>
                <a:spcPts val="1188"/>
              </a:lnSpc>
              <a:spcBef>
                <a:spcPts val="0"/>
              </a:spcBef>
              <a:spcAft>
                <a:spcPts val="0"/>
              </a:spcAft>
              <a:buNone/>
            </a:pPr>
            <a:r>
              <a:rPr lang="vi-VN" altLang="en-US" sz="900" b="1" i="0" cap="none" spc="0" baseline="0" normalizeH="0" dirty="0">
                <a:solidFill>
                  <a:srgbClr val="19226D">
                    <a:alpha val="55000"/>
                  </a:srgbClr>
                </a:solidFill>
                <a:latin typeface="Meiryo UI"/>
                <a:ea typeface="Meiryo UI"/>
              </a:rPr>
              <a:t>Suy luận</a:t>
            </a:r>
            <a:endParaRPr lang="vi-VN" sz="900" dirty="0"/>
          </a:p>
        </p:txBody>
      </p:sp>
      <p:sp>
        <p:nvSpPr>
          <p:cNvPr id="17" name="pd:s-solution:process.ruler-label:4"/>
          <p:cNvSpPr txBox="1"/>
          <p:nvPr/>
        </p:nvSpPr>
        <p:spPr>
          <a:xfrm>
            <a:off x="6583680" y="1828800"/>
            <a:ext cx="1609344" cy="182880"/>
          </a:xfrm>
          <a:prstGeom prst="rect">
            <a:avLst/>
          </a:prstGeom>
          <a:noFill/>
          <a:ln w="9525">
            <a:noFill/>
          </a:ln>
        </p:spPr>
        <p:txBody>
          <a:bodyPr wrap="square" lIns="0" tIns="0" rIns="0" bIns="0" anchor="t" rtlCol="0">
            <a:noAutofit/>
          </a:bodyPr>
          <a:lstStyle/>
          <a:p>
            <a:pPr algn="ctr" marL="0" marR="0" indent="0" rtl="0" eaLnBrk="1" latinLnBrk="0">
              <a:lnSpc>
                <a:spcPts val="1188"/>
              </a:lnSpc>
              <a:spcBef>
                <a:spcPts val="0"/>
              </a:spcBef>
              <a:spcAft>
                <a:spcPts val="0"/>
              </a:spcAft>
              <a:buNone/>
            </a:pPr>
            <a:r>
              <a:rPr lang="vi-VN" altLang="en-US" sz="900" b="1" i="0" cap="none" spc="0" baseline="0" normalizeH="0" dirty="0">
                <a:solidFill>
                  <a:srgbClr val="19226D">
                    <a:alpha val="55000"/>
                  </a:srgbClr>
                </a:solidFill>
                <a:latin typeface="Meiryo UI"/>
                <a:ea typeface="Meiryo UI"/>
              </a:rPr>
              <a:t>Đọc hình</a:t>
            </a:r>
            <a:endParaRPr lang="vi-VN" sz="900" dirty="0"/>
          </a:p>
        </p:txBody>
      </p:sp>
      <p:sp>
        <p:nvSpPr>
          <p:cNvPr id="19" name="pd:s-solution:process.ruler-label:5"/>
          <p:cNvSpPr txBox="1"/>
          <p:nvPr/>
        </p:nvSpPr>
        <p:spPr>
          <a:xfrm>
            <a:off x="8193024" y="1828800"/>
            <a:ext cx="1609344" cy="182880"/>
          </a:xfrm>
          <a:prstGeom prst="rect">
            <a:avLst/>
          </a:prstGeom>
          <a:noFill/>
          <a:ln w="9525">
            <a:noFill/>
          </a:ln>
        </p:spPr>
        <p:txBody>
          <a:bodyPr wrap="square" lIns="0" tIns="0" rIns="0" bIns="0" anchor="t" rtlCol="0">
            <a:noAutofit/>
          </a:bodyPr>
          <a:lstStyle/>
          <a:p>
            <a:pPr algn="ctr" marL="0" marR="0" indent="0" rtl="0" eaLnBrk="1" latinLnBrk="0">
              <a:lnSpc>
                <a:spcPts val="1188"/>
              </a:lnSpc>
              <a:spcBef>
                <a:spcPts val="0"/>
              </a:spcBef>
              <a:spcAft>
                <a:spcPts val="0"/>
              </a:spcAft>
              <a:buNone/>
            </a:pPr>
            <a:r>
              <a:rPr lang="vi-VN" altLang="en-US" sz="900" b="1" i="0" cap="none" spc="0" baseline="0" normalizeH="0" dirty="0">
                <a:solidFill>
                  <a:srgbClr val="19226D"/>
                </a:solidFill>
                <a:latin typeface="Meiryo UI"/>
                <a:ea typeface="Meiryo UI"/>
              </a:rPr>
              <a:t>Kiến tạo</a:t>
            </a:r>
            <a:endParaRPr lang="vi-VN" sz="900" dirty="0"/>
          </a:p>
        </p:txBody>
      </p:sp>
      <p:sp>
        <p:nvSpPr>
          <p:cNvPr id="21" name="pd:s-solution:process.ruler-label:6"/>
          <p:cNvSpPr txBox="1"/>
          <p:nvPr/>
        </p:nvSpPr>
        <p:spPr>
          <a:xfrm>
            <a:off x="9802368" y="1828800"/>
            <a:ext cx="1609344" cy="182880"/>
          </a:xfrm>
          <a:prstGeom prst="rect">
            <a:avLst/>
          </a:prstGeom>
          <a:noFill/>
          <a:ln w="9525">
            <a:noFill/>
          </a:ln>
        </p:spPr>
        <p:txBody>
          <a:bodyPr wrap="square" lIns="0" tIns="0" rIns="0" bIns="0" anchor="t" rtlCol="0">
            <a:noAutofit/>
          </a:bodyPr>
          <a:lstStyle/>
          <a:p>
            <a:pPr algn="ctr" marL="0" marR="0" indent="0" rtl="0" eaLnBrk="1" latinLnBrk="0">
              <a:lnSpc>
                <a:spcPts val="1188"/>
              </a:lnSpc>
              <a:spcBef>
                <a:spcPts val="0"/>
              </a:spcBef>
              <a:spcAft>
                <a:spcPts val="0"/>
              </a:spcAft>
              <a:buNone/>
            </a:pPr>
            <a:r>
              <a:rPr lang="vi-VN" altLang="en-US" sz="900" b="1" i="0" cap="none" spc="0" baseline="0" normalizeH="0" dirty="0">
                <a:solidFill>
                  <a:srgbClr val="19226D">
                    <a:alpha val="55000"/>
                  </a:srgbClr>
                </a:solidFill>
                <a:latin typeface="Meiryo UI"/>
                <a:ea typeface="Meiryo UI"/>
              </a:rPr>
              <a:t>Củng cố</a:t>
            </a:r>
            <a:endParaRPr lang="vi-VN" sz="900" dirty="0"/>
          </a:p>
        </p:txBody>
      </p:sp>
      <p:sp>
        <p:nvSpPr>
          <p:cNvPr id="34" name="pd:s-solution:process.legend-head:1"/>
          <p:cNvSpPr txBox="1"/>
          <p:nvPr/>
        </p:nvSpPr>
        <p:spPr>
          <a:xfrm>
            <a:off x="512064" y="5669280"/>
            <a:ext cx="1024128" cy="219456"/>
          </a:xfrm>
          <a:prstGeom prst="rect">
            <a:avLst/>
          </a:prstGeom>
          <a:noFill/>
          <a:ln w="9525">
            <a:noFill/>
          </a:ln>
        </p:spPr>
        <p:txBody>
          <a:bodyPr wrap="square" lIns="0" tIns="0" rIns="0" bIns="0" anchor="ctr" rtlCol="0">
            <a:noAutofit/>
          </a:bodyPr>
          <a:lstStyle/>
          <a:p>
            <a:pPr algn="l" marL="0" marR="0" indent="0" rtl="0" eaLnBrk="1" latinLnBrk="0">
              <a:lnSpc>
                <a:spcPts val="1188"/>
              </a:lnSpc>
              <a:spcBef>
                <a:spcPts val="0"/>
              </a:spcBef>
              <a:spcAft>
                <a:spcPts val="0"/>
              </a:spcAft>
              <a:buNone/>
            </a:pPr>
            <a:r>
              <a:rPr lang="vi-VN" altLang="en-US" sz="900" b="1" i="0" cap="none" spc="0" baseline="0" normalizeH="0" dirty="0">
                <a:solidFill>
                  <a:srgbClr val="19226D">
                    <a:alpha val="55000"/>
                  </a:srgbClr>
                </a:solidFill>
                <a:latin typeface="Meiryo UI"/>
                <a:ea typeface="Meiryo UI"/>
              </a:rPr>
              <a:t>Loại</a:t>
            </a:r>
            <a:endParaRPr lang="vi-VN" sz="900" dirty="0"/>
          </a:p>
        </p:txBody>
      </p:sp>
      <p:sp>
        <p:nvSpPr>
          <p:cNvPr id="36" name="pd:s-solution:process.legend-text@swatch.1:1"/>
          <p:cNvSpPr txBox="1"/>
          <p:nvPr/>
        </p:nvSpPr>
        <p:spPr>
          <a:xfrm>
            <a:off x="1938528" y="5669280"/>
            <a:ext cx="329184" cy="219456"/>
          </a:xfrm>
          <a:prstGeom prst="rect">
            <a:avLst/>
          </a:prstGeom>
          <a:noFill/>
          <a:ln w="9525">
            <a:noFill/>
          </a:ln>
        </p:spPr>
        <p:txBody>
          <a:bodyPr wrap="square" lIns="0" tIns="0" rIns="0" bIns="0" anchor="ctr" rtlCol="0">
            <a:noAutofit/>
          </a:bodyPr>
          <a:lstStyle/>
          <a:p>
            <a:pPr algn="l" marL="0" marR="0" indent="0" rtl="0" eaLnBrk="1" latinLnBrk="0">
              <a:lnSpc>
                <a:spcPts val="1188"/>
              </a:lnSpc>
              <a:spcBef>
                <a:spcPts val="0"/>
              </a:spcBef>
              <a:spcAft>
                <a:spcPts val="0"/>
              </a:spcAft>
              <a:buNone/>
            </a:pPr>
            <a:r>
              <a:rPr lang="vi-VN" altLang="en-US" sz="900" b="0" i="0" cap="none" spc="0" baseline="0" normalizeH="0" dirty="0">
                <a:solidFill>
                  <a:srgbClr val="080808"/>
                </a:solidFill>
                <a:latin typeface="Meiryo UI"/>
                <a:ea typeface="Meiryo UI"/>
              </a:rPr>
              <a:t>Bước</a:t>
            </a:r>
            <a:endParaRPr lang="vi-VN" sz="900" dirty="0"/>
          </a:p>
        </p:txBody>
      </p:sp>
      <p:sp>
        <p:nvSpPr>
          <p:cNvPr id="38" name="pd:s-solution:process.legend-text@swatch.2:1"/>
          <p:cNvSpPr txBox="1"/>
          <p:nvPr/>
        </p:nvSpPr>
        <p:spPr>
          <a:xfrm>
            <a:off x="2816352" y="5669280"/>
            <a:ext cx="950976" cy="219456"/>
          </a:xfrm>
          <a:prstGeom prst="rect">
            <a:avLst/>
          </a:prstGeom>
          <a:noFill/>
          <a:ln w="9525">
            <a:noFill/>
          </a:ln>
        </p:spPr>
        <p:txBody>
          <a:bodyPr wrap="square" lIns="0" tIns="0" rIns="0" bIns="0" anchor="ctr" rtlCol="0">
            <a:noAutofit/>
          </a:bodyPr>
          <a:lstStyle/>
          <a:p>
            <a:pPr algn="l" marL="0" marR="0" indent="0" rtl="0" eaLnBrk="1" latinLnBrk="0">
              <a:lnSpc>
                <a:spcPts val="1188"/>
              </a:lnSpc>
              <a:spcBef>
                <a:spcPts val="0"/>
              </a:spcBef>
              <a:spcAft>
                <a:spcPts val="0"/>
              </a:spcAft>
              <a:buNone/>
            </a:pPr>
            <a:r>
              <a:rPr lang="vi-VN" altLang="en-US" sz="900" b="0" i="0" cap="none" spc="0" baseline="0" normalizeH="0" dirty="0">
                <a:solidFill>
                  <a:srgbClr val="080808"/>
                </a:solidFill>
                <a:latin typeface="Meiryo UI"/>
                <a:ea typeface="Meiryo UI"/>
              </a:rPr>
              <a:t>Bước trọng tâm</a:t>
            </a:r>
            <a:endParaRPr lang="vi-VN" sz="900" dirty="0"/>
          </a:p>
        </p:txBody>
      </p:sp>
      <p:sp>
        <p:nvSpPr>
          <p:cNvPr id="39" name="pd:s-solution:process.legend-head:2"/>
          <p:cNvSpPr txBox="1"/>
          <p:nvPr/>
        </p:nvSpPr>
        <p:spPr>
          <a:xfrm>
            <a:off x="512064" y="5888736"/>
            <a:ext cx="1024128" cy="219456"/>
          </a:xfrm>
          <a:prstGeom prst="rect">
            <a:avLst/>
          </a:prstGeom>
          <a:noFill/>
          <a:ln w="9525">
            <a:noFill/>
          </a:ln>
        </p:spPr>
        <p:txBody>
          <a:bodyPr wrap="square" lIns="0" tIns="0" rIns="0" bIns="0" anchor="ctr" rtlCol="0">
            <a:noAutofit/>
          </a:bodyPr>
          <a:lstStyle/>
          <a:p>
            <a:pPr algn="l" marL="0" marR="0" indent="0" rtl="0" eaLnBrk="1" latinLnBrk="0">
              <a:lnSpc>
                <a:spcPts val="1188"/>
              </a:lnSpc>
              <a:spcBef>
                <a:spcPts val="0"/>
              </a:spcBef>
              <a:spcAft>
                <a:spcPts val="0"/>
              </a:spcAft>
              <a:buNone/>
            </a:pPr>
            <a:r>
              <a:rPr lang="vi-VN" altLang="en-US" sz="900" b="1" i="0" cap="none" spc="0" baseline="0" normalizeH="0" dirty="0">
                <a:solidFill>
                  <a:srgbClr val="19226D">
                    <a:alpha val="55000"/>
                  </a:srgbClr>
                </a:solidFill>
                <a:latin typeface="Meiryo UI"/>
                <a:ea typeface="Meiryo UI"/>
              </a:rPr>
              <a:t>Đường</a:t>
            </a:r>
            <a:endParaRPr lang="vi-VN" sz="900" dirty="0"/>
          </a:p>
        </p:txBody>
      </p:sp>
      <p:sp>
        <p:nvSpPr>
          <p:cNvPr id="41" name="pd:s-solution:process.legend-text@legend-line.1:1"/>
          <p:cNvSpPr txBox="1"/>
          <p:nvPr/>
        </p:nvSpPr>
        <p:spPr>
          <a:xfrm>
            <a:off x="1938528" y="5888736"/>
            <a:ext cx="1243584" cy="219456"/>
          </a:xfrm>
          <a:prstGeom prst="rect">
            <a:avLst/>
          </a:prstGeom>
          <a:noFill/>
          <a:ln w="9525">
            <a:noFill/>
          </a:ln>
        </p:spPr>
        <p:txBody>
          <a:bodyPr wrap="square" lIns="0" tIns="0" rIns="0" bIns="0" anchor="ctr" rtlCol="0">
            <a:noAutofit/>
          </a:bodyPr>
          <a:lstStyle/>
          <a:p>
            <a:pPr algn="l" marL="0" marR="0" indent="0" rtl="0" eaLnBrk="1" latinLnBrk="0">
              <a:lnSpc>
                <a:spcPts val="1188"/>
              </a:lnSpc>
              <a:spcBef>
                <a:spcPts val="0"/>
              </a:spcBef>
              <a:spcAft>
                <a:spcPts val="0"/>
              </a:spcAft>
              <a:buNone/>
            </a:pPr>
            <a:r>
              <a:rPr lang="vi-VN" altLang="en-US" sz="900" b="0" i="0" cap="none" spc="0" baseline="0" normalizeH="0" dirty="0">
                <a:solidFill>
                  <a:srgbClr val="080808"/>
                </a:solidFill>
                <a:latin typeface="Meiryo UI"/>
                <a:ea typeface="Meiryo UI"/>
              </a:rPr>
              <a:t>Đường nối trọng tâm</a:t>
            </a:r>
            <a:endParaRPr lang="vi-VN" sz="900" dirty="0"/>
          </a:p>
        </p:txBody>
      </p:sp>
      <p:sp>
        <p:nvSpPr>
          <p:cNvPr id="43" name="pd:s-solution:process.legend-text@legend-line.2:1"/>
          <p:cNvSpPr txBox="1"/>
          <p:nvPr/>
        </p:nvSpPr>
        <p:spPr>
          <a:xfrm>
            <a:off x="3730752" y="5888736"/>
            <a:ext cx="768096" cy="219456"/>
          </a:xfrm>
          <a:prstGeom prst="rect">
            <a:avLst/>
          </a:prstGeom>
          <a:noFill/>
          <a:ln w="9525">
            <a:noFill/>
          </a:ln>
        </p:spPr>
        <p:txBody>
          <a:bodyPr wrap="square" lIns="0" tIns="0" rIns="0" bIns="0" anchor="ctr" rtlCol="0">
            <a:noAutofit/>
          </a:bodyPr>
          <a:lstStyle/>
          <a:p>
            <a:pPr algn="l" marL="0" marR="0" indent="0" rtl="0" eaLnBrk="1" latinLnBrk="0">
              <a:lnSpc>
                <a:spcPts val="1188"/>
              </a:lnSpc>
              <a:spcBef>
                <a:spcPts val="0"/>
              </a:spcBef>
              <a:spcAft>
                <a:spcPts val="0"/>
              </a:spcAft>
              <a:buNone/>
            </a:pPr>
            <a:r>
              <a:rPr lang="vi-VN" altLang="en-US" sz="900" b="0" i="0" cap="none" spc="0" baseline="0" normalizeH="0" dirty="0">
                <a:solidFill>
                  <a:srgbClr val="080808"/>
                </a:solidFill>
                <a:latin typeface="Meiryo UI"/>
                <a:ea typeface="Meiryo UI"/>
              </a:rPr>
              <a:t>Bước kế tiếp</a:t>
            </a:r>
            <a:endParaRPr lang="vi-VN" sz="900" dirty="0"/>
          </a:p>
        </p:txBody>
      </p:sp>
    </p:spTree>
    <p:custDataLst>
      <p:tags r:id="rId3"/>
    </p:custDataLst>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c:title:1"/>
          <p:cNvSpPr>
            <a:spLocks noGrp="1"/>
          </p:cNvSpPr>
          <p:nvPr>
            <p:ph type="title"/>
          </p:nvPr>
        </p:nvSpPr>
        <p:spPr/>
        <p:txBody>
          <a:bodyPr>
            <a:noAutofit/>
          </a:bodyPr>
          <a:lstStyle/>
          <a:p>
            <a:pPr>
              <a:lnSpc>
                <a:spcPts val="3360"/>
              </a:lnSpc>
            </a:pPr>
            <a:r>
              <a:rPr lang="vi-VN" altLang="en-US" sz="2800" dirty="0">
                <a:ea typeface="Meiryo UI"/>
              </a:rPr>
              <a:t>Bộ thủ trở thành LEGO</a:t>
            </a:r>
          </a:p>
        </p:txBody>
      </p:sp>
      <p:sp>
        <p:nvSpPr>
          <p:cNvPr id="3" name="Slide Number Placeholder 3">
            <a:extLst>
              <a:ext uri="{FF2B5EF4-FFF2-40B4-BE49-F238E27FC236}">
                <a16:creationId xmlns:a16="http://schemas.microsoft.com/office/drawing/2014/main" id="{13BB62CA-CBF7-31AD-BAA2-F360326FF91D}"/>
              </a:ext>
            </a:extLst>
          </p:cNvPr>
          <p:cNvSpPr>
            <a:spLocks noGrp="1"/>
          </p:cNvSpPr>
          <p:nvPr>
            <p:ph type="sldNum" sz="quarter" idx="12"/>
          </p:nvPr>
        </p:nvSpPr>
        <p:spPr>
          <a:xfrm>
            <a:off x="10330249" y="6415503"/>
            <a:ext cx="1577824" cy="251969"/>
          </a:xfrm>
          <a:prstGeom prst="rect">
            <a:avLst/>
          </a:prstGeom>
        </p:spPr>
        <p:txBody>
          <a:bodyPr/>
          <a:lstStyle>
            <a:lvl1pPr algn="r">
              <a:defRPr sz="1050">
                <a:solidFill>
                  <a:schemeClr val="accent6">
                    <a:lumMod val="60000"/>
                    <a:lumOff val="40000"/>
                  </a:schemeClr>
                </a:solidFill>
              </a:defRPr>
            </a:lvl1pPr>
          </a:lstStyle>
          <a:p>
            <a:r>
              <a:rPr lang="en-US" u="sng" dirty="0" err="1">
                <a:hlinkClick r:id="rId2">
                  <a:extLst>
                    <a:ext uri="{A12FA001-AC4F-418D-AE19-62706E023703}">
                      <ahyp:hlinkClr xmlns:ahyp="http://schemas.microsoft.com/office/drawing/2018/hyperlinkcolor" val="tx"/>
                    </a:ext>
                  </a:extLst>
                </a:hlinkClick>
              </a:rPr>
              <a:t>fptsoftware.com</a:t>
            </a:r>
            <a:r>
              <a:rPr lang="en-US" dirty="0">
                <a:hlinkClick r:id="rId2">
                  <a:extLst>
                    <a:ext uri="{A12FA001-AC4F-418D-AE19-62706E023703}">
                      <ahyp:hlinkClr xmlns:ahyp="http://schemas.microsoft.com/office/drawing/2018/hyperlinkcolor" val="tx"/>
                    </a:ext>
                  </a:extLst>
                </a:hlinkClick>
              </a:rPr>
              <a:t> </a:t>
            </a:r>
            <a:r>
              <a:rPr lang="en-US" dirty="0"/>
              <a:t>| </a:t>
            </a:r>
            <a:fld id="{E012F146-47F9-A646-B182-8CC39B8AD32B}" type="slidenum">
              <a:rPr lang="x-none" smtClean="0"/>
              <a:pPr/>
              <a:t>3</a:t>
            </a:fld>
            <a:endParaRPr lang="x-none"/>
          </a:p>
        </p:txBody>
      </p:sp>
      <p:sp>
        <p:nvSpPr>
          <p:cNvPr id="4" name="sc:li:1"/>
          <p:cNvSpPr txBox="1"/>
          <p:nvPr/>
        </p:nvSpPr>
        <p:spPr>
          <a:xfrm>
            <a:off x="512064" y="1280160"/>
            <a:ext cx="11155680" cy="1306195"/>
          </a:xfrm>
          <a:prstGeom prst="rect">
            <a:avLst/>
          </a:prstGeom>
          <a:noFill/>
          <a:ln>
            <a:noFill/>
          </a:ln>
        </p:spPr>
        <p:txBody>
          <a:bodyPr wrap="square" lIns="0" tIns="0" rIns="0" bIns="0" anchor="t" rtlCol="0">
            <a:noAutofit/>
          </a:bodyPr>
          <a:lstStyle/>
          <a:p>
            <a:pPr marL="177800" indent="-177800" algn="l">
              <a:lnSpc>
                <a:spcPts val="2465"/>
              </a:lnSpc>
              <a:spcBef>
                <a:spcPts val="0"/>
              </a:spcBef>
              <a:spcAft>
                <a:spcPts val="0"/>
              </a:spcAft>
              <a:buFont typeface="Arial"/>
              <a:buChar char="•"/>
            </a:pPr>
            <a:r>
              <a:rPr lang="vi-VN" altLang="en-US" sz="1700" b="0" dirty="0">
                <a:solidFill>
                  <a:srgbClr val="080808"/>
                </a:solidFill>
                <a:latin typeface="Meiryo UI"/>
                <a:ea typeface="Meiryo UI"/>
              </a:rPr>
              <a:t>Học bằng hành động</a:t>
            </a:r>
            <a:endParaRPr lang="en-US" sz="1700" dirty="0"/>
          </a:p>
          <a:p>
            <a:pPr marL="177800" indent="-177800" algn="l">
              <a:lnSpc>
                <a:spcPts val="2465"/>
              </a:lnSpc>
              <a:spcBef>
                <a:spcPts val="1445"/>
              </a:spcBef>
              <a:spcAft>
                <a:spcPts val="0"/>
              </a:spcAft>
              <a:buFont typeface="Arial"/>
              <a:buChar char="•"/>
            </a:pPr>
            <a:r>
              <a:rPr lang="vi-VN" altLang="en-US" sz="1700" b="0" dirty="0">
                <a:solidFill>
                  <a:srgbClr val="080808"/>
                </a:solidFill>
                <a:latin typeface="Meiryo UI"/>
                <a:ea typeface="Meiryo UI"/>
              </a:rPr>
              <a:t>Sai là tín hiệu</a:t>
            </a:r>
            <a:endParaRPr lang="en-US" sz="1700" dirty="0"/>
          </a:p>
          <a:p>
            <a:pPr marL="177800" indent="-177800" algn="l">
              <a:lnSpc>
                <a:spcPts val="2465"/>
              </a:lnSpc>
              <a:spcBef>
                <a:spcPts val="1445"/>
              </a:spcBef>
              <a:spcAft>
                <a:spcPts val="0"/>
              </a:spcAft>
              <a:buFont typeface="Arial"/>
              <a:buChar char="•"/>
            </a:pPr>
            <a:r>
              <a:rPr lang="vi-VN" altLang="en-US" sz="1700" b="0" dirty="0">
                <a:solidFill>
                  <a:srgbClr val="080808"/>
                </a:solidFill>
                <a:latin typeface="Meiryo UI"/>
                <a:ea typeface="Meiryo UI"/>
              </a:rPr>
              <a:t>Kiến thức cũ → mới</a:t>
            </a:r>
            <a:endParaRPr lang="en-US" sz="1700" dirty="0"/>
          </a:p>
        </p:txBody>
      </p:sp>
      <p:graphicFrame>
        <p:nvGraphicFramePr>
          <p:cNvPr id="5" name="sc:table:1"/>
          <p:cNvGraphicFramePr>
            <a:graphicFrameLocks noGrp="1"/>
          </p:cNvGraphicFramePr>
          <p:nvPr/>
        </p:nvGraphicFramePr>
        <p:xfrm>
          <a:off x="512064" y="2743200"/>
          <a:ext cx="11155680" cy="3072384"/>
        </p:xfrm>
        <a:graphic>
          <a:graphicData uri="http://schemas.openxmlformats.org/drawingml/2006/table">
            <a:tbl>
              <a:tblPr firstRow="1" bandRow="0"/>
              <a:tblGrid>
                <a:gridCol w="5120640"/>
                <a:gridCol w="6035040"/>
              </a:tblGrid>
              <a:tr h="512064">
                <a:tc>
                  <a:txBody>
                    <a:bodyPr wrap="square"/>
                    <a:lstStyle/>
                    <a:p>
                      <a:pPr algn="l">
                        <a:lnSpc>
                          <a:spcPts val="2170"/>
                        </a:lnSpc>
                      </a:pPr>
                      <a:r>
                        <a:rPr lang="vi-VN" altLang="en-US" sz="1400" b="1" dirty="0">
                          <a:solidFill>
                            <a:srgbClr val="FFFFFF"/>
                          </a:solidFill>
                          <a:latin typeface="Meiryo UI"/>
                          <a:ea typeface="Meiryo UI"/>
                        </a:rPr>
                        <a:t>Cơ chế</a:t>
                      </a:r>
                      <a:endParaRPr lang="en-US" sz="1400" dirty="0"/>
                    </a:p>
                  </a:txBody>
                  <a:tcPr marL="146304" marR="146304" marT="109728" marB="109728" anchor="ctr">
                    <a:lnL w="9525" cap="flat" cmpd="sng" algn="ctr">
                      <a:solidFill>
                        <a:srgbClr val="DCDEE9"/>
                      </a:solidFill>
                      <a:prstDash val="solid"/>
                    </a:lnL>
                    <a:lnR w="9525" cap="flat" cmpd="sng" algn="ctr">
                      <a:solidFill>
                        <a:srgbClr val="DCDEE9"/>
                      </a:solidFill>
                      <a:prstDash val="solid"/>
                    </a:lnR>
                    <a:lnT w="9525" cap="flat" cmpd="sng" algn="ctr">
                      <a:solidFill>
                        <a:srgbClr val="DCDEE9"/>
                      </a:solidFill>
                      <a:prstDash val="solid"/>
                    </a:lnT>
                    <a:lnB w="9525" cap="flat" cmpd="sng" algn="ctr">
                      <a:solidFill>
                        <a:srgbClr val="DCDEE9"/>
                      </a:solidFill>
                      <a:prstDash val="solid"/>
                    </a:lnB>
                    <a:solidFill>
                      <a:srgbClr val="034EA2"/>
                    </a:solidFill>
                  </a:tcPr>
                </a:tc>
                <a:tc>
                  <a:txBody>
                    <a:bodyPr wrap="square"/>
                    <a:lstStyle/>
                    <a:p>
                      <a:pPr algn="l">
                        <a:lnSpc>
                          <a:spcPts val="2170"/>
                        </a:lnSpc>
                      </a:pPr>
                      <a:r>
                        <a:rPr lang="vi-VN" altLang="en-US" sz="1400" b="1" dirty="0">
                          <a:solidFill>
                            <a:srgbClr val="FFFFFF"/>
                          </a:solidFill>
                          <a:latin typeface="Meiryo UI"/>
                          <a:ea typeface="Meiryo UI"/>
                        </a:rPr>
                        <a:t>Ý nghĩa</a:t>
                      </a:r>
                      <a:endParaRPr lang="en-US" sz="1400" dirty="0"/>
                    </a:p>
                  </a:txBody>
                  <a:tcPr marL="146304" marR="146304" marT="109728" marB="109728" anchor="ctr">
                    <a:lnL w="9525" cap="flat" cmpd="sng" algn="ctr">
                      <a:solidFill>
                        <a:srgbClr val="DCDEE9"/>
                      </a:solidFill>
                      <a:prstDash val="solid"/>
                    </a:lnL>
                    <a:lnR w="9525" cap="flat" cmpd="sng" algn="ctr">
                      <a:solidFill>
                        <a:srgbClr val="DCDEE9"/>
                      </a:solidFill>
                      <a:prstDash val="solid"/>
                    </a:lnR>
                    <a:lnT w="9525" cap="flat" cmpd="sng" algn="ctr">
                      <a:solidFill>
                        <a:srgbClr val="DCDEE9"/>
                      </a:solidFill>
                      <a:prstDash val="solid"/>
                    </a:lnT>
                    <a:lnB w="9525" cap="flat" cmpd="sng" algn="ctr">
                      <a:solidFill>
                        <a:srgbClr val="DCDEE9"/>
                      </a:solidFill>
                      <a:prstDash val="solid"/>
                    </a:lnB>
                    <a:solidFill>
                      <a:srgbClr val="034EA2"/>
                    </a:solidFill>
                  </a:tcPr>
                </a:tc>
              </a:tr>
              <a:tr h="512064">
                <a:tc>
                  <a:txBody>
                    <a:bodyPr wrap="square"/>
                    <a:lstStyle/>
                    <a:p>
                      <a:pPr algn="l">
                        <a:lnSpc>
                          <a:spcPts val="2170"/>
                        </a:lnSpc>
                      </a:pPr>
                      <a:r>
                        <a:rPr lang="vi-VN" altLang="en-US" sz="1400" b="0" dirty="0">
                          <a:solidFill>
                            <a:srgbClr val="080808"/>
                          </a:solidFill>
                          <a:latin typeface="Meiryo UI"/>
                          <a:ea typeface="Meiryo UI"/>
                        </a:rPr>
                        <a:t>Hữu hình hoá</a:t>
                      </a:r>
                      <a:endParaRPr lang="en-US" sz="1400" dirty="0"/>
                    </a:p>
                  </a:txBody>
                  <a:tcPr marL="146304" marR="146304" marT="109728" marB="109728" anchor="ctr">
                    <a:lnL w="9525" cap="flat" cmpd="sng" algn="ctr">
                      <a:solidFill>
                        <a:srgbClr val="DCDEE9"/>
                      </a:solidFill>
                      <a:prstDash val="solid"/>
                    </a:lnL>
                    <a:lnR w="9525" cap="flat" cmpd="sng" algn="ctr">
                      <a:solidFill>
                        <a:srgbClr val="DCDEE9"/>
                      </a:solidFill>
                      <a:prstDash val="solid"/>
                    </a:lnR>
                    <a:lnT w="9525" cap="flat" cmpd="sng" algn="ctr">
                      <a:solidFill>
                        <a:srgbClr val="DCDEE9"/>
                      </a:solidFill>
                      <a:prstDash val="solid"/>
                    </a:lnT>
                    <a:lnB w="9525" cap="flat" cmpd="sng" algn="ctr">
                      <a:solidFill>
                        <a:srgbClr val="DCDEE9"/>
                      </a:solidFill>
                      <a:prstDash val="solid"/>
                    </a:lnB>
                    <a:solidFill>
                      <a:srgbClr val="FFFFFF"/>
                    </a:solidFill>
                  </a:tcPr>
                </a:tc>
                <a:tc>
                  <a:txBody>
                    <a:bodyPr wrap="square"/>
                    <a:lstStyle/>
                    <a:p>
                      <a:pPr algn="l">
                        <a:lnSpc>
                          <a:spcPts val="2170"/>
                        </a:lnSpc>
                      </a:pPr>
                      <a:r>
                        <a:rPr lang="vi-VN" altLang="en-US" sz="1400" b="0" dirty="0">
                          <a:solidFill>
                            <a:srgbClr val="080808"/>
                          </a:solidFill>
                          <a:latin typeface="Meiryo UI"/>
                          <a:ea typeface="Meiryo UI"/>
                        </a:rPr>
                        <a:t>Thấy chữ xây</a:t>
                      </a:r>
                      <a:endParaRPr lang="en-US" sz="1400" dirty="0"/>
                    </a:p>
                  </a:txBody>
                  <a:tcPr marL="146304" marR="146304" marT="109728" marB="109728" anchor="ctr">
                    <a:lnL w="9525" cap="flat" cmpd="sng" algn="ctr">
                      <a:solidFill>
                        <a:srgbClr val="DCDEE9"/>
                      </a:solidFill>
                      <a:prstDash val="solid"/>
                    </a:lnL>
                    <a:lnR w="9525" cap="flat" cmpd="sng" algn="ctr">
                      <a:solidFill>
                        <a:srgbClr val="DCDEE9"/>
                      </a:solidFill>
                      <a:prstDash val="solid"/>
                    </a:lnR>
                    <a:lnT w="9525" cap="flat" cmpd="sng" algn="ctr">
                      <a:solidFill>
                        <a:srgbClr val="DCDEE9"/>
                      </a:solidFill>
                      <a:prstDash val="solid"/>
                    </a:lnT>
                    <a:lnB w="9525" cap="flat" cmpd="sng" algn="ctr">
                      <a:solidFill>
                        <a:srgbClr val="DCDEE9"/>
                      </a:solidFill>
                      <a:prstDash val="solid"/>
                    </a:lnB>
                    <a:solidFill>
                      <a:srgbClr val="FFFFFF"/>
                    </a:solidFill>
                  </a:tcPr>
                </a:tc>
              </a:tr>
              <a:tr h="512064">
                <a:tc>
                  <a:txBody>
                    <a:bodyPr wrap="square"/>
                    <a:lstStyle/>
                    <a:p>
                      <a:pPr algn="l">
                        <a:lnSpc>
                          <a:spcPts val="2170"/>
                        </a:lnSpc>
                      </a:pPr>
                      <a:r>
                        <a:rPr lang="vi-VN" altLang="en-US" sz="1400" b="0" dirty="0">
                          <a:solidFill>
                            <a:srgbClr val="080808"/>
                          </a:solidFill>
                          <a:latin typeface="Meiryo UI"/>
                          <a:ea typeface="Meiryo UI"/>
                        </a:rPr>
                        <a:t>Không gian</a:t>
                      </a:r>
                      <a:endParaRPr lang="en-US" sz="1400" dirty="0"/>
                    </a:p>
                  </a:txBody>
                  <a:tcPr marL="146304" marR="146304" marT="109728" marB="109728" anchor="ctr">
                    <a:lnL w="9525" cap="flat" cmpd="sng" algn="ctr">
                      <a:solidFill>
                        <a:srgbClr val="DCDEE9"/>
                      </a:solidFill>
                      <a:prstDash val="solid"/>
                    </a:lnL>
                    <a:lnR w="9525" cap="flat" cmpd="sng" algn="ctr">
                      <a:solidFill>
                        <a:srgbClr val="DCDEE9"/>
                      </a:solidFill>
                      <a:prstDash val="solid"/>
                    </a:lnR>
                    <a:lnT w="9525" cap="flat" cmpd="sng" algn="ctr">
                      <a:solidFill>
                        <a:srgbClr val="DCDEE9"/>
                      </a:solidFill>
                      <a:prstDash val="solid"/>
                    </a:lnT>
                    <a:lnB w="9525" cap="flat" cmpd="sng" algn="ctr">
                      <a:solidFill>
                        <a:srgbClr val="DCDEE9"/>
                      </a:solidFill>
                      <a:prstDash val="solid"/>
                    </a:lnB>
                    <a:solidFill>
                      <a:srgbClr val="F4F4F8"/>
                    </a:solidFill>
                  </a:tcPr>
                </a:tc>
                <a:tc>
                  <a:txBody>
                    <a:bodyPr wrap="square"/>
                    <a:lstStyle/>
                    <a:p>
                      <a:pPr algn="l">
                        <a:lnSpc>
                          <a:spcPts val="2170"/>
                        </a:lnSpc>
                      </a:pPr>
                      <a:r>
                        <a:rPr lang="vi-VN" altLang="en-US" sz="1400" b="0" dirty="0">
                          <a:solidFill>
                            <a:srgbClr val="080808"/>
                          </a:solidFill>
                          <a:latin typeface="Meiryo UI"/>
                          <a:ea typeface="Meiryo UI"/>
                        </a:rPr>
                        <a:t>Trái–phải, bao</a:t>
                      </a:r>
                      <a:endParaRPr lang="en-US" sz="1400" dirty="0"/>
                    </a:p>
                  </a:txBody>
                  <a:tcPr marL="146304" marR="146304" marT="109728" marB="109728" anchor="ctr">
                    <a:lnL w="9525" cap="flat" cmpd="sng" algn="ctr">
                      <a:solidFill>
                        <a:srgbClr val="DCDEE9"/>
                      </a:solidFill>
                      <a:prstDash val="solid"/>
                    </a:lnL>
                    <a:lnR w="9525" cap="flat" cmpd="sng" algn="ctr">
                      <a:solidFill>
                        <a:srgbClr val="DCDEE9"/>
                      </a:solidFill>
                      <a:prstDash val="solid"/>
                    </a:lnR>
                    <a:lnT w="9525" cap="flat" cmpd="sng" algn="ctr">
                      <a:solidFill>
                        <a:srgbClr val="DCDEE9"/>
                      </a:solidFill>
                      <a:prstDash val="solid"/>
                    </a:lnT>
                    <a:lnB w="9525" cap="flat" cmpd="sng" algn="ctr">
                      <a:solidFill>
                        <a:srgbClr val="DCDEE9"/>
                      </a:solidFill>
                      <a:prstDash val="solid"/>
                    </a:lnB>
                    <a:solidFill>
                      <a:srgbClr val="F4F4F8"/>
                    </a:solidFill>
                  </a:tcPr>
                </a:tc>
              </a:tr>
              <a:tr h="512064">
                <a:tc>
                  <a:txBody>
                    <a:bodyPr wrap="square"/>
                    <a:lstStyle/>
                    <a:p>
                      <a:pPr algn="l">
                        <a:lnSpc>
                          <a:spcPts val="2170"/>
                        </a:lnSpc>
                      </a:pPr>
                      <a:r>
                        <a:rPr lang="vi-VN" altLang="en-US" sz="1400" b="0" dirty="0">
                          <a:solidFill>
                            <a:srgbClr val="080808"/>
                          </a:solidFill>
                          <a:latin typeface="Meiryo UI"/>
                          <a:ea typeface="Meiryo UI"/>
                        </a:rPr>
                        <a:t>Tái dùng</a:t>
                      </a:r>
                      <a:endParaRPr lang="en-US" sz="1400" dirty="0"/>
                    </a:p>
                  </a:txBody>
                  <a:tcPr marL="146304" marR="146304" marT="109728" marB="109728" anchor="ctr">
                    <a:lnL w="9525" cap="flat" cmpd="sng" algn="ctr">
                      <a:solidFill>
                        <a:srgbClr val="DCDEE9"/>
                      </a:solidFill>
                      <a:prstDash val="solid"/>
                    </a:lnL>
                    <a:lnR w="9525" cap="flat" cmpd="sng" algn="ctr">
                      <a:solidFill>
                        <a:srgbClr val="DCDEE9"/>
                      </a:solidFill>
                      <a:prstDash val="solid"/>
                    </a:lnR>
                    <a:lnT w="9525" cap="flat" cmpd="sng" algn="ctr">
                      <a:solidFill>
                        <a:srgbClr val="DCDEE9"/>
                      </a:solidFill>
                      <a:prstDash val="solid"/>
                    </a:lnT>
                    <a:lnB w="9525" cap="flat" cmpd="sng" algn="ctr">
                      <a:solidFill>
                        <a:srgbClr val="DCDEE9"/>
                      </a:solidFill>
                      <a:prstDash val="solid"/>
                    </a:lnB>
                    <a:solidFill>
                      <a:srgbClr val="FFFFFF"/>
                    </a:solidFill>
                  </a:tcPr>
                </a:tc>
                <a:tc>
                  <a:txBody>
                    <a:bodyPr wrap="square"/>
                    <a:lstStyle/>
                    <a:p>
                      <a:pPr algn="l">
                        <a:lnSpc>
                          <a:spcPts val="2170"/>
                        </a:lnSpc>
                      </a:pPr>
                      <a:r>
                        <a:rPr lang="ja-JP" altLang="en-US" sz="1400" b="0" dirty="0">
                          <a:solidFill>
                            <a:srgbClr val="080808"/>
                          </a:solidFill>
                          <a:latin typeface="Meiryo UI"/>
                          <a:ea typeface="Meiryo UI"/>
                        </a:rPr>
                        <a:t>木 → 林, 森</a:t>
                      </a:r>
                      <a:endParaRPr lang="en-US" sz="1400" dirty="0"/>
                    </a:p>
                  </a:txBody>
                  <a:tcPr marL="146304" marR="146304" marT="109728" marB="109728" anchor="ctr">
                    <a:lnL w="9525" cap="flat" cmpd="sng" algn="ctr">
                      <a:solidFill>
                        <a:srgbClr val="DCDEE9"/>
                      </a:solidFill>
                      <a:prstDash val="solid"/>
                    </a:lnL>
                    <a:lnR w="9525" cap="flat" cmpd="sng" algn="ctr">
                      <a:solidFill>
                        <a:srgbClr val="DCDEE9"/>
                      </a:solidFill>
                      <a:prstDash val="solid"/>
                    </a:lnR>
                    <a:lnT w="9525" cap="flat" cmpd="sng" algn="ctr">
                      <a:solidFill>
                        <a:srgbClr val="DCDEE9"/>
                      </a:solidFill>
                      <a:prstDash val="solid"/>
                    </a:lnT>
                    <a:lnB w="9525" cap="flat" cmpd="sng" algn="ctr">
                      <a:solidFill>
                        <a:srgbClr val="DCDEE9"/>
                      </a:solidFill>
                      <a:prstDash val="solid"/>
                    </a:lnB>
                    <a:solidFill>
                      <a:srgbClr val="FFFFFF"/>
                    </a:solidFill>
                  </a:tcPr>
                </a:tc>
              </a:tr>
              <a:tr h="512064">
                <a:tc>
                  <a:txBody>
                    <a:bodyPr wrap="square"/>
                    <a:lstStyle/>
                    <a:p>
                      <a:pPr algn="l">
                        <a:lnSpc>
                          <a:spcPts val="2170"/>
                        </a:lnSpc>
                      </a:pPr>
                      <a:r>
                        <a:rPr lang="vi-VN" altLang="en-US" sz="1400" b="0" dirty="0">
                          <a:solidFill>
                            <a:srgbClr val="080808"/>
                          </a:solidFill>
                          <a:latin typeface="Meiryo UI"/>
                          <a:ea typeface="Meiryo UI"/>
                        </a:rPr>
                        <a:t>Hành động</a:t>
                      </a:r>
                      <a:endParaRPr lang="en-US" sz="1400" dirty="0"/>
                    </a:p>
                  </a:txBody>
                  <a:tcPr marL="146304" marR="146304" marT="109728" marB="109728" anchor="ctr">
                    <a:lnL w="9525" cap="flat" cmpd="sng" algn="ctr">
                      <a:solidFill>
                        <a:srgbClr val="DCDEE9"/>
                      </a:solidFill>
                      <a:prstDash val="solid"/>
                    </a:lnL>
                    <a:lnR w="9525" cap="flat" cmpd="sng" algn="ctr">
                      <a:solidFill>
                        <a:srgbClr val="DCDEE9"/>
                      </a:solidFill>
                      <a:prstDash val="solid"/>
                    </a:lnR>
                    <a:lnT w="9525" cap="flat" cmpd="sng" algn="ctr">
                      <a:solidFill>
                        <a:srgbClr val="DCDEE9"/>
                      </a:solidFill>
                      <a:prstDash val="solid"/>
                    </a:lnT>
                    <a:lnB w="9525" cap="flat" cmpd="sng" algn="ctr">
                      <a:solidFill>
                        <a:srgbClr val="DCDEE9"/>
                      </a:solidFill>
                      <a:prstDash val="solid"/>
                    </a:lnB>
                    <a:solidFill>
                      <a:srgbClr val="F4F4F8"/>
                    </a:solidFill>
                  </a:tcPr>
                </a:tc>
                <a:tc>
                  <a:txBody>
                    <a:bodyPr wrap="square"/>
                    <a:lstStyle/>
                    <a:p>
                      <a:pPr algn="l">
                        <a:lnSpc>
                          <a:spcPts val="2170"/>
                        </a:lnSpc>
                      </a:pPr>
                      <a:r>
                        <a:rPr lang="vi-VN" altLang="en-US" sz="1400" b="0" dirty="0">
                          <a:solidFill>
                            <a:srgbClr val="080808"/>
                          </a:solidFill>
                          <a:latin typeface="Meiryo UI"/>
                          <a:ea typeface="Meiryo UI"/>
                        </a:rPr>
                        <a:t>Chọn, kéo, đặt</a:t>
                      </a:r>
                      <a:endParaRPr lang="en-US" sz="1400" dirty="0"/>
                    </a:p>
                  </a:txBody>
                  <a:tcPr marL="146304" marR="146304" marT="109728" marB="109728" anchor="ctr">
                    <a:lnL w="9525" cap="flat" cmpd="sng" algn="ctr">
                      <a:solidFill>
                        <a:srgbClr val="DCDEE9"/>
                      </a:solidFill>
                      <a:prstDash val="solid"/>
                    </a:lnL>
                    <a:lnR w="9525" cap="flat" cmpd="sng" algn="ctr">
                      <a:solidFill>
                        <a:srgbClr val="DCDEE9"/>
                      </a:solidFill>
                      <a:prstDash val="solid"/>
                    </a:lnR>
                    <a:lnT w="9525" cap="flat" cmpd="sng" algn="ctr">
                      <a:solidFill>
                        <a:srgbClr val="DCDEE9"/>
                      </a:solidFill>
                      <a:prstDash val="solid"/>
                    </a:lnT>
                    <a:lnB w="9525" cap="flat" cmpd="sng" algn="ctr">
                      <a:solidFill>
                        <a:srgbClr val="DCDEE9"/>
                      </a:solidFill>
                      <a:prstDash val="solid"/>
                    </a:lnB>
                    <a:solidFill>
                      <a:srgbClr val="F4F4F8"/>
                    </a:solidFill>
                  </a:tcPr>
                </a:tc>
              </a:tr>
              <a:tr h="512064">
                <a:tc>
                  <a:txBody>
                    <a:bodyPr wrap="square"/>
                    <a:lstStyle/>
                    <a:p>
                      <a:pPr algn="l">
                        <a:lnSpc>
                          <a:spcPts val="2170"/>
                        </a:lnSpc>
                      </a:pPr>
                      <a:r>
                        <a:rPr lang="vi-VN" altLang="en-US" sz="1400" b="0" dirty="0">
                          <a:solidFill>
                            <a:srgbClr val="080808"/>
                          </a:solidFill>
                          <a:latin typeface="Meiryo UI"/>
                          <a:ea typeface="Meiryo UI"/>
                        </a:rPr>
                        <a:t>Ví dụ</a:t>
                      </a:r>
                      <a:endParaRPr lang="en-US" sz="1400" dirty="0"/>
                    </a:p>
                  </a:txBody>
                  <a:tcPr marL="146304" marR="146304" marT="109728" marB="109728" anchor="ctr">
                    <a:lnL w="9525" cap="flat" cmpd="sng" algn="ctr">
                      <a:solidFill>
                        <a:srgbClr val="DCDEE9"/>
                      </a:solidFill>
                      <a:prstDash val="solid"/>
                    </a:lnL>
                    <a:lnR w="9525" cap="flat" cmpd="sng" algn="ctr">
                      <a:solidFill>
                        <a:srgbClr val="DCDEE9"/>
                      </a:solidFill>
                      <a:prstDash val="solid"/>
                    </a:lnR>
                    <a:lnT w="9525" cap="flat" cmpd="sng" algn="ctr">
                      <a:solidFill>
                        <a:srgbClr val="DCDEE9"/>
                      </a:solidFill>
                      <a:prstDash val="solid"/>
                    </a:lnT>
                    <a:lnB w="9525" cap="flat" cmpd="sng" algn="ctr">
                      <a:solidFill>
                        <a:srgbClr val="DCDEE9"/>
                      </a:solidFill>
                      <a:prstDash val="solid"/>
                    </a:lnB>
                    <a:solidFill>
                      <a:srgbClr val="FFFFFF"/>
                    </a:solidFill>
                  </a:tcPr>
                </a:tc>
                <a:tc>
                  <a:txBody>
                    <a:bodyPr wrap="square"/>
                    <a:lstStyle/>
                    <a:p>
                      <a:pPr algn="l">
                        <a:lnSpc>
                          <a:spcPts val="2170"/>
                        </a:lnSpc>
                      </a:pPr>
                      <a:r>
                        <a:rPr lang="ja-JP" altLang="en-US" sz="1400" b="0" dirty="0">
                          <a:solidFill>
                            <a:srgbClr val="080808"/>
                          </a:solidFill>
                          <a:latin typeface="Meiryo UI"/>
                          <a:ea typeface="Meiryo UI"/>
                        </a:rPr>
                        <a:t>亻 + 木 = 休</a:t>
                      </a:r>
                      <a:endParaRPr lang="en-US" sz="1400" dirty="0"/>
                    </a:p>
                  </a:txBody>
                  <a:tcPr marL="146304" marR="146304" marT="109728" marB="109728" anchor="ctr">
                    <a:lnL w="9525" cap="flat" cmpd="sng" algn="ctr">
                      <a:solidFill>
                        <a:srgbClr val="DCDEE9"/>
                      </a:solidFill>
                      <a:prstDash val="solid"/>
                    </a:lnL>
                    <a:lnR w="9525" cap="flat" cmpd="sng" algn="ctr">
                      <a:solidFill>
                        <a:srgbClr val="DCDEE9"/>
                      </a:solidFill>
                      <a:prstDash val="solid"/>
                    </a:lnR>
                    <a:lnT w="9525" cap="flat" cmpd="sng" algn="ctr">
                      <a:solidFill>
                        <a:srgbClr val="DCDEE9"/>
                      </a:solidFill>
                      <a:prstDash val="solid"/>
                    </a:lnT>
                    <a:lnB w="9525" cap="flat" cmpd="sng" algn="ctr">
                      <a:solidFill>
                        <a:srgbClr val="DCDEE9"/>
                      </a:solidFill>
                      <a:prstDash val="solid"/>
                    </a:lnB>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c:title:1"/>
          <p:cNvSpPr>
            <a:spLocks noGrp="1"/>
          </p:cNvSpPr>
          <p:nvPr>
            <p:ph type="title"/>
          </p:nvPr>
        </p:nvSpPr>
        <p:spPr/>
        <p:txBody>
          <a:bodyPr>
            <a:noAutofit/>
          </a:bodyPr>
          <a:lstStyle/>
          <a:p>
            <a:pPr>
              <a:lnSpc>
                <a:spcPts val="3360"/>
              </a:lnSpc>
            </a:pPr>
            <a:r>
              <a:rPr lang="vi-VN" altLang="en-US" sz="2800" dirty="0">
                <a:ea typeface="Meiryo UI"/>
              </a:rPr>
              <a:t>Mỗi lần ghép là giả thuyết</a:t>
            </a:r>
          </a:p>
        </p:txBody>
      </p:sp>
      <p:sp>
        <p:nvSpPr>
          <p:cNvPr id="3" name="Slide Number Placeholder 3">
            <a:extLst>
              <a:ext uri="{FF2B5EF4-FFF2-40B4-BE49-F238E27FC236}">
                <a16:creationId xmlns:a16="http://schemas.microsoft.com/office/drawing/2014/main" id="{13BB62CA-CBF7-31AD-BAA2-F360326FF91D}"/>
              </a:ext>
            </a:extLst>
          </p:cNvPr>
          <p:cNvSpPr>
            <a:spLocks noGrp="1"/>
          </p:cNvSpPr>
          <p:nvPr>
            <p:ph type="sldNum" sz="quarter" idx="12"/>
          </p:nvPr>
        </p:nvSpPr>
        <p:spPr>
          <a:xfrm>
            <a:off x="10330249" y="6415503"/>
            <a:ext cx="1577824" cy="251969"/>
          </a:xfrm>
          <a:prstGeom prst="rect">
            <a:avLst/>
          </a:prstGeom>
        </p:spPr>
        <p:txBody>
          <a:bodyPr/>
          <a:lstStyle>
            <a:lvl1pPr algn="r">
              <a:defRPr sz="1050">
                <a:solidFill>
                  <a:schemeClr val="accent6">
                    <a:lumMod val="60000"/>
                    <a:lumOff val="40000"/>
                  </a:schemeClr>
                </a:solidFill>
              </a:defRPr>
            </a:lvl1pPr>
          </a:lstStyle>
          <a:p>
            <a:r>
              <a:rPr lang="en-US" u="sng" dirty="0" err="1">
                <a:hlinkClick r:id="rId2">
                  <a:extLst>
                    <a:ext uri="{A12FA001-AC4F-418D-AE19-62706E023703}">
                      <ahyp:hlinkClr xmlns:ahyp="http://schemas.microsoft.com/office/drawing/2018/hyperlinkcolor" val="tx"/>
                    </a:ext>
                  </a:extLst>
                </a:hlinkClick>
              </a:rPr>
              <a:t>fptsoftware.com</a:t>
            </a:r>
            <a:r>
              <a:rPr lang="en-US" dirty="0">
                <a:hlinkClick r:id="rId2">
                  <a:extLst>
                    <a:ext uri="{A12FA001-AC4F-418D-AE19-62706E023703}">
                      <ahyp:hlinkClr xmlns:ahyp="http://schemas.microsoft.com/office/drawing/2018/hyperlinkcolor" val="tx"/>
                    </a:ext>
                  </a:extLst>
                </a:hlinkClick>
              </a:rPr>
              <a:t> </a:t>
            </a:r>
            <a:r>
              <a:rPr lang="en-US" dirty="0"/>
              <a:t>| </a:t>
            </a:r>
            <a:fld id="{E012F146-47F9-A646-B182-8CC39B8AD32B}" type="slidenum">
              <a:rPr lang="x-none" smtClean="0"/>
              <a:pPr/>
              <a:t>3</a:t>
            </a:fld>
            <a:endParaRPr lang="x-none"/>
          </a:p>
        </p:txBody>
      </p:sp>
      <p:sp>
        <p:nvSpPr>
          <p:cNvPr id="4" name="sc:li:1"/>
          <p:cNvSpPr txBox="1"/>
          <p:nvPr/>
        </p:nvSpPr>
        <p:spPr>
          <a:xfrm>
            <a:off x="512064" y="1280160"/>
            <a:ext cx="11155680" cy="1306195"/>
          </a:xfrm>
          <a:prstGeom prst="rect">
            <a:avLst/>
          </a:prstGeom>
          <a:noFill/>
          <a:ln>
            <a:noFill/>
          </a:ln>
        </p:spPr>
        <p:txBody>
          <a:bodyPr wrap="square" lIns="0" tIns="0" rIns="0" bIns="0" anchor="t" rtlCol="0">
            <a:noAutofit/>
          </a:bodyPr>
          <a:lstStyle/>
          <a:p>
            <a:pPr marL="177800" indent="-177800" algn="l">
              <a:lnSpc>
                <a:spcPts val="2465"/>
              </a:lnSpc>
              <a:spcBef>
                <a:spcPts val="0"/>
              </a:spcBef>
              <a:spcAft>
                <a:spcPts val="0"/>
              </a:spcAft>
              <a:buFont typeface="Arial"/>
              <a:buChar char="•"/>
            </a:pPr>
            <a:r>
              <a:rPr lang="vi-VN" altLang="en-US" sz="1700" b="0" dirty="0">
                <a:solidFill>
                  <a:srgbClr val="080808"/>
                </a:solidFill>
                <a:latin typeface="Meiryo UI"/>
                <a:ea typeface="Meiryo UI"/>
              </a:rPr>
              <a:t>Truy hồi chủ động</a:t>
            </a:r>
            <a:endParaRPr lang="en-US" sz="1700" dirty="0"/>
          </a:p>
          <a:p>
            <a:pPr marL="177800" indent="-177800" algn="l">
              <a:lnSpc>
                <a:spcPts val="2465"/>
              </a:lnSpc>
              <a:spcBef>
                <a:spcPts val="1445"/>
              </a:spcBef>
              <a:spcAft>
                <a:spcPts val="0"/>
              </a:spcAft>
              <a:buFont typeface="Arial"/>
              <a:buChar char="•"/>
            </a:pPr>
            <a:r>
              <a:rPr lang="vi-VN" altLang="en-US" sz="1700" b="0" dirty="0">
                <a:solidFill>
                  <a:srgbClr val="080808"/>
                </a:solidFill>
                <a:latin typeface="Meiryo UI"/>
                <a:ea typeface="Meiryo UI"/>
              </a:rPr>
              <a:t>Khó hơn nhận diện</a:t>
            </a:r>
            <a:endParaRPr lang="en-US" sz="1700" dirty="0"/>
          </a:p>
          <a:p>
            <a:pPr marL="177800" indent="-177800" algn="l">
              <a:lnSpc>
                <a:spcPts val="2465"/>
              </a:lnSpc>
              <a:spcBef>
                <a:spcPts val="1445"/>
              </a:spcBef>
              <a:spcAft>
                <a:spcPts val="0"/>
              </a:spcAft>
              <a:buFont typeface="Arial"/>
              <a:buChar char="•"/>
            </a:pPr>
            <a:r>
              <a:rPr lang="vi-VN" altLang="en-US" sz="1700" b="0" dirty="0">
                <a:solidFill>
                  <a:srgbClr val="080808"/>
                </a:solidFill>
                <a:latin typeface="Meiryo UI"/>
                <a:ea typeface="Meiryo UI"/>
              </a:rPr>
              <a:t>Gợi ý cụ thể</a:t>
            </a:r>
            <a:endParaRPr lang="en-US" sz="1700" dirty="0"/>
          </a:p>
        </p:txBody>
      </p:sp>
      <p:graphicFrame>
        <p:nvGraphicFramePr>
          <p:cNvPr id="5" name="sc:table:1"/>
          <p:cNvGraphicFramePr>
            <a:graphicFrameLocks noGrp="1"/>
          </p:cNvGraphicFramePr>
          <p:nvPr/>
        </p:nvGraphicFramePr>
        <p:xfrm>
          <a:off x="512064" y="2743200"/>
          <a:ext cx="11155680" cy="3072384"/>
        </p:xfrm>
        <a:graphic>
          <a:graphicData uri="http://schemas.openxmlformats.org/drawingml/2006/table">
            <a:tbl>
              <a:tblPr firstRow="1" bandRow="0"/>
              <a:tblGrid>
                <a:gridCol w="4608576"/>
                <a:gridCol w="6547104"/>
              </a:tblGrid>
              <a:tr h="512064">
                <a:tc>
                  <a:txBody>
                    <a:bodyPr wrap="square"/>
                    <a:lstStyle/>
                    <a:p>
                      <a:pPr algn="l">
                        <a:lnSpc>
                          <a:spcPts val="2170"/>
                        </a:lnSpc>
                      </a:pPr>
                      <a:r>
                        <a:rPr lang="vi-VN" altLang="en-US" sz="1400" b="1" dirty="0">
                          <a:solidFill>
                            <a:srgbClr val="FFFFFF"/>
                          </a:solidFill>
                          <a:latin typeface="Meiryo UI"/>
                          <a:ea typeface="Meiryo UI"/>
                        </a:rPr>
                        <a:t>Nguyên lý</a:t>
                      </a:r>
                      <a:endParaRPr lang="en-US" sz="1400" dirty="0"/>
                    </a:p>
                  </a:txBody>
                  <a:tcPr marL="146304" marR="146304" marT="109728" marB="109728" anchor="ctr">
                    <a:lnL w="9525" cap="flat" cmpd="sng" algn="ctr">
                      <a:solidFill>
                        <a:srgbClr val="DCDEE9"/>
                      </a:solidFill>
                      <a:prstDash val="solid"/>
                    </a:lnL>
                    <a:lnR w="9525" cap="flat" cmpd="sng" algn="ctr">
                      <a:solidFill>
                        <a:srgbClr val="DCDEE9"/>
                      </a:solidFill>
                      <a:prstDash val="solid"/>
                    </a:lnR>
                    <a:lnT w="9525" cap="flat" cmpd="sng" algn="ctr">
                      <a:solidFill>
                        <a:srgbClr val="DCDEE9"/>
                      </a:solidFill>
                      <a:prstDash val="solid"/>
                    </a:lnT>
                    <a:lnB w="9525" cap="flat" cmpd="sng" algn="ctr">
                      <a:solidFill>
                        <a:srgbClr val="DCDEE9"/>
                      </a:solidFill>
                      <a:prstDash val="solid"/>
                    </a:lnB>
                    <a:solidFill>
                      <a:srgbClr val="034EA2"/>
                    </a:solidFill>
                  </a:tcPr>
                </a:tc>
                <a:tc>
                  <a:txBody>
                    <a:bodyPr wrap="square"/>
                    <a:lstStyle/>
                    <a:p>
                      <a:pPr algn="l">
                        <a:lnSpc>
                          <a:spcPts val="2170"/>
                        </a:lnSpc>
                      </a:pPr>
                      <a:r>
                        <a:rPr lang="vi-VN" altLang="en-US" sz="1400" b="1" dirty="0">
                          <a:solidFill>
                            <a:srgbClr val="FFFFFF"/>
                          </a:solidFill>
                          <a:latin typeface="Meiryo UI"/>
                          <a:ea typeface="Meiryo UI"/>
                        </a:rPr>
                        <a:t>Ý nghĩa</a:t>
                      </a:r>
                      <a:endParaRPr lang="en-US" sz="1400" dirty="0"/>
                    </a:p>
                  </a:txBody>
                  <a:tcPr marL="146304" marR="146304" marT="109728" marB="109728" anchor="ctr">
                    <a:lnL w="9525" cap="flat" cmpd="sng" algn="ctr">
                      <a:solidFill>
                        <a:srgbClr val="DCDEE9"/>
                      </a:solidFill>
                      <a:prstDash val="solid"/>
                    </a:lnL>
                    <a:lnR w="9525" cap="flat" cmpd="sng" algn="ctr">
                      <a:solidFill>
                        <a:srgbClr val="DCDEE9"/>
                      </a:solidFill>
                      <a:prstDash val="solid"/>
                    </a:lnR>
                    <a:lnT w="9525" cap="flat" cmpd="sng" algn="ctr">
                      <a:solidFill>
                        <a:srgbClr val="DCDEE9"/>
                      </a:solidFill>
                      <a:prstDash val="solid"/>
                    </a:lnT>
                    <a:lnB w="9525" cap="flat" cmpd="sng" algn="ctr">
                      <a:solidFill>
                        <a:srgbClr val="DCDEE9"/>
                      </a:solidFill>
                      <a:prstDash val="solid"/>
                    </a:lnB>
                    <a:solidFill>
                      <a:srgbClr val="034EA2"/>
                    </a:solidFill>
                  </a:tcPr>
                </a:tc>
              </a:tr>
              <a:tr h="512064">
                <a:tc>
                  <a:txBody>
                    <a:bodyPr wrap="square"/>
                    <a:lstStyle/>
                    <a:p>
                      <a:pPr algn="l">
                        <a:lnSpc>
                          <a:spcPts val="2170"/>
                        </a:lnSpc>
                      </a:pPr>
                      <a:r>
                        <a:rPr lang="vi-VN" altLang="en-US" sz="1400" b="0" dirty="0">
                          <a:solidFill>
                            <a:srgbClr val="080808"/>
                          </a:solidFill>
                          <a:latin typeface="Meiryo UI"/>
                          <a:ea typeface="Meiryo UI"/>
                        </a:rPr>
                        <a:t>Chunking</a:t>
                      </a:r>
                      <a:endParaRPr lang="en-US" sz="1400" dirty="0"/>
                    </a:p>
                  </a:txBody>
                  <a:tcPr marL="146304" marR="146304" marT="109728" marB="109728" anchor="ctr">
                    <a:lnL w="9525" cap="flat" cmpd="sng" algn="ctr">
                      <a:solidFill>
                        <a:srgbClr val="DCDEE9"/>
                      </a:solidFill>
                      <a:prstDash val="solid"/>
                    </a:lnL>
                    <a:lnR w="9525" cap="flat" cmpd="sng" algn="ctr">
                      <a:solidFill>
                        <a:srgbClr val="DCDEE9"/>
                      </a:solidFill>
                      <a:prstDash val="solid"/>
                    </a:lnR>
                    <a:lnT w="9525" cap="flat" cmpd="sng" algn="ctr">
                      <a:solidFill>
                        <a:srgbClr val="DCDEE9"/>
                      </a:solidFill>
                      <a:prstDash val="solid"/>
                    </a:lnT>
                    <a:lnB w="9525" cap="flat" cmpd="sng" algn="ctr">
                      <a:solidFill>
                        <a:srgbClr val="DCDEE9"/>
                      </a:solidFill>
                      <a:prstDash val="solid"/>
                    </a:lnB>
                    <a:solidFill>
                      <a:srgbClr val="FFFFFF"/>
                    </a:solidFill>
                  </a:tcPr>
                </a:tc>
                <a:tc>
                  <a:txBody>
                    <a:bodyPr wrap="square"/>
                    <a:lstStyle/>
                    <a:p>
                      <a:pPr algn="l">
                        <a:lnSpc>
                          <a:spcPts val="2170"/>
                        </a:lnSpc>
                      </a:pPr>
                      <a:r>
                        <a:rPr lang="vi-VN" altLang="en-US" sz="1400" b="0" dirty="0">
                          <a:solidFill>
                            <a:srgbClr val="080808"/>
                          </a:solidFill>
                          <a:latin typeface="Meiryo UI"/>
                          <a:ea typeface="Meiryo UI"/>
                        </a:rPr>
                        <a:t>Gom nét</a:t>
                      </a:r>
                      <a:endParaRPr lang="en-US" sz="1400" dirty="0"/>
                    </a:p>
                  </a:txBody>
                  <a:tcPr marL="146304" marR="146304" marT="109728" marB="109728" anchor="ctr">
                    <a:lnL w="9525" cap="flat" cmpd="sng" algn="ctr">
                      <a:solidFill>
                        <a:srgbClr val="DCDEE9"/>
                      </a:solidFill>
                      <a:prstDash val="solid"/>
                    </a:lnL>
                    <a:lnR w="9525" cap="flat" cmpd="sng" algn="ctr">
                      <a:solidFill>
                        <a:srgbClr val="DCDEE9"/>
                      </a:solidFill>
                      <a:prstDash val="solid"/>
                    </a:lnR>
                    <a:lnT w="9525" cap="flat" cmpd="sng" algn="ctr">
                      <a:solidFill>
                        <a:srgbClr val="DCDEE9"/>
                      </a:solidFill>
                      <a:prstDash val="solid"/>
                    </a:lnT>
                    <a:lnB w="9525" cap="flat" cmpd="sng" algn="ctr">
                      <a:solidFill>
                        <a:srgbClr val="DCDEE9"/>
                      </a:solidFill>
                      <a:prstDash val="solid"/>
                    </a:lnB>
                    <a:solidFill>
                      <a:srgbClr val="FFFFFF"/>
                    </a:solidFill>
                  </a:tcPr>
                </a:tc>
              </a:tr>
              <a:tr h="512064">
                <a:tc>
                  <a:txBody>
                    <a:bodyPr wrap="square"/>
                    <a:lstStyle/>
                    <a:p>
                      <a:pPr algn="l">
                        <a:lnSpc>
                          <a:spcPts val="2170"/>
                        </a:lnSpc>
                      </a:pPr>
                      <a:r>
                        <a:rPr lang="vi-VN" altLang="en-US" sz="1400" b="0" dirty="0">
                          <a:solidFill>
                            <a:srgbClr val="080808"/>
                          </a:solidFill>
                          <a:latin typeface="Meiryo UI"/>
                          <a:ea typeface="Meiryo UI"/>
                        </a:rPr>
                        <a:t>Generative</a:t>
                      </a:r>
                      <a:endParaRPr lang="en-US" sz="1400" dirty="0"/>
                    </a:p>
                  </a:txBody>
                  <a:tcPr marL="146304" marR="146304" marT="109728" marB="109728" anchor="ctr">
                    <a:lnL w="9525" cap="flat" cmpd="sng" algn="ctr">
                      <a:solidFill>
                        <a:srgbClr val="DCDEE9"/>
                      </a:solidFill>
                      <a:prstDash val="solid"/>
                    </a:lnL>
                    <a:lnR w="9525" cap="flat" cmpd="sng" algn="ctr">
                      <a:solidFill>
                        <a:srgbClr val="DCDEE9"/>
                      </a:solidFill>
                      <a:prstDash val="solid"/>
                    </a:lnR>
                    <a:lnT w="9525" cap="flat" cmpd="sng" algn="ctr">
                      <a:solidFill>
                        <a:srgbClr val="DCDEE9"/>
                      </a:solidFill>
                      <a:prstDash val="solid"/>
                    </a:lnT>
                    <a:lnB w="9525" cap="flat" cmpd="sng" algn="ctr">
                      <a:solidFill>
                        <a:srgbClr val="DCDEE9"/>
                      </a:solidFill>
                      <a:prstDash val="solid"/>
                    </a:lnB>
                    <a:solidFill>
                      <a:srgbClr val="F4F4F8"/>
                    </a:solidFill>
                  </a:tcPr>
                </a:tc>
                <a:tc>
                  <a:txBody>
                    <a:bodyPr wrap="square"/>
                    <a:lstStyle/>
                    <a:p>
                      <a:pPr algn="l">
                        <a:lnSpc>
                          <a:spcPts val="2170"/>
                        </a:lnSpc>
                      </a:pPr>
                      <a:r>
                        <a:rPr lang="vi-VN" altLang="en-US" sz="1400" b="0" dirty="0">
                          <a:solidFill>
                            <a:srgbClr val="080808"/>
                          </a:solidFill>
                          <a:latin typeface="Meiryo UI"/>
                          <a:ea typeface="Meiryo UI"/>
                        </a:rPr>
                        <a:t>Tự tạo đáp án</a:t>
                      </a:r>
                      <a:endParaRPr lang="en-US" sz="1400" dirty="0"/>
                    </a:p>
                  </a:txBody>
                  <a:tcPr marL="146304" marR="146304" marT="109728" marB="109728" anchor="ctr">
                    <a:lnL w="9525" cap="flat" cmpd="sng" algn="ctr">
                      <a:solidFill>
                        <a:srgbClr val="DCDEE9"/>
                      </a:solidFill>
                      <a:prstDash val="solid"/>
                    </a:lnL>
                    <a:lnR w="9525" cap="flat" cmpd="sng" algn="ctr">
                      <a:solidFill>
                        <a:srgbClr val="DCDEE9"/>
                      </a:solidFill>
                      <a:prstDash val="solid"/>
                    </a:lnR>
                    <a:lnT w="9525" cap="flat" cmpd="sng" algn="ctr">
                      <a:solidFill>
                        <a:srgbClr val="DCDEE9"/>
                      </a:solidFill>
                      <a:prstDash val="solid"/>
                    </a:lnT>
                    <a:lnB w="9525" cap="flat" cmpd="sng" algn="ctr">
                      <a:solidFill>
                        <a:srgbClr val="DCDEE9"/>
                      </a:solidFill>
                      <a:prstDash val="solid"/>
                    </a:lnB>
                    <a:solidFill>
                      <a:srgbClr val="F4F4F8"/>
                    </a:solidFill>
                  </a:tcPr>
                </a:tc>
              </a:tr>
              <a:tr h="512064">
                <a:tc>
                  <a:txBody>
                    <a:bodyPr wrap="square"/>
                    <a:lstStyle/>
                    <a:p>
                      <a:pPr algn="l">
                        <a:lnSpc>
                          <a:spcPts val="2170"/>
                        </a:lnSpc>
                      </a:pPr>
                      <a:r>
                        <a:rPr lang="vi-VN" altLang="en-US" sz="1400" b="0" dirty="0">
                          <a:solidFill>
                            <a:srgbClr val="080808"/>
                          </a:solidFill>
                          <a:latin typeface="Meiryo UI"/>
                          <a:ea typeface="Meiryo UI"/>
                        </a:rPr>
                        <a:t>Chẩn đoán</a:t>
                      </a:r>
                      <a:endParaRPr lang="en-US" sz="1400" dirty="0"/>
                    </a:p>
                  </a:txBody>
                  <a:tcPr marL="146304" marR="146304" marT="109728" marB="109728" anchor="ctr">
                    <a:lnL w="9525" cap="flat" cmpd="sng" algn="ctr">
                      <a:solidFill>
                        <a:srgbClr val="DCDEE9"/>
                      </a:solidFill>
                      <a:prstDash val="solid"/>
                    </a:lnL>
                    <a:lnR w="9525" cap="flat" cmpd="sng" algn="ctr">
                      <a:solidFill>
                        <a:srgbClr val="DCDEE9"/>
                      </a:solidFill>
                      <a:prstDash val="solid"/>
                    </a:lnR>
                    <a:lnT w="9525" cap="flat" cmpd="sng" algn="ctr">
                      <a:solidFill>
                        <a:srgbClr val="DCDEE9"/>
                      </a:solidFill>
                      <a:prstDash val="solid"/>
                    </a:lnT>
                    <a:lnB w="9525" cap="flat" cmpd="sng" algn="ctr">
                      <a:solidFill>
                        <a:srgbClr val="DCDEE9"/>
                      </a:solidFill>
                      <a:prstDash val="solid"/>
                    </a:lnB>
                    <a:solidFill>
                      <a:srgbClr val="FFFFFF"/>
                    </a:solidFill>
                  </a:tcPr>
                </a:tc>
                <a:tc>
                  <a:txBody>
                    <a:bodyPr wrap="square"/>
                    <a:lstStyle/>
                    <a:p>
                      <a:pPr algn="l">
                        <a:lnSpc>
                          <a:spcPts val="2170"/>
                        </a:lnSpc>
                      </a:pPr>
                      <a:r>
                        <a:rPr lang="vi-VN" altLang="en-US" sz="1400" b="0" dirty="0">
                          <a:solidFill>
                            <a:srgbClr val="080808"/>
                          </a:solidFill>
                          <a:latin typeface="Meiryo UI"/>
                          <a:ea typeface="Meiryo UI"/>
                        </a:rPr>
                        <a:t>Chỉ vị trí</a:t>
                      </a:r>
                      <a:endParaRPr lang="en-US" sz="1400" dirty="0"/>
                    </a:p>
                  </a:txBody>
                  <a:tcPr marL="146304" marR="146304" marT="109728" marB="109728" anchor="ctr">
                    <a:lnL w="9525" cap="flat" cmpd="sng" algn="ctr">
                      <a:solidFill>
                        <a:srgbClr val="DCDEE9"/>
                      </a:solidFill>
                      <a:prstDash val="solid"/>
                    </a:lnL>
                    <a:lnR w="9525" cap="flat" cmpd="sng" algn="ctr">
                      <a:solidFill>
                        <a:srgbClr val="DCDEE9"/>
                      </a:solidFill>
                      <a:prstDash val="solid"/>
                    </a:lnR>
                    <a:lnT w="9525" cap="flat" cmpd="sng" algn="ctr">
                      <a:solidFill>
                        <a:srgbClr val="DCDEE9"/>
                      </a:solidFill>
                      <a:prstDash val="solid"/>
                    </a:lnT>
                    <a:lnB w="9525" cap="flat" cmpd="sng" algn="ctr">
                      <a:solidFill>
                        <a:srgbClr val="DCDEE9"/>
                      </a:solidFill>
                      <a:prstDash val="solid"/>
                    </a:lnB>
                    <a:solidFill>
                      <a:srgbClr val="FFFFFF"/>
                    </a:solidFill>
                  </a:tcPr>
                </a:tc>
              </a:tr>
              <a:tr h="512064">
                <a:tc>
                  <a:txBody>
                    <a:bodyPr wrap="square"/>
                    <a:lstStyle/>
                    <a:p>
                      <a:pPr algn="l">
                        <a:lnSpc>
                          <a:spcPts val="2170"/>
                        </a:lnSpc>
                      </a:pPr>
                      <a:r>
                        <a:rPr lang="vi-VN" altLang="en-US" sz="1400" b="0" dirty="0">
                          <a:solidFill>
                            <a:srgbClr val="080808"/>
                          </a:solidFill>
                          <a:latin typeface="Meiryo UI"/>
                          <a:ea typeface="Meiryo UI"/>
                        </a:rPr>
                        <a:t>Transfer</a:t>
                      </a:r>
                      <a:endParaRPr lang="en-US" sz="1400" dirty="0"/>
                    </a:p>
                  </a:txBody>
                  <a:tcPr marL="146304" marR="146304" marT="109728" marB="109728" anchor="ctr">
                    <a:lnL w="9525" cap="flat" cmpd="sng" algn="ctr">
                      <a:solidFill>
                        <a:srgbClr val="DCDEE9"/>
                      </a:solidFill>
                      <a:prstDash val="solid"/>
                    </a:lnL>
                    <a:lnR w="9525" cap="flat" cmpd="sng" algn="ctr">
                      <a:solidFill>
                        <a:srgbClr val="DCDEE9"/>
                      </a:solidFill>
                      <a:prstDash val="solid"/>
                    </a:lnR>
                    <a:lnT w="9525" cap="flat" cmpd="sng" algn="ctr">
                      <a:solidFill>
                        <a:srgbClr val="DCDEE9"/>
                      </a:solidFill>
                      <a:prstDash val="solid"/>
                    </a:lnT>
                    <a:lnB w="9525" cap="flat" cmpd="sng" algn="ctr">
                      <a:solidFill>
                        <a:srgbClr val="DCDEE9"/>
                      </a:solidFill>
                      <a:prstDash val="solid"/>
                    </a:lnB>
                    <a:solidFill>
                      <a:srgbClr val="F4F4F8"/>
                    </a:solidFill>
                  </a:tcPr>
                </a:tc>
                <a:tc>
                  <a:txBody>
                    <a:bodyPr wrap="square"/>
                    <a:lstStyle/>
                    <a:p>
                      <a:pPr algn="l">
                        <a:lnSpc>
                          <a:spcPts val="2170"/>
                        </a:lnSpc>
                      </a:pPr>
                      <a:r>
                        <a:rPr lang="vi-VN" altLang="en-US" sz="1400" b="0" dirty="0">
                          <a:solidFill>
                            <a:srgbClr val="080808"/>
                          </a:solidFill>
                          <a:latin typeface="Meiryo UI"/>
                          <a:ea typeface="Meiryo UI"/>
                        </a:rPr>
                        <a:t>Mảnh nào ở đâu</a:t>
                      </a:r>
                      <a:endParaRPr lang="en-US" sz="1400" dirty="0"/>
                    </a:p>
                  </a:txBody>
                  <a:tcPr marL="146304" marR="146304" marT="109728" marB="109728" anchor="ctr">
                    <a:lnL w="9525" cap="flat" cmpd="sng" algn="ctr">
                      <a:solidFill>
                        <a:srgbClr val="DCDEE9"/>
                      </a:solidFill>
                      <a:prstDash val="solid"/>
                    </a:lnL>
                    <a:lnR w="9525" cap="flat" cmpd="sng" algn="ctr">
                      <a:solidFill>
                        <a:srgbClr val="DCDEE9"/>
                      </a:solidFill>
                      <a:prstDash val="solid"/>
                    </a:lnR>
                    <a:lnT w="9525" cap="flat" cmpd="sng" algn="ctr">
                      <a:solidFill>
                        <a:srgbClr val="DCDEE9"/>
                      </a:solidFill>
                      <a:prstDash val="solid"/>
                    </a:lnT>
                    <a:lnB w="9525" cap="flat" cmpd="sng" algn="ctr">
                      <a:solidFill>
                        <a:srgbClr val="DCDEE9"/>
                      </a:solidFill>
                      <a:prstDash val="solid"/>
                    </a:lnB>
                    <a:solidFill>
                      <a:srgbClr val="F4F4F8"/>
                    </a:solidFill>
                  </a:tcPr>
                </a:tc>
              </a:tr>
              <a:tr h="512064">
                <a:tc>
                  <a:txBody>
                    <a:bodyPr wrap="square"/>
                    <a:lstStyle/>
                    <a:p>
                      <a:pPr algn="l">
                        <a:lnSpc>
                          <a:spcPts val="2170"/>
                        </a:lnSpc>
                      </a:pPr>
                      <a:r>
                        <a:rPr lang="vi-VN" altLang="en-US" sz="1400" b="0" dirty="0">
                          <a:solidFill>
                            <a:srgbClr val="080808"/>
                          </a:solidFill>
                          <a:latin typeface="Meiryo UI"/>
                          <a:ea typeface="Meiryo UI"/>
                        </a:rPr>
                        <a:t>Thiết kế</a:t>
                      </a:r>
                      <a:endParaRPr lang="en-US" sz="1400" dirty="0"/>
                    </a:p>
                  </a:txBody>
                  <a:tcPr marL="146304" marR="146304" marT="109728" marB="109728" anchor="ctr">
                    <a:lnL w="9525" cap="flat" cmpd="sng" algn="ctr">
                      <a:solidFill>
                        <a:srgbClr val="DCDEE9"/>
                      </a:solidFill>
                      <a:prstDash val="solid"/>
                    </a:lnL>
                    <a:lnR w="9525" cap="flat" cmpd="sng" algn="ctr">
                      <a:solidFill>
                        <a:srgbClr val="DCDEE9"/>
                      </a:solidFill>
                      <a:prstDash val="solid"/>
                    </a:lnR>
                    <a:lnT w="9525" cap="flat" cmpd="sng" algn="ctr">
                      <a:solidFill>
                        <a:srgbClr val="DCDEE9"/>
                      </a:solidFill>
                      <a:prstDash val="solid"/>
                    </a:lnT>
                    <a:lnB w="9525" cap="flat" cmpd="sng" algn="ctr">
                      <a:solidFill>
                        <a:srgbClr val="DCDEE9"/>
                      </a:solidFill>
                      <a:prstDash val="solid"/>
                    </a:lnB>
                    <a:solidFill>
                      <a:srgbClr val="FFFFFF"/>
                    </a:solidFill>
                  </a:tcPr>
                </a:tc>
                <a:tc>
                  <a:txBody>
                    <a:bodyPr wrap="square"/>
                    <a:lstStyle/>
                    <a:p>
                      <a:pPr algn="l">
                        <a:lnSpc>
                          <a:spcPts val="2170"/>
                        </a:lnSpc>
                      </a:pPr>
                      <a:r>
                        <a:rPr lang="vi-VN" altLang="en-US" sz="1400" b="0" dirty="0">
                          <a:solidFill>
                            <a:srgbClr val="080808"/>
                          </a:solidFill>
                          <a:latin typeface="Meiryo UI"/>
                          <a:ea typeface="Meiryo UI"/>
                        </a:rPr>
                        <a:t>Phân biệt từ điển</a:t>
                      </a:r>
                      <a:endParaRPr lang="en-US" sz="1400" dirty="0"/>
                    </a:p>
                  </a:txBody>
                  <a:tcPr marL="146304" marR="146304" marT="109728" marB="109728" anchor="ctr">
                    <a:lnL w="9525" cap="flat" cmpd="sng" algn="ctr">
                      <a:solidFill>
                        <a:srgbClr val="DCDEE9"/>
                      </a:solidFill>
                      <a:prstDash val="solid"/>
                    </a:lnL>
                    <a:lnR w="9525" cap="flat" cmpd="sng" algn="ctr">
                      <a:solidFill>
                        <a:srgbClr val="DCDEE9"/>
                      </a:solidFill>
                      <a:prstDash val="solid"/>
                    </a:lnR>
                    <a:lnT w="9525" cap="flat" cmpd="sng" algn="ctr">
                      <a:solidFill>
                        <a:srgbClr val="DCDEE9"/>
                      </a:solidFill>
                      <a:prstDash val="solid"/>
                    </a:lnT>
                    <a:lnB w="9525" cap="flat" cmpd="sng" algn="ctr">
                      <a:solidFill>
                        <a:srgbClr val="DCDEE9"/>
                      </a:solidFill>
                      <a:prstDash val="solid"/>
                    </a:lnB>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c:title:1"/>
          <p:cNvSpPr>
            <a:spLocks noGrp="1"/>
          </p:cNvSpPr>
          <p:nvPr>
            <p:ph type="title"/>
          </p:nvPr>
        </p:nvSpPr>
        <p:spPr/>
        <p:txBody>
          <a:bodyPr>
            <a:noAutofit/>
          </a:bodyPr>
          <a:lstStyle/>
          <a:p>
            <a:pPr>
              <a:lnSpc>
                <a:spcPts val="3360"/>
              </a:lnSpc>
            </a:pPr>
            <a:r>
              <a:rPr lang="vi-VN" altLang="en-US" sz="2800" dirty="0">
                <a:ea typeface="Meiryo UI"/>
              </a:rPr>
              <a:t>Âm thanh và chuyển động thành nghi thức</a:t>
            </a:r>
          </a:p>
        </p:txBody>
      </p:sp>
      <p:sp>
        <p:nvSpPr>
          <p:cNvPr id="3" name="Slide Number Placeholder 3">
            <a:extLst>
              <a:ext uri="{FF2B5EF4-FFF2-40B4-BE49-F238E27FC236}">
                <a16:creationId xmlns:a16="http://schemas.microsoft.com/office/drawing/2014/main" id="{13BB62CA-CBF7-31AD-BAA2-F360326FF91D}"/>
              </a:ext>
            </a:extLst>
          </p:cNvPr>
          <p:cNvSpPr>
            <a:spLocks noGrp="1"/>
          </p:cNvSpPr>
          <p:nvPr>
            <p:ph type="sldNum" sz="quarter" idx="12"/>
          </p:nvPr>
        </p:nvSpPr>
        <p:spPr>
          <a:xfrm>
            <a:off x="10330249" y="6415503"/>
            <a:ext cx="1577824" cy="251969"/>
          </a:xfrm>
          <a:prstGeom prst="rect">
            <a:avLst/>
          </a:prstGeom>
        </p:spPr>
        <p:txBody>
          <a:bodyPr/>
          <a:lstStyle>
            <a:lvl1pPr algn="r">
              <a:defRPr sz="1050">
                <a:solidFill>
                  <a:schemeClr val="accent6">
                    <a:lumMod val="60000"/>
                    <a:lumOff val="40000"/>
                  </a:schemeClr>
                </a:solidFill>
              </a:defRPr>
            </a:lvl1pPr>
          </a:lstStyle>
          <a:p>
            <a:r>
              <a:rPr lang="en-US" u="sng" dirty="0" err="1">
                <a:hlinkClick r:id="rId2">
                  <a:extLst>
                    <a:ext uri="{A12FA001-AC4F-418D-AE19-62706E023703}">
                      <ahyp:hlinkClr xmlns:ahyp="http://schemas.microsoft.com/office/drawing/2018/hyperlinkcolor" val="tx"/>
                    </a:ext>
                  </a:extLst>
                </a:hlinkClick>
              </a:rPr>
              <a:t>fptsoftware.com</a:t>
            </a:r>
            <a:r>
              <a:rPr lang="en-US" dirty="0">
                <a:hlinkClick r:id="rId2">
                  <a:extLst>
                    <a:ext uri="{A12FA001-AC4F-418D-AE19-62706E023703}">
                      <ahyp:hlinkClr xmlns:ahyp="http://schemas.microsoft.com/office/drawing/2018/hyperlinkcolor" val="tx"/>
                    </a:ext>
                  </a:extLst>
                </a:hlinkClick>
              </a:rPr>
              <a:t> </a:t>
            </a:r>
            <a:r>
              <a:rPr lang="en-US" dirty="0"/>
              <a:t>| </a:t>
            </a:r>
            <a:fld id="{E012F146-47F9-A646-B182-8CC39B8AD32B}" type="slidenum">
              <a:rPr lang="x-none" smtClean="0"/>
              <a:pPr/>
              <a:t>3</a:t>
            </a:fld>
            <a:endParaRPr lang="x-none"/>
          </a:p>
        </p:txBody>
      </p:sp>
      <p:sp>
        <p:nvSpPr>
          <p:cNvPr id="4" name="sc:li:1"/>
          <p:cNvSpPr txBox="1"/>
          <p:nvPr/>
        </p:nvSpPr>
        <p:spPr>
          <a:xfrm>
            <a:off x="512064" y="1280160"/>
            <a:ext cx="11155680" cy="1306195"/>
          </a:xfrm>
          <a:prstGeom prst="rect">
            <a:avLst/>
          </a:prstGeom>
          <a:noFill/>
          <a:ln>
            <a:noFill/>
          </a:ln>
        </p:spPr>
        <p:txBody>
          <a:bodyPr wrap="square" lIns="0" tIns="0" rIns="0" bIns="0" anchor="t" rtlCol="0">
            <a:noAutofit/>
          </a:bodyPr>
          <a:lstStyle/>
          <a:p>
            <a:pPr marL="177800" indent="-177800" algn="l">
              <a:lnSpc>
                <a:spcPts val="2465"/>
              </a:lnSpc>
              <a:spcBef>
                <a:spcPts val="0"/>
              </a:spcBef>
              <a:spcAft>
                <a:spcPts val="0"/>
              </a:spcAft>
              <a:buFont typeface="Arial"/>
              <a:buChar char="•"/>
            </a:pPr>
            <a:r>
              <a:rPr lang="vi-VN" altLang="en-US" sz="1700" b="0" dirty="0">
                <a:solidFill>
                  <a:srgbClr val="080808"/>
                </a:solidFill>
                <a:latin typeface="Meiryo UI"/>
                <a:ea typeface="Meiryo UI"/>
              </a:rPr>
              <a:t>Mỗi thao tác một âm</a:t>
            </a:r>
            <a:endParaRPr lang="en-US" sz="1700" dirty="0"/>
          </a:p>
          <a:p>
            <a:pPr marL="177800" indent="-177800" algn="l">
              <a:lnSpc>
                <a:spcPts val="2465"/>
              </a:lnSpc>
              <a:spcBef>
                <a:spcPts val="1445"/>
              </a:spcBef>
              <a:spcAft>
                <a:spcPts val="0"/>
              </a:spcAft>
              <a:buFont typeface="Arial"/>
              <a:buChar char="•"/>
            </a:pPr>
            <a:r>
              <a:rPr lang="vi-VN" altLang="en-US" sz="1700" b="0" dirty="0">
                <a:solidFill>
                  <a:srgbClr val="080808"/>
                </a:solidFill>
                <a:latin typeface="Meiryo UI"/>
                <a:ea typeface="Meiryo UI"/>
              </a:rPr>
              <a:t>Chuyển động xác nhận không gian</a:t>
            </a:r>
            <a:endParaRPr lang="en-US" sz="1700" dirty="0"/>
          </a:p>
          <a:p>
            <a:pPr marL="177800" indent="-177800" algn="l">
              <a:lnSpc>
                <a:spcPts val="2465"/>
              </a:lnSpc>
              <a:spcBef>
                <a:spcPts val="1445"/>
              </a:spcBef>
              <a:spcAft>
                <a:spcPts val="0"/>
              </a:spcAft>
              <a:buFont typeface="Arial"/>
              <a:buChar char="•"/>
            </a:pPr>
            <a:r>
              <a:rPr lang="vi-VN" altLang="en-US" sz="1700" b="0" dirty="0">
                <a:solidFill>
                  <a:srgbClr val="080808"/>
                </a:solidFill>
                <a:latin typeface="Meiryo UI"/>
                <a:ea typeface="Meiryo UI"/>
              </a:rPr>
              <a:t>Giải thích trạng thái</a:t>
            </a:r>
            <a:endParaRPr lang="en-US" sz="1700" dirty="0"/>
          </a:p>
        </p:txBody>
      </p:sp>
      <p:graphicFrame>
        <p:nvGraphicFramePr>
          <p:cNvPr id="5" name="sc:table:1"/>
          <p:cNvGraphicFramePr>
            <a:graphicFrameLocks noGrp="1"/>
          </p:cNvGraphicFramePr>
          <p:nvPr/>
        </p:nvGraphicFramePr>
        <p:xfrm>
          <a:off x="512064" y="2743200"/>
          <a:ext cx="11155680" cy="3072384"/>
        </p:xfrm>
        <a:graphic>
          <a:graphicData uri="http://schemas.openxmlformats.org/drawingml/2006/table">
            <a:tbl>
              <a:tblPr firstRow="1" bandRow="0"/>
              <a:tblGrid>
                <a:gridCol w="4315968"/>
                <a:gridCol w="6839712"/>
              </a:tblGrid>
              <a:tr h="512064">
                <a:tc>
                  <a:txBody>
                    <a:bodyPr wrap="square"/>
                    <a:lstStyle/>
                    <a:p>
                      <a:pPr algn="l">
                        <a:lnSpc>
                          <a:spcPts val="2170"/>
                        </a:lnSpc>
                      </a:pPr>
                      <a:r>
                        <a:rPr lang="vi-VN" altLang="en-US" sz="1400" b="1" dirty="0">
                          <a:solidFill>
                            <a:srgbClr val="FFFFFF"/>
                          </a:solidFill>
                          <a:latin typeface="Meiryo UI"/>
                          <a:ea typeface="Meiryo UI"/>
                        </a:rPr>
                        <a:t>Thao tác</a:t>
                      </a:r>
                      <a:endParaRPr lang="en-US" sz="1400" dirty="0"/>
                    </a:p>
                  </a:txBody>
                  <a:tcPr marL="146304" marR="146304" marT="109728" marB="109728" anchor="ctr">
                    <a:lnL w="9525" cap="flat" cmpd="sng" algn="ctr">
                      <a:solidFill>
                        <a:srgbClr val="DCDEE9"/>
                      </a:solidFill>
                      <a:prstDash val="solid"/>
                    </a:lnL>
                    <a:lnR w="9525" cap="flat" cmpd="sng" algn="ctr">
                      <a:solidFill>
                        <a:srgbClr val="DCDEE9"/>
                      </a:solidFill>
                      <a:prstDash val="solid"/>
                    </a:lnR>
                    <a:lnT w="9525" cap="flat" cmpd="sng" algn="ctr">
                      <a:solidFill>
                        <a:srgbClr val="DCDEE9"/>
                      </a:solidFill>
                      <a:prstDash val="solid"/>
                    </a:lnT>
                    <a:lnB w="9525" cap="flat" cmpd="sng" algn="ctr">
                      <a:solidFill>
                        <a:srgbClr val="DCDEE9"/>
                      </a:solidFill>
                      <a:prstDash val="solid"/>
                    </a:lnB>
                    <a:solidFill>
                      <a:srgbClr val="034EA2"/>
                    </a:solidFill>
                  </a:tcPr>
                </a:tc>
                <a:tc>
                  <a:txBody>
                    <a:bodyPr wrap="square"/>
                    <a:lstStyle/>
                    <a:p>
                      <a:pPr algn="l">
                        <a:lnSpc>
                          <a:spcPts val="2170"/>
                        </a:lnSpc>
                      </a:pPr>
                      <a:r>
                        <a:rPr lang="vi-VN" altLang="en-US" sz="1400" b="1" dirty="0">
                          <a:solidFill>
                            <a:srgbClr val="FFFFFF"/>
                          </a:solidFill>
                          <a:latin typeface="Meiryo UI"/>
                          <a:ea typeface="Meiryo UI"/>
                        </a:rPr>
                        <a:t>Phản hồi</a:t>
                      </a:r>
                      <a:endParaRPr lang="en-US" sz="1400" dirty="0"/>
                    </a:p>
                  </a:txBody>
                  <a:tcPr marL="146304" marR="146304" marT="109728" marB="109728" anchor="ctr">
                    <a:lnL w="9525" cap="flat" cmpd="sng" algn="ctr">
                      <a:solidFill>
                        <a:srgbClr val="DCDEE9"/>
                      </a:solidFill>
                      <a:prstDash val="solid"/>
                    </a:lnL>
                    <a:lnR w="9525" cap="flat" cmpd="sng" algn="ctr">
                      <a:solidFill>
                        <a:srgbClr val="DCDEE9"/>
                      </a:solidFill>
                      <a:prstDash val="solid"/>
                    </a:lnR>
                    <a:lnT w="9525" cap="flat" cmpd="sng" algn="ctr">
                      <a:solidFill>
                        <a:srgbClr val="DCDEE9"/>
                      </a:solidFill>
                      <a:prstDash val="solid"/>
                    </a:lnT>
                    <a:lnB w="9525" cap="flat" cmpd="sng" algn="ctr">
                      <a:solidFill>
                        <a:srgbClr val="DCDEE9"/>
                      </a:solidFill>
                      <a:prstDash val="solid"/>
                    </a:lnB>
                    <a:solidFill>
                      <a:srgbClr val="034EA2"/>
                    </a:solidFill>
                  </a:tcPr>
                </a:tc>
              </a:tr>
              <a:tr h="512064">
                <a:tc>
                  <a:txBody>
                    <a:bodyPr wrap="square"/>
                    <a:lstStyle/>
                    <a:p>
                      <a:pPr algn="l">
                        <a:lnSpc>
                          <a:spcPts val="2170"/>
                        </a:lnSpc>
                      </a:pPr>
                      <a:r>
                        <a:rPr lang="vi-VN" altLang="en-US" sz="1400" b="0" dirty="0">
                          <a:solidFill>
                            <a:srgbClr val="080808"/>
                          </a:solidFill>
                          <a:latin typeface="Meiryo UI"/>
                          <a:ea typeface="Meiryo UI"/>
                        </a:rPr>
                        <a:t>Chạm nút</a:t>
                      </a:r>
                      <a:endParaRPr lang="en-US" sz="1400" dirty="0"/>
                    </a:p>
                  </a:txBody>
                  <a:tcPr marL="146304" marR="146304" marT="109728" marB="109728" anchor="ctr">
                    <a:lnL w="9525" cap="flat" cmpd="sng" algn="ctr">
                      <a:solidFill>
                        <a:srgbClr val="DCDEE9"/>
                      </a:solidFill>
                      <a:prstDash val="solid"/>
                    </a:lnL>
                    <a:lnR w="9525" cap="flat" cmpd="sng" algn="ctr">
                      <a:solidFill>
                        <a:srgbClr val="DCDEE9"/>
                      </a:solidFill>
                      <a:prstDash val="solid"/>
                    </a:lnR>
                    <a:lnT w="9525" cap="flat" cmpd="sng" algn="ctr">
                      <a:solidFill>
                        <a:srgbClr val="DCDEE9"/>
                      </a:solidFill>
                      <a:prstDash val="solid"/>
                    </a:lnT>
                    <a:lnB w="9525" cap="flat" cmpd="sng" algn="ctr">
                      <a:solidFill>
                        <a:srgbClr val="DCDEE9"/>
                      </a:solidFill>
                      <a:prstDash val="solid"/>
                    </a:lnB>
                    <a:solidFill>
                      <a:srgbClr val="FFFFFF"/>
                    </a:solidFill>
                  </a:tcPr>
                </a:tc>
                <a:tc>
                  <a:txBody>
                    <a:bodyPr wrap="square"/>
                    <a:lstStyle/>
                    <a:p>
                      <a:pPr algn="l">
                        <a:lnSpc>
                          <a:spcPts val="2170"/>
                        </a:lnSpc>
                      </a:pPr>
                      <a:r>
                        <a:rPr lang="vi-VN" altLang="en-US" sz="1400" b="0" dirty="0">
                          <a:solidFill>
                            <a:srgbClr val="080808"/>
                          </a:solidFill>
                          <a:latin typeface="Meiryo UI"/>
                          <a:ea typeface="Meiryo UI"/>
                        </a:rPr>
                        <a:t>Click mềm</a:t>
                      </a:r>
                      <a:endParaRPr lang="en-US" sz="1400" dirty="0"/>
                    </a:p>
                  </a:txBody>
                  <a:tcPr marL="146304" marR="146304" marT="109728" marB="109728" anchor="ctr">
                    <a:lnL w="9525" cap="flat" cmpd="sng" algn="ctr">
                      <a:solidFill>
                        <a:srgbClr val="DCDEE9"/>
                      </a:solidFill>
                      <a:prstDash val="solid"/>
                    </a:lnL>
                    <a:lnR w="9525" cap="flat" cmpd="sng" algn="ctr">
                      <a:solidFill>
                        <a:srgbClr val="DCDEE9"/>
                      </a:solidFill>
                      <a:prstDash val="solid"/>
                    </a:lnR>
                    <a:lnT w="9525" cap="flat" cmpd="sng" algn="ctr">
                      <a:solidFill>
                        <a:srgbClr val="DCDEE9"/>
                      </a:solidFill>
                      <a:prstDash val="solid"/>
                    </a:lnT>
                    <a:lnB w="9525" cap="flat" cmpd="sng" algn="ctr">
                      <a:solidFill>
                        <a:srgbClr val="DCDEE9"/>
                      </a:solidFill>
                      <a:prstDash val="solid"/>
                    </a:lnB>
                    <a:solidFill>
                      <a:srgbClr val="FFFFFF"/>
                    </a:solidFill>
                  </a:tcPr>
                </a:tc>
              </a:tr>
              <a:tr h="512064">
                <a:tc>
                  <a:txBody>
                    <a:bodyPr wrap="square"/>
                    <a:lstStyle/>
                    <a:p>
                      <a:pPr algn="l">
                        <a:lnSpc>
                          <a:spcPts val="2170"/>
                        </a:lnSpc>
                      </a:pPr>
                      <a:r>
                        <a:rPr lang="vi-VN" altLang="en-US" sz="1400" b="0" dirty="0">
                          <a:solidFill>
                            <a:srgbClr val="080808"/>
                          </a:solidFill>
                          <a:latin typeface="Meiryo UI"/>
                          <a:ea typeface="Meiryo UI"/>
                        </a:rPr>
                        <a:t>Đặt mảnh</a:t>
                      </a:r>
                      <a:endParaRPr lang="en-US" sz="1400" dirty="0"/>
                    </a:p>
                  </a:txBody>
                  <a:tcPr marL="146304" marR="146304" marT="109728" marB="109728" anchor="ctr">
                    <a:lnL w="9525" cap="flat" cmpd="sng" algn="ctr">
                      <a:solidFill>
                        <a:srgbClr val="DCDEE9"/>
                      </a:solidFill>
                      <a:prstDash val="solid"/>
                    </a:lnL>
                    <a:lnR w="9525" cap="flat" cmpd="sng" algn="ctr">
                      <a:solidFill>
                        <a:srgbClr val="DCDEE9"/>
                      </a:solidFill>
                      <a:prstDash val="solid"/>
                    </a:lnR>
                    <a:lnT w="9525" cap="flat" cmpd="sng" algn="ctr">
                      <a:solidFill>
                        <a:srgbClr val="DCDEE9"/>
                      </a:solidFill>
                      <a:prstDash val="solid"/>
                    </a:lnT>
                    <a:lnB w="9525" cap="flat" cmpd="sng" algn="ctr">
                      <a:solidFill>
                        <a:srgbClr val="DCDEE9"/>
                      </a:solidFill>
                      <a:prstDash val="solid"/>
                    </a:lnB>
                    <a:solidFill>
                      <a:srgbClr val="F4F4F8"/>
                    </a:solidFill>
                  </a:tcPr>
                </a:tc>
                <a:tc>
                  <a:txBody>
                    <a:bodyPr wrap="square"/>
                    <a:lstStyle/>
                    <a:p>
                      <a:pPr algn="l">
                        <a:lnSpc>
                          <a:spcPts val="2170"/>
                        </a:lnSpc>
                      </a:pPr>
                      <a:r>
                        <a:rPr lang="vi-VN" altLang="en-US" sz="1400" b="0" dirty="0">
                          <a:solidFill>
                            <a:srgbClr val="080808"/>
                          </a:solidFill>
                          <a:latin typeface="Meiryo UI"/>
                          <a:ea typeface="Meiryo UI"/>
                        </a:rPr>
                        <a:t>Mạt chược</a:t>
                      </a:r>
                      <a:endParaRPr lang="en-US" sz="1400" dirty="0"/>
                    </a:p>
                  </a:txBody>
                  <a:tcPr marL="146304" marR="146304" marT="109728" marB="109728" anchor="ctr">
                    <a:lnL w="9525" cap="flat" cmpd="sng" algn="ctr">
                      <a:solidFill>
                        <a:srgbClr val="DCDEE9"/>
                      </a:solidFill>
                      <a:prstDash val="solid"/>
                    </a:lnL>
                    <a:lnR w="9525" cap="flat" cmpd="sng" algn="ctr">
                      <a:solidFill>
                        <a:srgbClr val="DCDEE9"/>
                      </a:solidFill>
                      <a:prstDash val="solid"/>
                    </a:lnR>
                    <a:lnT w="9525" cap="flat" cmpd="sng" algn="ctr">
                      <a:solidFill>
                        <a:srgbClr val="DCDEE9"/>
                      </a:solidFill>
                      <a:prstDash val="solid"/>
                    </a:lnT>
                    <a:lnB w="9525" cap="flat" cmpd="sng" algn="ctr">
                      <a:solidFill>
                        <a:srgbClr val="DCDEE9"/>
                      </a:solidFill>
                      <a:prstDash val="solid"/>
                    </a:lnB>
                    <a:solidFill>
                      <a:srgbClr val="F4F4F8"/>
                    </a:solidFill>
                  </a:tcPr>
                </a:tc>
              </a:tr>
              <a:tr h="512064">
                <a:tc>
                  <a:txBody>
                    <a:bodyPr wrap="square"/>
                    <a:lstStyle/>
                    <a:p>
                      <a:pPr algn="l">
                        <a:lnSpc>
                          <a:spcPts val="2170"/>
                        </a:lnSpc>
                      </a:pPr>
                      <a:r>
                        <a:rPr lang="vi-VN" altLang="en-US" sz="1400" b="0" dirty="0">
                          <a:solidFill>
                            <a:srgbClr val="080808"/>
                          </a:solidFill>
                          <a:latin typeface="Meiryo UI"/>
                          <a:ea typeface="Meiryo UI"/>
                        </a:rPr>
                        <a:t>Đúng</a:t>
                      </a:r>
                      <a:endParaRPr lang="en-US" sz="1400" dirty="0"/>
                    </a:p>
                  </a:txBody>
                  <a:tcPr marL="146304" marR="146304" marT="109728" marB="109728" anchor="ctr">
                    <a:lnL w="9525" cap="flat" cmpd="sng" algn="ctr">
                      <a:solidFill>
                        <a:srgbClr val="DCDEE9"/>
                      </a:solidFill>
                      <a:prstDash val="solid"/>
                    </a:lnL>
                    <a:lnR w="9525" cap="flat" cmpd="sng" algn="ctr">
                      <a:solidFill>
                        <a:srgbClr val="DCDEE9"/>
                      </a:solidFill>
                      <a:prstDash val="solid"/>
                    </a:lnR>
                    <a:lnT w="9525" cap="flat" cmpd="sng" algn="ctr">
                      <a:solidFill>
                        <a:srgbClr val="DCDEE9"/>
                      </a:solidFill>
                      <a:prstDash val="solid"/>
                    </a:lnT>
                    <a:lnB w="9525" cap="flat" cmpd="sng" algn="ctr">
                      <a:solidFill>
                        <a:srgbClr val="DCDEE9"/>
                      </a:solidFill>
                      <a:prstDash val="solid"/>
                    </a:lnB>
                    <a:solidFill>
                      <a:srgbClr val="FFFFFF"/>
                    </a:solidFill>
                  </a:tcPr>
                </a:tc>
                <a:tc>
                  <a:txBody>
                    <a:bodyPr wrap="square"/>
                    <a:lstStyle/>
                    <a:p>
                      <a:pPr algn="l">
                        <a:lnSpc>
                          <a:spcPts val="2170"/>
                        </a:lnSpc>
                      </a:pPr>
                      <a:r>
                        <a:rPr lang="vi-VN" altLang="en-US" sz="1400" b="0" dirty="0">
                          <a:solidFill>
                            <a:srgbClr val="080808"/>
                          </a:solidFill>
                          <a:latin typeface="Meiryo UI"/>
                          <a:ea typeface="Meiryo UI"/>
                        </a:rPr>
                        <a:t>Chuông + mochi</a:t>
                      </a:r>
                      <a:endParaRPr lang="en-US" sz="1400" dirty="0"/>
                    </a:p>
                  </a:txBody>
                  <a:tcPr marL="146304" marR="146304" marT="109728" marB="109728" anchor="ctr">
                    <a:lnL w="9525" cap="flat" cmpd="sng" algn="ctr">
                      <a:solidFill>
                        <a:srgbClr val="DCDEE9"/>
                      </a:solidFill>
                      <a:prstDash val="solid"/>
                    </a:lnL>
                    <a:lnR w="9525" cap="flat" cmpd="sng" algn="ctr">
                      <a:solidFill>
                        <a:srgbClr val="DCDEE9"/>
                      </a:solidFill>
                      <a:prstDash val="solid"/>
                    </a:lnR>
                    <a:lnT w="9525" cap="flat" cmpd="sng" algn="ctr">
                      <a:solidFill>
                        <a:srgbClr val="DCDEE9"/>
                      </a:solidFill>
                      <a:prstDash val="solid"/>
                    </a:lnT>
                    <a:lnB w="9525" cap="flat" cmpd="sng" algn="ctr">
                      <a:solidFill>
                        <a:srgbClr val="DCDEE9"/>
                      </a:solidFill>
                      <a:prstDash val="solid"/>
                    </a:lnB>
                    <a:solidFill>
                      <a:srgbClr val="FFFFFF"/>
                    </a:solidFill>
                  </a:tcPr>
                </a:tc>
              </a:tr>
              <a:tr h="512064">
                <a:tc>
                  <a:txBody>
                    <a:bodyPr wrap="square"/>
                    <a:lstStyle/>
                    <a:p>
                      <a:pPr algn="l">
                        <a:lnSpc>
                          <a:spcPts val="2170"/>
                        </a:lnSpc>
                      </a:pPr>
                      <a:r>
                        <a:rPr lang="vi-VN" altLang="en-US" sz="1400" b="0" dirty="0">
                          <a:solidFill>
                            <a:srgbClr val="080808"/>
                          </a:solidFill>
                          <a:latin typeface="Meiryo UI"/>
                          <a:ea typeface="Meiryo UI"/>
                        </a:rPr>
                        <a:t>Sai</a:t>
                      </a:r>
                      <a:endParaRPr lang="en-US" sz="1400" dirty="0"/>
                    </a:p>
                  </a:txBody>
                  <a:tcPr marL="146304" marR="146304" marT="109728" marB="109728" anchor="ctr">
                    <a:lnL w="9525" cap="flat" cmpd="sng" algn="ctr">
                      <a:solidFill>
                        <a:srgbClr val="DCDEE9"/>
                      </a:solidFill>
                      <a:prstDash val="solid"/>
                    </a:lnL>
                    <a:lnR w="9525" cap="flat" cmpd="sng" algn="ctr">
                      <a:solidFill>
                        <a:srgbClr val="DCDEE9"/>
                      </a:solidFill>
                      <a:prstDash val="solid"/>
                    </a:lnR>
                    <a:lnT w="9525" cap="flat" cmpd="sng" algn="ctr">
                      <a:solidFill>
                        <a:srgbClr val="DCDEE9"/>
                      </a:solidFill>
                      <a:prstDash val="solid"/>
                    </a:lnT>
                    <a:lnB w="9525" cap="flat" cmpd="sng" algn="ctr">
                      <a:solidFill>
                        <a:srgbClr val="DCDEE9"/>
                      </a:solidFill>
                      <a:prstDash val="solid"/>
                    </a:lnB>
                    <a:solidFill>
                      <a:srgbClr val="F4F4F8"/>
                    </a:solidFill>
                  </a:tcPr>
                </a:tc>
                <a:tc>
                  <a:txBody>
                    <a:bodyPr wrap="square"/>
                    <a:lstStyle/>
                    <a:p>
                      <a:pPr algn="l">
                        <a:lnSpc>
                          <a:spcPts val="2170"/>
                        </a:lnSpc>
                      </a:pPr>
                      <a:r>
                        <a:rPr lang="vi-VN" altLang="en-US" sz="1400" b="0" dirty="0">
                          <a:solidFill>
                            <a:srgbClr val="080808"/>
                          </a:solidFill>
                          <a:latin typeface="Meiryo UI"/>
                          <a:ea typeface="Meiryo UI"/>
                        </a:rPr>
                        <a:t>Gõ rỗng</a:t>
                      </a:r>
                      <a:endParaRPr lang="en-US" sz="1400" dirty="0"/>
                    </a:p>
                  </a:txBody>
                  <a:tcPr marL="146304" marR="146304" marT="109728" marB="109728" anchor="ctr">
                    <a:lnL w="9525" cap="flat" cmpd="sng" algn="ctr">
                      <a:solidFill>
                        <a:srgbClr val="DCDEE9"/>
                      </a:solidFill>
                      <a:prstDash val="solid"/>
                    </a:lnL>
                    <a:lnR w="9525" cap="flat" cmpd="sng" algn="ctr">
                      <a:solidFill>
                        <a:srgbClr val="DCDEE9"/>
                      </a:solidFill>
                      <a:prstDash val="solid"/>
                    </a:lnR>
                    <a:lnT w="9525" cap="flat" cmpd="sng" algn="ctr">
                      <a:solidFill>
                        <a:srgbClr val="DCDEE9"/>
                      </a:solidFill>
                      <a:prstDash val="solid"/>
                    </a:lnT>
                    <a:lnB w="9525" cap="flat" cmpd="sng" algn="ctr">
                      <a:solidFill>
                        <a:srgbClr val="DCDEE9"/>
                      </a:solidFill>
                      <a:prstDash val="solid"/>
                    </a:lnB>
                    <a:solidFill>
                      <a:srgbClr val="F4F4F8"/>
                    </a:solidFill>
                  </a:tcPr>
                </a:tc>
              </a:tr>
              <a:tr h="512064">
                <a:tc>
                  <a:txBody>
                    <a:bodyPr wrap="square"/>
                    <a:lstStyle/>
                    <a:p>
                      <a:pPr algn="l">
                        <a:lnSpc>
                          <a:spcPts val="2170"/>
                        </a:lnSpc>
                      </a:pPr>
                      <a:r>
                        <a:rPr lang="vi-VN" altLang="en-US" sz="1400" b="0" dirty="0">
                          <a:solidFill>
                            <a:srgbClr val="080808"/>
                          </a:solidFill>
                          <a:latin typeface="Meiryo UI"/>
                          <a:ea typeface="Meiryo UI"/>
                        </a:rPr>
                        <a:t>Hợp nhất</a:t>
                      </a:r>
                      <a:endParaRPr lang="en-US" sz="1400" dirty="0"/>
                    </a:p>
                  </a:txBody>
                  <a:tcPr marL="146304" marR="146304" marT="109728" marB="109728" anchor="ctr">
                    <a:lnL w="9525" cap="flat" cmpd="sng" algn="ctr">
                      <a:solidFill>
                        <a:srgbClr val="DCDEE9"/>
                      </a:solidFill>
                      <a:prstDash val="solid"/>
                    </a:lnL>
                    <a:lnR w="9525" cap="flat" cmpd="sng" algn="ctr">
                      <a:solidFill>
                        <a:srgbClr val="DCDEE9"/>
                      </a:solidFill>
                      <a:prstDash val="solid"/>
                    </a:lnR>
                    <a:lnT w="9525" cap="flat" cmpd="sng" algn="ctr">
                      <a:solidFill>
                        <a:srgbClr val="DCDEE9"/>
                      </a:solidFill>
                      <a:prstDash val="solid"/>
                    </a:lnT>
                    <a:lnB w="9525" cap="flat" cmpd="sng" algn="ctr">
                      <a:solidFill>
                        <a:srgbClr val="DCDEE9"/>
                      </a:solidFill>
                      <a:prstDash val="solid"/>
                    </a:lnB>
                    <a:solidFill>
                      <a:srgbClr val="FFFFFF"/>
                    </a:solidFill>
                  </a:tcPr>
                </a:tc>
                <a:tc>
                  <a:txBody>
                    <a:bodyPr wrap="square"/>
                    <a:lstStyle/>
                    <a:p>
                      <a:pPr algn="l">
                        <a:lnSpc>
                          <a:spcPts val="2170"/>
                        </a:lnSpc>
                      </a:pPr>
                      <a:r>
                        <a:rPr lang="vi-VN" altLang="en-US" sz="1400" b="0" dirty="0">
                          <a:solidFill>
                            <a:srgbClr val="080808"/>
                          </a:solidFill>
                          <a:latin typeface="Meiryo UI"/>
                          <a:ea typeface="Meiryo UI"/>
                        </a:rPr>
                        <a:t>Phần → toàn thể</a:t>
                      </a:r>
                      <a:endParaRPr lang="en-US" sz="1400" dirty="0"/>
                    </a:p>
                  </a:txBody>
                  <a:tcPr marL="146304" marR="146304" marT="109728" marB="109728" anchor="ctr">
                    <a:lnL w="9525" cap="flat" cmpd="sng" algn="ctr">
                      <a:solidFill>
                        <a:srgbClr val="DCDEE9"/>
                      </a:solidFill>
                      <a:prstDash val="solid"/>
                    </a:lnL>
                    <a:lnR w="9525" cap="flat" cmpd="sng" algn="ctr">
                      <a:solidFill>
                        <a:srgbClr val="DCDEE9"/>
                      </a:solidFill>
                      <a:prstDash val="solid"/>
                    </a:lnR>
                    <a:lnT w="9525" cap="flat" cmpd="sng" algn="ctr">
                      <a:solidFill>
                        <a:srgbClr val="DCDEE9"/>
                      </a:solidFill>
                      <a:prstDash val="solid"/>
                    </a:lnT>
                    <a:lnB w="9525" cap="flat" cmpd="sng" algn="ctr">
                      <a:solidFill>
                        <a:srgbClr val="DCDEE9"/>
                      </a:solidFill>
                      <a:prstDash val="solid"/>
                    </a:lnB>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c:title:1"/>
          <p:cNvSpPr>
            <a:spLocks noGrp="1"/>
          </p:cNvSpPr>
          <p:nvPr>
            <p:ph type="title"/>
          </p:nvPr>
        </p:nvSpPr>
        <p:spPr/>
        <p:txBody>
          <a:bodyPr>
            <a:noAutofit/>
          </a:bodyPr>
          <a:lstStyle/>
          <a:p>
            <a:pPr>
              <a:lnSpc>
                <a:spcPts val="3360"/>
              </a:lnSpc>
            </a:pPr>
            <a:r>
              <a:rPr lang="vi-VN" altLang="en-US" sz="2800" dirty="0">
                <a:ea typeface="Meiryo UI"/>
              </a:rPr>
              <a:t>Nhìn thấy logic trước khi ghi nhớ</a:t>
            </a:r>
          </a:p>
        </p:txBody>
      </p:sp>
      <p:sp>
        <p:nvSpPr>
          <p:cNvPr id="3" name="Slide Number Placeholder 3">
            <a:extLst>
              <a:ext uri="{FF2B5EF4-FFF2-40B4-BE49-F238E27FC236}">
                <a16:creationId xmlns:a16="http://schemas.microsoft.com/office/drawing/2014/main" id="{13BB62CA-CBF7-31AD-BAA2-F360326FF91D}"/>
              </a:ext>
            </a:extLst>
          </p:cNvPr>
          <p:cNvSpPr>
            <a:spLocks noGrp="1"/>
          </p:cNvSpPr>
          <p:nvPr>
            <p:ph type="sldNum" sz="quarter" idx="12"/>
          </p:nvPr>
        </p:nvSpPr>
        <p:spPr>
          <a:xfrm>
            <a:off x="10330249" y="6415503"/>
            <a:ext cx="1577824" cy="251969"/>
          </a:xfrm>
          <a:prstGeom prst="rect">
            <a:avLst/>
          </a:prstGeom>
        </p:spPr>
        <p:txBody>
          <a:bodyPr/>
          <a:lstStyle>
            <a:lvl1pPr algn="r">
              <a:defRPr sz="1050">
                <a:solidFill>
                  <a:schemeClr val="accent6">
                    <a:lumMod val="60000"/>
                    <a:lumOff val="40000"/>
                  </a:schemeClr>
                </a:solidFill>
              </a:defRPr>
            </a:lvl1pPr>
          </a:lstStyle>
          <a:p>
            <a:r>
              <a:rPr lang="en-US" u="sng" dirty="0" err="1">
                <a:hlinkClick r:id="rId2">
                  <a:extLst>
                    <a:ext uri="{A12FA001-AC4F-418D-AE19-62706E023703}">
                      <ahyp:hlinkClr xmlns:ahyp="http://schemas.microsoft.com/office/drawing/2018/hyperlinkcolor" val="tx"/>
                    </a:ext>
                  </a:extLst>
                </a:hlinkClick>
              </a:rPr>
              <a:t>fptsoftware.com</a:t>
            </a:r>
            <a:r>
              <a:rPr lang="en-US" dirty="0">
                <a:hlinkClick r:id="rId2">
                  <a:extLst>
                    <a:ext uri="{A12FA001-AC4F-418D-AE19-62706E023703}">
                      <ahyp:hlinkClr xmlns:ahyp="http://schemas.microsoft.com/office/drawing/2018/hyperlinkcolor" val="tx"/>
                    </a:ext>
                  </a:extLst>
                </a:hlinkClick>
              </a:rPr>
              <a:t> </a:t>
            </a:r>
            <a:r>
              <a:rPr lang="en-US" dirty="0"/>
              <a:t>| </a:t>
            </a:r>
            <a:fld id="{E012F146-47F9-A646-B182-8CC39B8AD32B}" type="slidenum">
              <a:rPr lang="x-none" smtClean="0"/>
              <a:pPr/>
              <a:t>3</a:t>
            </a:fld>
            <a:endParaRPr lang="x-none"/>
          </a:p>
        </p:txBody>
      </p:sp>
      <p:sp>
        <p:nvSpPr>
          <p:cNvPr id="4" name="sc:lead:1"/>
          <p:cNvSpPr txBox="1"/>
          <p:nvPr/>
        </p:nvSpPr>
        <p:spPr>
          <a:xfrm>
            <a:off x="512064" y="987552"/>
            <a:ext cx="11155680" cy="257175"/>
          </a:xfrm>
          <a:prstGeom prst="rect">
            <a:avLst/>
          </a:prstGeom>
          <a:noFill/>
          <a:ln>
            <a:noFill/>
          </a:ln>
        </p:spPr>
        <p:txBody>
          <a:bodyPr wrap="square" lIns="0" tIns="0" rIns="0" bIns="0" anchor="t" rtlCol="0">
            <a:noAutofit/>
          </a:bodyPr>
          <a:lstStyle/>
          <a:p>
            <a:pPr marL="0" indent="0" algn="l">
              <a:lnSpc>
                <a:spcPts val="2025"/>
              </a:lnSpc>
              <a:spcBef>
                <a:spcPts val="0"/>
              </a:spcBef>
              <a:spcAft>
                <a:spcPts val="0"/>
              </a:spcAft>
              <a:buNone/>
            </a:pPr>
            <a:r>
              <a:rPr lang="vi-VN" altLang="en-US" sz="1500" b="1" dirty="0">
                <a:solidFill>
                  <a:srgbClr val="19226D"/>
                </a:solidFill>
                <a:latin typeface="Meiryo UI"/>
                <a:ea typeface="Meiryo UI"/>
              </a:rPr>
              <a:t>Logic trước ghi nhớ.</a:t>
            </a:r>
            <a:endParaRPr lang="en-US" sz="1500" dirty="0"/>
          </a:p>
        </p:txBody>
      </p:sp>
      <p:cxnSp>
        <p:nvCxnSpPr>
          <p:cNvPr id="11" name="pd:s-outcomes:tree.bus:1"/>
          <p:cNvCxnSpPr/>
          <p:nvPr/>
        </p:nvCxnSpPr>
        <p:spPr>
          <a:xfrm>
            <a:off x="6071616" y="2267712"/>
            <a:ext cx="0" cy="512064"/>
          </a:xfrm>
          <a:prstGeom prst="line">
            <a:avLst/>
          </a:prstGeom>
          <a:ln w="12700" cap="flat">
            <a:solidFill>
              <a:srgbClr val="19226D">
                <a:alpha val="70000"/>
              </a:srgbClr>
            </a:solidFill>
            <a:round/>
          </a:ln>
        </p:spPr>
      </p:cxnSp>
      <p:cxnSp>
        <p:nvCxnSpPr>
          <p:cNvPr id="12" name="pd:s-outcomes:tree.bus:2"/>
          <p:cNvCxnSpPr/>
          <p:nvPr/>
        </p:nvCxnSpPr>
        <p:spPr>
          <a:xfrm>
            <a:off x="1901952" y="2779776"/>
            <a:ext cx="8339328" cy="0"/>
          </a:xfrm>
          <a:prstGeom prst="line">
            <a:avLst/>
          </a:prstGeom>
          <a:ln w="12700" cap="flat">
            <a:solidFill>
              <a:srgbClr val="19226D">
                <a:alpha val="70000"/>
              </a:srgbClr>
            </a:solidFill>
            <a:round/>
          </a:ln>
        </p:spPr>
      </p:cxnSp>
      <p:cxnSp>
        <p:nvCxnSpPr>
          <p:cNvPr id="13" name="pd:s-outcomes:tree.bus:3"/>
          <p:cNvCxnSpPr/>
          <p:nvPr/>
        </p:nvCxnSpPr>
        <p:spPr>
          <a:xfrm>
            <a:off x="1901952" y="2779776"/>
            <a:ext cx="0" cy="512064"/>
          </a:xfrm>
          <a:prstGeom prst="line">
            <a:avLst/>
          </a:prstGeom>
          <a:ln w="12700" cap="flat">
            <a:solidFill>
              <a:srgbClr val="19226D">
                <a:alpha val="70000"/>
              </a:srgbClr>
            </a:solidFill>
            <a:round/>
            <a:tailEnd type="triangle" w="sm" len="sm"/>
          </a:ln>
        </p:spPr>
      </p:cxnSp>
      <p:cxnSp>
        <p:nvCxnSpPr>
          <p:cNvPr id="14" name="pd:s-outcomes:tree.bus:4"/>
          <p:cNvCxnSpPr/>
          <p:nvPr/>
        </p:nvCxnSpPr>
        <p:spPr>
          <a:xfrm>
            <a:off x="4681728" y="2779776"/>
            <a:ext cx="0" cy="512064"/>
          </a:xfrm>
          <a:prstGeom prst="line">
            <a:avLst/>
          </a:prstGeom>
          <a:ln w="12700" cap="flat">
            <a:solidFill>
              <a:srgbClr val="19226D">
                <a:alpha val="70000"/>
              </a:srgbClr>
            </a:solidFill>
            <a:round/>
            <a:tailEnd type="triangle" w="sm" len="sm"/>
          </a:ln>
        </p:spPr>
      </p:cxnSp>
      <p:cxnSp>
        <p:nvCxnSpPr>
          <p:cNvPr id="15" name="pd:s-outcomes:tree.bus:5"/>
          <p:cNvCxnSpPr/>
          <p:nvPr/>
        </p:nvCxnSpPr>
        <p:spPr>
          <a:xfrm>
            <a:off x="7461504" y="2779776"/>
            <a:ext cx="0" cy="512064"/>
          </a:xfrm>
          <a:prstGeom prst="line">
            <a:avLst/>
          </a:prstGeom>
          <a:ln w="12700" cap="flat">
            <a:solidFill>
              <a:srgbClr val="19226D">
                <a:alpha val="70000"/>
              </a:srgbClr>
            </a:solidFill>
            <a:round/>
            <a:tailEnd type="triangle" w="sm" len="sm"/>
          </a:ln>
        </p:spPr>
      </p:cxnSp>
      <p:cxnSp>
        <p:nvCxnSpPr>
          <p:cNvPr id="16" name="pd:s-outcomes:tree.bus:6"/>
          <p:cNvCxnSpPr/>
          <p:nvPr/>
        </p:nvCxnSpPr>
        <p:spPr>
          <a:xfrm>
            <a:off x="10241280" y="2779776"/>
            <a:ext cx="0" cy="512064"/>
          </a:xfrm>
          <a:prstGeom prst="line">
            <a:avLst/>
          </a:prstGeom>
          <a:ln w="12700" cap="flat">
            <a:solidFill>
              <a:srgbClr val="19226D">
                <a:alpha val="70000"/>
              </a:srgbClr>
            </a:solidFill>
            <a:round/>
            <a:tailEnd type="triangle" w="sm" len="sm"/>
          </a:ln>
        </p:spPr>
      </p:cxnSp>
      <p:sp>
        <p:nvSpPr>
          <p:cNvPr id="6" name="pd:s-outcomes:tree.node:1" descr="Cây kết quả: gốc là hiểu Kanji, bốn nhánh là bớt quá tải, nhớ có liên kết, phân biệt tốt hơn, muốn tiếp tục."/>
          <p:cNvSpPr/>
          <p:nvPr/>
        </p:nvSpPr>
        <p:spPr>
          <a:xfrm>
            <a:off x="4974336" y="1682496"/>
            <a:ext cx="2194560" cy="585216"/>
          </a:xfrm>
          <a:prstGeom prst="roundRect">
            <a:avLst>
              <a:gd name="adj" fmla="val 8511"/>
            </a:avLst>
          </a:prstGeom>
          <a:solidFill>
            <a:srgbClr val="F37021">
              <a:alpha val="8000"/>
            </a:srgbClr>
          </a:solidFill>
          <a:ln w="15875" cap="flat">
            <a:solidFill>
              <a:srgbClr val="F37021"/>
            </a:solidFill>
            <a:round/>
          </a:ln>
        </p:spPr>
        <p:txBody>
          <a:bodyPr wrap="square" lIns="64008" tIns="0" rIns="64008" bIns="0" anchor="ctr" rtlCol="0">
            <a:noAutofit/>
          </a:bodyPr>
          <a:lstStyle/>
          <a:p>
            <a:pPr algn="ctr" marL="0" marR="0" indent="0" rtl="0" eaLnBrk="1" latinLnBrk="0">
              <a:lnSpc>
                <a:spcPts val="1452"/>
              </a:lnSpc>
              <a:spcBef>
                <a:spcPts val="0"/>
              </a:spcBef>
              <a:spcAft>
                <a:spcPts val="0"/>
              </a:spcAft>
              <a:buNone/>
            </a:pPr>
            <a:r>
              <a:rPr lang="vi-VN" altLang="en-US" sz="1100" b="1" i="0" cap="none" spc="0" baseline="0" normalizeH="0" dirty="0">
                <a:solidFill>
                  <a:srgbClr val="F37021"/>
                </a:solidFill>
                <a:latin typeface="Meiryo UI"/>
                <a:ea typeface="Meiryo UI"/>
              </a:rPr>
              <a:t>Hiểu Kanji</a:t>
            </a:r>
            <a:endParaRPr lang="vi-VN" sz="1100" dirty="0"/>
          </a:p>
          <a:p>
            <a:pPr algn="ctr" marL="0" marR="0" indent="0" rtl="0" eaLnBrk="1" latinLnBrk="0">
              <a:lnSpc>
                <a:spcPts val="1188"/>
              </a:lnSpc>
              <a:spcBef>
                <a:spcPts val="0"/>
              </a:spcBef>
              <a:spcAft>
                <a:spcPts val="0"/>
              </a:spcAft>
              <a:buNone/>
            </a:pPr>
            <a:r>
              <a:rPr lang="vi-VN" altLang="en-US" sz="900" b="0" i="0" cap="none" spc="0" baseline="0" normalizeH="0" dirty="0">
                <a:solidFill>
                  <a:srgbClr val="19226D">
                    <a:alpha val="55000"/>
                  </a:srgbClr>
                </a:solidFill>
                <a:latin typeface="Meiryo UI"/>
                <a:ea typeface="Meiryo UI"/>
              </a:rPr>
              <a:t>logic trước ghi nhớ</a:t>
            </a:r>
            <a:endParaRPr lang="vi-VN" sz="900" dirty="0"/>
          </a:p>
        </p:txBody>
      </p:sp>
      <p:sp>
        <p:nvSpPr>
          <p:cNvPr id="7" name="pd:s-outcomes:tree.node:2"/>
          <p:cNvSpPr/>
          <p:nvPr/>
        </p:nvSpPr>
        <p:spPr>
          <a:xfrm>
            <a:off x="621792" y="3291840"/>
            <a:ext cx="2560320" cy="585216"/>
          </a:xfrm>
          <a:prstGeom prst="roundRect">
            <a:avLst>
              <a:gd name="adj" fmla="val 8511"/>
            </a:avLst>
          </a:prstGeom>
          <a:solidFill>
            <a:srgbClr val="FFFFFF"/>
          </a:solidFill>
          <a:ln w="9525" cap="flat">
            <a:solidFill>
              <a:srgbClr val="19226D"/>
            </a:solidFill>
            <a:round/>
          </a:ln>
        </p:spPr>
        <p:txBody>
          <a:bodyPr wrap="square" lIns="64008" tIns="0" rIns="64008" bIns="0" anchor="ctr" rtlCol="0">
            <a:noAutofit/>
          </a:bodyPr>
          <a:lstStyle/>
          <a:p>
            <a:pPr algn="ctr" marL="0" marR="0" indent="0" rtl="0" eaLnBrk="1" latinLnBrk="0">
              <a:lnSpc>
                <a:spcPts val="1452"/>
              </a:lnSpc>
              <a:spcBef>
                <a:spcPts val="0"/>
              </a:spcBef>
              <a:spcAft>
                <a:spcPts val="0"/>
              </a:spcAft>
              <a:buNone/>
            </a:pPr>
            <a:r>
              <a:rPr lang="vi-VN" altLang="en-US" sz="1100" b="1" i="0" cap="none" spc="0" baseline="0" normalizeH="0" dirty="0">
                <a:solidFill>
                  <a:srgbClr val="19226D"/>
                </a:solidFill>
                <a:latin typeface="Meiryo UI"/>
                <a:ea typeface="Meiryo UI"/>
              </a:rPr>
              <a:t>Bớt quá tải</a:t>
            </a:r>
            <a:endParaRPr lang="vi-VN" sz="1100" dirty="0"/>
          </a:p>
          <a:p>
            <a:pPr algn="ctr" marL="0" marR="0" indent="0" rtl="0" eaLnBrk="1" latinLnBrk="0">
              <a:lnSpc>
                <a:spcPts val="1188"/>
              </a:lnSpc>
              <a:spcBef>
                <a:spcPts val="0"/>
              </a:spcBef>
              <a:spcAft>
                <a:spcPts val="0"/>
              </a:spcAft>
              <a:buNone/>
            </a:pPr>
            <a:r>
              <a:rPr lang="vi-VN" altLang="en-US" sz="900" b="0" i="0" cap="none" spc="0" baseline="0" normalizeH="0" dirty="0">
                <a:solidFill>
                  <a:srgbClr val="19226D">
                    <a:alpha val="55000"/>
                  </a:srgbClr>
                </a:solidFill>
                <a:latin typeface="Meiryo UI"/>
                <a:ea typeface="Meiryo UI"/>
              </a:rPr>
              <a:t>chữ → phần quen</a:t>
            </a:r>
            <a:endParaRPr lang="vi-VN" sz="900" dirty="0"/>
          </a:p>
        </p:txBody>
      </p:sp>
      <p:sp>
        <p:nvSpPr>
          <p:cNvPr id="8" name="pd:s-outcomes:tree.node:3"/>
          <p:cNvSpPr/>
          <p:nvPr/>
        </p:nvSpPr>
        <p:spPr>
          <a:xfrm>
            <a:off x="3401568" y="3291840"/>
            <a:ext cx="2560320" cy="585216"/>
          </a:xfrm>
          <a:prstGeom prst="roundRect">
            <a:avLst>
              <a:gd name="adj" fmla="val 8511"/>
            </a:avLst>
          </a:prstGeom>
          <a:solidFill>
            <a:srgbClr val="FFFFFF"/>
          </a:solidFill>
          <a:ln w="9525" cap="flat">
            <a:solidFill>
              <a:srgbClr val="19226D"/>
            </a:solidFill>
            <a:round/>
          </a:ln>
        </p:spPr>
        <p:txBody>
          <a:bodyPr wrap="square" lIns="64008" tIns="0" rIns="64008" bIns="0" anchor="ctr" rtlCol="0">
            <a:noAutofit/>
          </a:bodyPr>
          <a:lstStyle/>
          <a:p>
            <a:pPr algn="ctr" marL="0" marR="0" indent="0" rtl="0" eaLnBrk="1" latinLnBrk="0">
              <a:lnSpc>
                <a:spcPts val="1452"/>
              </a:lnSpc>
              <a:spcBef>
                <a:spcPts val="0"/>
              </a:spcBef>
              <a:spcAft>
                <a:spcPts val="0"/>
              </a:spcAft>
              <a:buNone/>
            </a:pPr>
            <a:r>
              <a:rPr lang="vi-VN" altLang="en-US" sz="1100" b="1" i="0" cap="none" spc="0" baseline="0" normalizeH="0" dirty="0">
                <a:solidFill>
                  <a:srgbClr val="19226D"/>
                </a:solidFill>
                <a:latin typeface="Meiryo UI"/>
                <a:ea typeface="Meiryo UI"/>
              </a:rPr>
              <a:t>Nhớ có liên kết</a:t>
            </a:r>
            <a:endParaRPr lang="vi-VN" sz="1100" dirty="0"/>
          </a:p>
          <a:p>
            <a:pPr algn="ctr" marL="0" marR="0" indent="0" rtl="0" eaLnBrk="1" latinLnBrk="0">
              <a:lnSpc>
                <a:spcPts val="1188"/>
              </a:lnSpc>
              <a:spcBef>
                <a:spcPts val="0"/>
              </a:spcBef>
              <a:spcAft>
                <a:spcPts val="0"/>
              </a:spcAft>
              <a:buNone/>
            </a:pPr>
            <a:r>
              <a:rPr lang="vi-VN" altLang="en-US" sz="900" b="0" i="0" cap="none" spc="0" baseline="0" normalizeH="0" dirty="0">
                <a:solidFill>
                  <a:srgbClr val="19226D">
                    <a:alpha val="55000"/>
                  </a:srgbClr>
                </a:solidFill>
                <a:latin typeface="Meiryo UI"/>
                <a:ea typeface="Meiryo UI"/>
              </a:rPr>
              <a:t>hình, cấu tạo, thao tác</a:t>
            </a:r>
            <a:endParaRPr lang="vi-VN" sz="900" dirty="0"/>
          </a:p>
        </p:txBody>
      </p:sp>
      <p:sp>
        <p:nvSpPr>
          <p:cNvPr id="9" name="pd:s-outcomes:tree.node:4"/>
          <p:cNvSpPr/>
          <p:nvPr/>
        </p:nvSpPr>
        <p:spPr>
          <a:xfrm>
            <a:off x="6181344" y="3291840"/>
            <a:ext cx="2560320" cy="585216"/>
          </a:xfrm>
          <a:prstGeom prst="roundRect">
            <a:avLst>
              <a:gd name="adj" fmla="val 8511"/>
            </a:avLst>
          </a:prstGeom>
          <a:solidFill>
            <a:srgbClr val="FFFFFF"/>
          </a:solidFill>
          <a:ln w="9525" cap="flat">
            <a:solidFill>
              <a:srgbClr val="19226D"/>
            </a:solidFill>
            <a:round/>
          </a:ln>
        </p:spPr>
        <p:txBody>
          <a:bodyPr wrap="square" lIns="64008" tIns="0" rIns="64008" bIns="0" anchor="ctr" rtlCol="0">
            <a:noAutofit/>
          </a:bodyPr>
          <a:lstStyle/>
          <a:p>
            <a:pPr algn="ctr" marL="0" marR="0" indent="0" rtl="0" eaLnBrk="1" latinLnBrk="0">
              <a:lnSpc>
                <a:spcPts val="1452"/>
              </a:lnSpc>
              <a:spcBef>
                <a:spcPts val="0"/>
              </a:spcBef>
              <a:spcAft>
                <a:spcPts val="0"/>
              </a:spcAft>
              <a:buNone/>
            </a:pPr>
            <a:r>
              <a:rPr lang="vi-VN" altLang="en-US" sz="1100" b="1" i="0" cap="none" spc="0" baseline="0" normalizeH="0" dirty="0">
                <a:solidFill>
                  <a:srgbClr val="19226D"/>
                </a:solidFill>
                <a:latin typeface="Meiryo UI"/>
                <a:ea typeface="Meiryo UI"/>
              </a:rPr>
              <a:t>Phân biệt tốt hơn</a:t>
            </a:r>
            <a:endParaRPr lang="vi-VN" sz="1100" dirty="0"/>
          </a:p>
          <a:p>
            <a:pPr algn="ctr" marL="0" marR="0" indent="0" rtl="0" eaLnBrk="1" latinLnBrk="0">
              <a:lnSpc>
                <a:spcPts val="1188"/>
              </a:lnSpc>
              <a:spcBef>
                <a:spcPts val="0"/>
              </a:spcBef>
              <a:spcAft>
                <a:spcPts val="0"/>
              </a:spcAft>
              <a:buNone/>
            </a:pPr>
            <a:r>
              <a:rPr lang="vi-VN" altLang="en-US" sz="900" b="0" i="0" cap="none" spc="0" baseline="0" normalizeH="0" dirty="0">
                <a:solidFill>
                  <a:srgbClr val="19226D">
                    <a:alpha val="55000"/>
                  </a:srgbClr>
                </a:solidFill>
                <a:latin typeface="Meiryo UI"/>
                <a:ea typeface="Meiryo UI"/>
              </a:rPr>
              <a:t>so mảnh, vị trí</a:t>
            </a:r>
            <a:endParaRPr lang="vi-VN" sz="900" dirty="0"/>
          </a:p>
        </p:txBody>
      </p:sp>
      <p:sp>
        <p:nvSpPr>
          <p:cNvPr id="10" name="pd:s-outcomes:tree.node:5"/>
          <p:cNvSpPr/>
          <p:nvPr/>
        </p:nvSpPr>
        <p:spPr>
          <a:xfrm>
            <a:off x="8961120" y="3291840"/>
            <a:ext cx="2560320" cy="585216"/>
          </a:xfrm>
          <a:prstGeom prst="roundRect">
            <a:avLst>
              <a:gd name="adj" fmla="val 8511"/>
            </a:avLst>
          </a:prstGeom>
          <a:solidFill>
            <a:srgbClr val="FFFFFF"/>
          </a:solidFill>
          <a:ln w="9525" cap="flat">
            <a:solidFill>
              <a:srgbClr val="19226D"/>
            </a:solidFill>
            <a:round/>
          </a:ln>
        </p:spPr>
        <p:txBody>
          <a:bodyPr wrap="square" lIns="64008" tIns="0" rIns="64008" bIns="0" anchor="ctr" rtlCol="0">
            <a:noAutofit/>
          </a:bodyPr>
          <a:lstStyle/>
          <a:p>
            <a:pPr algn="ctr" marL="0" marR="0" indent="0" rtl="0" eaLnBrk="1" latinLnBrk="0">
              <a:lnSpc>
                <a:spcPts val="1452"/>
              </a:lnSpc>
              <a:spcBef>
                <a:spcPts val="0"/>
              </a:spcBef>
              <a:spcAft>
                <a:spcPts val="0"/>
              </a:spcAft>
              <a:buNone/>
            </a:pPr>
            <a:r>
              <a:rPr lang="vi-VN" altLang="en-US" sz="1100" b="1" i="0" cap="none" spc="0" baseline="0" normalizeH="0" dirty="0">
                <a:solidFill>
                  <a:srgbClr val="19226D"/>
                </a:solidFill>
                <a:latin typeface="Meiryo UI"/>
                <a:ea typeface="Meiryo UI"/>
              </a:rPr>
              <a:t>Muốn tiếp tục</a:t>
            </a:r>
            <a:endParaRPr lang="vi-VN" sz="1100" dirty="0"/>
          </a:p>
          <a:p>
            <a:pPr algn="ctr" marL="0" marR="0" indent="0" rtl="0" eaLnBrk="1" latinLnBrk="0">
              <a:lnSpc>
                <a:spcPts val="1188"/>
              </a:lnSpc>
              <a:spcBef>
                <a:spcPts val="0"/>
              </a:spcBef>
              <a:spcAft>
                <a:spcPts val="0"/>
              </a:spcAft>
              <a:buNone/>
            </a:pPr>
            <a:r>
              <a:rPr lang="vi-VN" altLang="en-US" sz="900" b="0" i="0" cap="none" spc="0" baseline="0" normalizeH="0" dirty="0">
                <a:solidFill>
                  <a:srgbClr val="19226D">
                    <a:alpha val="55000"/>
                  </a:srgbClr>
                </a:solidFill>
                <a:latin typeface="Meiryo UI"/>
                <a:ea typeface="Meiryo UI"/>
              </a:rPr>
              <a:t>phiên ngắn, thưởng rõ</a:t>
            </a:r>
            <a:endParaRPr lang="vi-VN" sz="900" dirty="0"/>
          </a:p>
        </p:txBody>
      </p:sp>
      <p:sp>
        <p:nvSpPr>
          <p:cNvPr id="5" name="pd:s-outcomes:premise:1"/>
          <p:cNvSpPr txBox="1"/>
          <p:nvPr/>
        </p:nvSpPr>
        <p:spPr>
          <a:xfrm>
            <a:off x="512064" y="1280160"/>
            <a:ext cx="11155680" cy="182880"/>
          </a:xfrm>
          <a:prstGeom prst="rect">
            <a:avLst/>
          </a:prstGeom>
          <a:noFill/>
          <a:ln>
            <a:noFill/>
          </a:ln>
        </p:spPr>
        <p:txBody>
          <a:bodyPr wrap="square" lIns="0" tIns="0" rIns="0" bIns="0" anchor="t">
            <a:noAutofit/>
          </a:bodyPr>
          <a:lstStyle/>
          <a:p>
            <a:pPr algn="l" marL="0" marR="0" indent="0" rtl="0" eaLnBrk="1" latinLnBrk="0">
              <a:lnSpc>
                <a:spcPct val="100000"/>
              </a:lnSpc>
              <a:spcBef>
                <a:spcPts val="0"/>
              </a:spcBef>
              <a:spcAft>
                <a:spcPts val="0"/>
              </a:spcAft>
              <a:buNone/>
            </a:pPr>
            <a:r>
              <a:rPr lang="vi-VN" sz="900" i="0" cap="none" spc="0" baseline="0" normalizeH="0" dirty="0">
                <a:solidFill>
                  <a:srgbClr val="5E6499"/>
                </a:solidFill>
                <a:latin typeface="Meiryo UI"/>
                <a:ea typeface="Meiryo UI"/>
              </a:rPr>
              <a:t>※ Chỉ số cốt lõi: giải thích được chữ tạo từ gì.</a:t>
            </a:r>
          </a:p>
        </p:txBody>
      </p:sp>
    </p:spTree>
    <p:custDataLst>
      <p:tags r:id="rId3"/>
    </p:custDataLst>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c:title:1"/>
          <p:cNvSpPr>
            <a:spLocks noGrp="1"/>
          </p:cNvSpPr>
          <p:nvPr>
            <p:ph type="title"/>
          </p:nvPr>
        </p:nvSpPr>
        <p:spPr/>
        <p:txBody>
          <a:bodyPr>
            <a:noAutofit/>
          </a:bodyPr>
          <a:lstStyle/>
          <a:p>
            <a:pPr>
              <a:lnSpc>
                <a:spcPts val="3360"/>
              </a:lnSpc>
            </a:pPr>
            <a:r>
              <a:rPr lang="vi-VN" altLang="en-US" sz="2800" dirty="0">
                <a:ea typeface="Meiryo UI"/>
              </a:rPr>
              <a:t>Từ prototype 5 chữ đến 214 bộ thủ</a:t>
            </a:r>
          </a:p>
        </p:txBody>
      </p:sp>
      <p:sp>
        <p:nvSpPr>
          <p:cNvPr id="3" name="Slide Number Placeholder 3">
            <a:extLst>
              <a:ext uri="{FF2B5EF4-FFF2-40B4-BE49-F238E27FC236}">
                <a16:creationId xmlns:a16="http://schemas.microsoft.com/office/drawing/2014/main" id="{13BB62CA-CBF7-31AD-BAA2-F360326FF91D}"/>
              </a:ext>
            </a:extLst>
          </p:cNvPr>
          <p:cNvSpPr>
            <a:spLocks noGrp="1"/>
          </p:cNvSpPr>
          <p:nvPr>
            <p:ph type="sldNum" sz="quarter" idx="12"/>
          </p:nvPr>
        </p:nvSpPr>
        <p:spPr>
          <a:xfrm>
            <a:off x="10330249" y="6415503"/>
            <a:ext cx="1577824" cy="251969"/>
          </a:xfrm>
          <a:prstGeom prst="rect">
            <a:avLst/>
          </a:prstGeom>
        </p:spPr>
        <p:txBody>
          <a:bodyPr/>
          <a:lstStyle>
            <a:lvl1pPr algn="r">
              <a:defRPr sz="1050">
                <a:solidFill>
                  <a:schemeClr val="accent6">
                    <a:lumMod val="60000"/>
                    <a:lumOff val="40000"/>
                  </a:schemeClr>
                </a:solidFill>
              </a:defRPr>
            </a:lvl1pPr>
          </a:lstStyle>
          <a:p>
            <a:r>
              <a:rPr lang="en-US" u="sng" dirty="0" err="1">
                <a:hlinkClick r:id="rId2">
                  <a:extLst>
                    <a:ext uri="{A12FA001-AC4F-418D-AE19-62706E023703}">
                      <ahyp:hlinkClr xmlns:ahyp="http://schemas.microsoft.com/office/drawing/2018/hyperlinkcolor" val="tx"/>
                    </a:ext>
                  </a:extLst>
                </a:hlinkClick>
              </a:rPr>
              <a:t>fptsoftware.com</a:t>
            </a:r>
            <a:r>
              <a:rPr lang="en-US" dirty="0">
                <a:hlinkClick r:id="rId2">
                  <a:extLst>
                    <a:ext uri="{A12FA001-AC4F-418D-AE19-62706E023703}">
                      <ahyp:hlinkClr xmlns:ahyp="http://schemas.microsoft.com/office/drawing/2018/hyperlinkcolor" val="tx"/>
                    </a:ext>
                  </a:extLst>
                </a:hlinkClick>
              </a:rPr>
              <a:t> </a:t>
            </a:r>
            <a:r>
              <a:rPr lang="en-US" dirty="0"/>
              <a:t>| </a:t>
            </a:r>
            <a:fld id="{E012F146-47F9-A646-B182-8CC39B8AD32B}" type="slidenum">
              <a:rPr lang="x-none" smtClean="0"/>
              <a:pPr/>
              <a:t>3</a:t>
            </a:fld>
            <a:endParaRPr lang="x-none"/>
          </a:p>
        </p:txBody>
      </p:sp>
      <p:sp>
        <p:nvSpPr>
          <p:cNvPr id="4" name="sc:li:1"/>
          <p:cNvSpPr txBox="1"/>
          <p:nvPr/>
        </p:nvSpPr>
        <p:spPr>
          <a:xfrm>
            <a:off x="512064" y="1280160"/>
            <a:ext cx="11155680" cy="1306195"/>
          </a:xfrm>
          <a:prstGeom prst="rect">
            <a:avLst/>
          </a:prstGeom>
          <a:noFill/>
          <a:ln>
            <a:noFill/>
          </a:ln>
        </p:spPr>
        <p:txBody>
          <a:bodyPr wrap="square" lIns="0" tIns="0" rIns="0" bIns="0" anchor="t" rtlCol="0">
            <a:noAutofit/>
          </a:bodyPr>
          <a:lstStyle/>
          <a:p>
            <a:pPr marL="177800" indent="-177800" algn="l">
              <a:lnSpc>
                <a:spcPts val="2465"/>
              </a:lnSpc>
              <a:spcBef>
                <a:spcPts val="0"/>
              </a:spcBef>
              <a:spcAft>
                <a:spcPts val="0"/>
              </a:spcAft>
              <a:buFont typeface="Arial"/>
              <a:buChar char="•"/>
            </a:pPr>
            <a:r>
              <a:rPr lang="vi-VN" altLang="en-US" sz="1700" b="0" dirty="0">
                <a:solidFill>
                  <a:srgbClr val="080808"/>
                </a:solidFill>
                <a:latin typeface="Meiryo UI"/>
                <a:ea typeface="Meiryo UI"/>
              </a:rPr>
              <a:t>Kiểm chứng vòng chơi</a:t>
            </a:r>
            <a:endParaRPr lang="en-US" sz="1700" dirty="0"/>
          </a:p>
          <a:p>
            <a:pPr marL="177800" indent="-177800" algn="l">
              <a:lnSpc>
                <a:spcPts val="2465"/>
              </a:lnSpc>
              <a:spcBef>
                <a:spcPts val="1445"/>
              </a:spcBef>
              <a:spcAft>
                <a:spcPts val="0"/>
              </a:spcAft>
              <a:buFont typeface="Arial"/>
              <a:buChar char="•"/>
            </a:pPr>
            <a:r>
              <a:rPr lang="vi-VN" altLang="en-US" sz="1700" b="0" dirty="0">
                <a:solidFill>
                  <a:srgbClr val="080808"/>
                </a:solidFill>
                <a:latin typeface="Meiryo UI"/>
                <a:ea typeface="Meiryo UI"/>
              </a:rPr>
              <a:t>Nhóm chủ đề, độ khó</a:t>
            </a:r>
            <a:endParaRPr lang="en-US" sz="1700" dirty="0"/>
          </a:p>
          <a:p>
            <a:pPr marL="177800" indent="-177800" algn="l">
              <a:lnSpc>
                <a:spcPts val="2465"/>
              </a:lnSpc>
              <a:spcBef>
                <a:spcPts val="1445"/>
              </a:spcBef>
              <a:spcAft>
                <a:spcPts val="0"/>
              </a:spcAft>
              <a:buFont typeface="Arial"/>
              <a:buChar char="•"/>
            </a:pPr>
            <a:r>
              <a:rPr lang="vi-VN" altLang="en-US" sz="1700" b="0" dirty="0">
                <a:solidFill>
                  <a:srgbClr val="080808"/>
                </a:solidFill>
                <a:latin typeface="Meiryo UI"/>
                <a:ea typeface="Meiryo UI"/>
              </a:rPr>
              <a:t>4 giai đoạn</a:t>
            </a:r>
            <a:endParaRPr lang="en-US" sz="1700" dirty="0"/>
          </a:p>
        </p:txBody>
      </p:sp>
      <p:graphicFrame>
        <p:nvGraphicFramePr>
          <p:cNvPr id="5" name="sc:table:1"/>
          <p:cNvGraphicFramePr>
            <a:graphicFrameLocks noGrp="1"/>
          </p:cNvGraphicFramePr>
          <p:nvPr/>
        </p:nvGraphicFramePr>
        <p:xfrm>
          <a:off x="512064" y="2743200"/>
          <a:ext cx="11155680" cy="3072384"/>
        </p:xfrm>
        <a:graphic>
          <a:graphicData uri="http://schemas.openxmlformats.org/drawingml/2006/table">
            <a:tbl>
              <a:tblPr firstRow="1" bandRow="0"/>
              <a:tblGrid>
                <a:gridCol w="4645152"/>
                <a:gridCol w="6510528"/>
              </a:tblGrid>
              <a:tr h="512064">
                <a:tc>
                  <a:txBody>
                    <a:bodyPr wrap="square"/>
                    <a:lstStyle/>
                    <a:p>
                      <a:pPr algn="l">
                        <a:lnSpc>
                          <a:spcPts val="2170"/>
                        </a:lnSpc>
                      </a:pPr>
                      <a:r>
                        <a:rPr lang="vi-VN" altLang="en-US" sz="1400" b="1" dirty="0">
                          <a:solidFill>
                            <a:srgbClr val="FFFFFF"/>
                          </a:solidFill>
                          <a:latin typeface="Meiryo UI"/>
                          <a:ea typeface="Meiryo UI"/>
                        </a:rPr>
                        <a:t>Giai đoạn</a:t>
                      </a:r>
                      <a:endParaRPr lang="en-US" sz="1400" dirty="0"/>
                    </a:p>
                  </a:txBody>
                  <a:tcPr marL="146304" marR="146304" marT="109728" marB="109728" anchor="ctr">
                    <a:lnL w="9525" cap="flat" cmpd="sng" algn="ctr">
                      <a:solidFill>
                        <a:srgbClr val="DCDEE9"/>
                      </a:solidFill>
                      <a:prstDash val="solid"/>
                    </a:lnL>
                    <a:lnR w="9525" cap="flat" cmpd="sng" algn="ctr">
                      <a:solidFill>
                        <a:srgbClr val="DCDEE9"/>
                      </a:solidFill>
                      <a:prstDash val="solid"/>
                    </a:lnR>
                    <a:lnT w="9525" cap="flat" cmpd="sng" algn="ctr">
                      <a:solidFill>
                        <a:srgbClr val="DCDEE9"/>
                      </a:solidFill>
                      <a:prstDash val="solid"/>
                    </a:lnT>
                    <a:lnB w="9525" cap="flat" cmpd="sng" algn="ctr">
                      <a:solidFill>
                        <a:srgbClr val="DCDEE9"/>
                      </a:solidFill>
                      <a:prstDash val="solid"/>
                    </a:lnB>
                    <a:solidFill>
                      <a:srgbClr val="034EA2"/>
                    </a:solidFill>
                  </a:tcPr>
                </a:tc>
                <a:tc>
                  <a:txBody>
                    <a:bodyPr wrap="square"/>
                    <a:lstStyle/>
                    <a:p>
                      <a:pPr algn="l">
                        <a:lnSpc>
                          <a:spcPts val="2170"/>
                        </a:lnSpc>
                      </a:pPr>
                      <a:r>
                        <a:rPr lang="vi-VN" altLang="en-US" sz="1400" b="1" dirty="0">
                          <a:solidFill>
                            <a:srgbClr val="FFFFFF"/>
                          </a:solidFill>
                          <a:latin typeface="Meiryo UI"/>
                          <a:ea typeface="Meiryo UI"/>
                        </a:rPr>
                        <a:t>Quy mô</a:t>
                      </a:r>
                      <a:endParaRPr lang="en-US" sz="1400" dirty="0"/>
                    </a:p>
                  </a:txBody>
                  <a:tcPr marL="146304" marR="146304" marT="109728" marB="109728" anchor="ctr">
                    <a:lnL w="9525" cap="flat" cmpd="sng" algn="ctr">
                      <a:solidFill>
                        <a:srgbClr val="DCDEE9"/>
                      </a:solidFill>
                      <a:prstDash val="solid"/>
                    </a:lnL>
                    <a:lnR w="9525" cap="flat" cmpd="sng" algn="ctr">
                      <a:solidFill>
                        <a:srgbClr val="DCDEE9"/>
                      </a:solidFill>
                      <a:prstDash val="solid"/>
                    </a:lnR>
                    <a:lnT w="9525" cap="flat" cmpd="sng" algn="ctr">
                      <a:solidFill>
                        <a:srgbClr val="DCDEE9"/>
                      </a:solidFill>
                      <a:prstDash val="solid"/>
                    </a:lnT>
                    <a:lnB w="9525" cap="flat" cmpd="sng" algn="ctr">
                      <a:solidFill>
                        <a:srgbClr val="DCDEE9"/>
                      </a:solidFill>
                      <a:prstDash val="solid"/>
                    </a:lnB>
                    <a:solidFill>
                      <a:srgbClr val="034EA2"/>
                    </a:solidFill>
                  </a:tcPr>
                </a:tc>
              </a:tr>
              <a:tr h="512064">
                <a:tc>
                  <a:txBody>
                    <a:bodyPr wrap="square"/>
                    <a:lstStyle/>
                    <a:p>
                      <a:pPr algn="l">
                        <a:lnSpc>
                          <a:spcPts val="2170"/>
                        </a:lnSpc>
                      </a:pPr>
                      <a:r>
                        <a:rPr lang="vi-VN" altLang="en-US" sz="1400" b="0" dirty="0">
                          <a:solidFill>
                            <a:srgbClr val="080808"/>
                          </a:solidFill>
                          <a:latin typeface="Meiryo UI"/>
                          <a:ea typeface="Meiryo UI"/>
                        </a:rPr>
                        <a:t>Prototype</a:t>
                      </a:r>
                      <a:endParaRPr lang="en-US" sz="1400" dirty="0"/>
                    </a:p>
                  </a:txBody>
                  <a:tcPr marL="146304" marR="146304" marT="109728" marB="109728" anchor="ctr">
                    <a:lnL w="9525" cap="flat" cmpd="sng" algn="ctr">
                      <a:solidFill>
                        <a:srgbClr val="DCDEE9"/>
                      </a:solidFill>
                      <a:prstDash val="solid"/>
                    </a:lnL>
                    <a:lnR w="9525" cap="flat" cmpd="sng" algn="ctr">
                      <a:solidFill>
                        <a:srgbClr val="DCDEE9"/>
                      </a:solidFill>
                      <a:prstDash val="solid"/>
                    </a:lnR>
                    <a:lnT w="9525" cap="flat" cmpd="sng" algn="ctr">
                      <a:solidFill>
                        <a:srgbClr val="DCDEE9"/>
                      </a:solidFill>
                      <a:prstDash val="solid"/>
                    </a:lnT>
                    <a:lnB w="9525" cap="flat" cmpd="sng" algn="ctr">
                      <a:solidFill>
                        <a:srgbClr val="DCDEE9"/>
                      </a:solidFill>
                      <a:prstDash val="solid"/>
                    </a:lnB>
                    <a:solidFill>
                      <a:srgbClr val="FFFFFF"/>
                    </a:solidFill>
                  </a:tcPr>
                </a:tc>
                <a:tc>
                  <a:txBody>
                    <a:bodyPr wrap="square"/>
                    <a:lstStyle/>
                    <a:p>
                      <a:pPr algn="l">
                        <a:lnSpc>
                          <a:spcPts val="2170"/>
                        </a:lnSpc>
                      </a:pPr>
                      <a:r>
                        <a:rPr lang="vi-VN" altLang="en-US" sz="1400" b="0" dirty="0">
                          <a:solidFill>
                            <a:srgbClr val="080808"/>
                          </a:solidFill>
                          <a:latin typeface="Meiryo UI"/>
                          <a:ea typeface="Meiryo UI"/>
                        </a:rPr>
                        <a:t>5 Kanji</a:t>
                      </a:r>
                      <a:endParaRPr lang="en-US" sz="1400" dirty="0"/>
                    </a:p>
                  </a:txBody>
                  <a:tcPr marL="146304" marR="146304" marT="109728" marB="109728" anchor="ctr">
                    <a:lnL w="9525" cap="flat" cmpd="sng" algn="ctr">
                      <a:solidFill>
                        <a:srgbClr val="DCDEE9"/>
                      </a:solidFill>
                      <a:prstDash val="solid"/>
                    </a:lnL>
                    <a:lnR w="9525" cap="flat" cmpd="sng" algn="ctr">
                      <a:solidFill>
                        <a:srgbClr val="DCDEE9"/>
                      </a:solidFill>
                      <a:prstDash val="solid"/>
                    </a:lnR>
                    <a:lnT w="9525" cap="flat" cmpd="sng" algn="ctr">
                      <a:solidFill>
                        <a:srgbClr val="DCDEE9"/>
                      </a:solidFill>
                      <a:prstDash val="solid"/>
                    </a:lnT>
                    <a:lnB w="9525" cap="flat" cmpd="sng" algn="ctr">
                      <a:solidFill>
                        <a:srgbClr val="DCDEE9"/>
                      </a:solidFill>
                      <a:prstDash val="solid"/>
                    </a:lnB>
                    <a:solidFill>
                      <a:srgbClr val="FFFFFF"/>
                    </a:solidFill>
                  </a:tcPr>
                </a:tc>
              </a:tr>
              <a:tr h="512064">
                <a:tc>
                  <a:txBody>
                    <a:bodyPr wrap="square"/>
                    <a:lstStyle/>
                    <a:p>
                      <a:pPr algn="l">
                        <a:lnSpc>
                          <a:spcPts val="2170"/>
                        </a:lnSpc>
                      </a:pPr>
                      <a:r>
                        <a:rPr lang="vi-VN" altLang="en-US" sz="1400" b="0" dirty="0">
                          <a:solidFill>
                            <a:srgbClr val="080808"/>
                          </a:solidFill>
                          <a:latin typeface="Meiryo UI"/>
                          <a:ea typeface="Meiryo UI"/>
                        </a:rPr>
                        <a:t>Level packs</a:t>
                      </a:r>
                      <a:endParaRPr lang="en-US" sz="1400" dirty="0"/>
                    </a:p>
                  </a:txBody>
                  <a:tcPr marL="146304" marR="146304" marT="109728" marB="109728" anchor="ctr">
                    <a:lnL w="9525" cap="flat" cmpd="sng" algn="ctr">
                      <a:solidFill>
                        <a:srgbClr val="DCDEE9"/>
                      </a:solidFill>
                      <a:prstDash val="solid"/>
                    </a:lnL>
                    <a:lnR w="9525" cap="flat" cmpd="sng" algn="ctr">
                      <a:solidFill>
                        <a:srgbClr val="DCDEE9"/>
                      </a:solidFill>
                      <a:prstDash val="solid"/>
                    </a:lnR>
                    <a:lnT w="9525" cap="flat" cmpd="sng" algn="ctr">
                      <a:solidFill>
                        <a:srgbClr val="DCDEE9"/>
                      </a:solidFill>
                      <a:prstDash val="solid"/>
                    </a:lnT>
                    <a:lnB w="9525" cap="flat" cmpd="sng" algn="ctr">
                      <a:solidFill>
                        <a:srgbClr val="DCDEE9"/>
                      </a:solidFill>
                      <a:prstDash val="solid"/>
                    </a:lnB>
                    <a:solidFill>
                      <a:srgbClr val="F4F4F8"/>
                    </a:solidFill>
                  </a:tcPr>
                </a:tc>
                <a:tc>
                  <a:txBody>
                    <a:bodyPr wrap="square"/>
                    <a:lstStyle/>
                    <a:p>
                      <a:pPr algn="l">
                        <a:lnSpc>
                          <a:spcPts val="2170"/>
                        </a:lnSpc>
                      </a:pPr>
                      <a:r>
                        <a:rPr lang="vi-VN" altLang="en-US" sz="1400" b="0" dirty="0">
                          <a:solidFill>
                            <a:srgbClr val="080808"/>
                          </a:solidFill>
                          <a:latin typeface="Meiryo UI"/>
                          <a:ea typeface="Meiryo UI"/>
                        </a:rPr>
                        <a:t>80–100 Kanji</a:t>
                      </a:r>
                      <a:endParaRPr lang="en-US" sz="1400" dirty="0"/>
                    </a:p>
                  </a:txBody>
                  <a:tcPr marL="146304" marR="146304" marT="109728" marB="109728" anchor="ctr">
                    <a:lnL w="9525" cap="flat" cmpd="sng" algn="ctr">
                      <a:solidFill>
                        <a:srgbClr val="DCDEE9"/>
                      </a:solidFill>
                      <a:prstDash val="solid"/>
                    </a:lnL>
                    <a:lnR w="9525" cap="flat" cmpd="sng" algn="ctr">
                      <a:solidFill>
                        <a:srgbClr val="DCDEE9"/>
                      </a:solidFill>
                      <a:prstDash val="solid"/>
                    </a:lnR>
                    <a:lnT w="9525" cap="flat" cmpd="sng" algn="ctr">
                      <a:solidFill>
                        <a:srgbClr val="DCDEE9"/>
                      </a:solidFill>
                      <a:prstDash val="solid"/>
                    </a:lnT>
                    <a:lnB w="9525" cap="flat" cmpd="sng" algn="ctr">
                      <a:solidFill>
                        <a:srgbClr val="DCDEE9"/>
                      </a:solidFill>
                      <a:prstDash val="solid"/>
                    </a:lnB>
                    <a:solidFill>
                      <a:srgbClr val="F4F4F8"/>
                    </a:solidFill>
                  </a:tcPr>
                </a:tc>
              </a:tr>
              <a:tr h="512064">
                <a:tc>
                  <a:txBody>
                    <a:bodyPr wrap="square"/>
                    <a:lstStyle/>
                    <a:p>
                      <a:pPr algn="l">
                        <a:lnSpc>
                          <a:spcPts val="2170"/>
                        </a:lnSpc>
                      </a:pPr>
                      <a:r>
                        <a:rPr lang="vi-VN" altLang="en-US" sz="1400" b="0" dirty="0">
                          <a:solidFill>
                            <a:srgbClr val="080808"/>
                          </a:solidFill>
                          <a:latin typeface="Meiryo UI"/>
                          <a:ea typeface="Meiryo UI"/>
                        </a:rPr>
                        <a:t>Mastery</a:t>
                      </a:r>
                      <a:endParaRPr lang="en-US" sz="1400" dirty="0"/>
                    </a:p>
                  </a:txBody>
                  <a:tcPr marL="146304" marR="146304" marT="109728" marB="109728" anchor="ctr">
                    <a:lnL w="9525" cap="flat" cmpd="sng" algn="ctr">
                      <a:solidFill>
                        <a:srgbClr val="DCDEE9"/>
                      </a:solidFill>
                      <a:prstDash val="solid"/>
                    </a:lnL>
                    <a:lnR w="9525" cap="flat" cmpd="sng" algn="ctr">
                      <a:solidFill>
                        <a:srgbClr val="DCDEE9"/>
                      </a:solidFill>
                      <a:prstDash val="solid"/>
                    </a:lnR>
                    <a:lnT w="9525" cap="flat" cmpd="sng" algn="ctr">
                      <a:solidFill>
                        <a:srgbClr val="DCDEE9"/>
                      </a:solidFill>
                      <a:prstDash val="solid"/>
                    </a:lnT>
                    <a:lnB w="9525" cap="flat" cmpd="sng" algn="ctr">
                      <a:solidFill>
                        <a:srgbClr val="DCDEE9"/>
                      </a:solidFill>
                      <a:prstDash val="solid"/>
                    </a:lnB>
                    <a:solidFill>
                      <a:srgbClr val="FFFFFF"/>
                    </a:solidFill>
                  </a:tcPr>
                </a:tc>
                <a:tc>
                  <a:txBody>
                    <a:bodyPr wrap="square"/>
                    <a:lstStyle/>
                    <a:p>
                      <a:pPr algn="l">
                        <a:lnSpc>
                          <a:spcPts val="2170"/>
                        </a:lnSpc>
                      </a:pPr>
                      <a:r>
                        <a:rPr lang="vi-VN" altLang="en-US" sz="1400" b="0" dirty="0">
                          <a:solidFill>
                            <a:srgbClr val="080808"/>
                          </a:solidFill>
                          <a:latin typeface="Meiryo UI"/>
                          <a:ea typeface="Meiryo UI"/>
                        </a:rPr>
                        <a:t>Ôn lại thông minh</a:t>
                      </a:r>
                      <a:endParaRPr lang="en-US" sz="1400" dirty="0"/>
                    </a:p>
                  </a:txBody>
                  <a:tcPr marL="146304" marR="146304" marT="109728" marB="109728" anchor="ctr">
                    <a:lnL w="9525" cap="flat" cmpd="sng" algn="ctr">
                      <a:solidFill>
                        <a:srgbClr val="DCDEE9"/>
                      </a:solidFill>
                      <a:prstDash val="solid"/>
                    </a:lnL>
                    <a:lnR w="9525" cap="flat" cmpd="sng" algn="ctr">
                      <a:solidFill>
                        <a:srgbClr val="DCDEE9"/>
                      </a:solidFill>
                      <a:prstDash val="solid"/>
                    </a:lnR>
                    <a:lnT w="9525" cap="flat" cmpd="sng" algn="ctr">
                      <a:solidFill>
                        <a:srgbClr val="DCDEE9"/>
                      </a:solidFill>
                      <a:prstDash val="solid"/>
                    </a:lnT>
                    <a:lnB w="9525" cap="flat" cmpd="sng" algn="ctr">
                      <a:solidFill>
                        <a:srgbClr val="DCDEE9"/>
                      </a:solidFill>
                      <a:prstDash val="solid"/>
                    </a:lnB>
                    <a:solidFill>
                      <a:srgbClr val="FFFFFF"/>
                    </a:solidFill>
                  </a:tcPr>
                </a:tc>
              </a:tr>
              <a:tr h="512064">
                <a:tc>
                  <a:txBody>
                    <a:bodyPr wrap="square"/>
                    <a:lstStyle/>
                    <a:p>
                      <a:pPr algn="l">
                        <a:lnSpc>
                          <a:spcPts val="2170"/>
                        </a:lnSpc>
                      </a:pPr>
                      <a:r>
                        <a:rPr lang="vi-VN" altLang="en-US" sz="1400" b="0" dirty="0">
                          <a:solidFill>
                            <a:srgbClr val="080808"/>
                          </a:solidFill>
                          <a:latin typeface="Meiryo UI"/>
                          <a:ea typeface="Meiryo UI"/>
                        </a:rPr>
                        <a:t>Creation</a:t>
                      </a:r>
                      <a:endParaRPr lang="en-US" sz="1400" dirty="0"/>
                    </a:p>
                  </a:txBody>
                  <a:tcPr marL="146304" marR="146304" marT="109728" marB="109728" anchor="ctr">
                    <a:lnL w="9525" cap="flat" cmpd="sng" algn="ctr">
                      <a:solidFill>
                        <a:srgbClr val="DCDEE9"/>
                      </a:solidFill>
                      <a:prstDash val="solid"/>
                    </a:lnL>
                    <a:lnR w="9525" cap="flat" cmpd="sng" algn="ctr">
                      <a:solidFill>
                        <a:srgbClr val="DCDEE9"/>
                      </a:solidFill>
                      <a:prstDash val="solid"/>
                    </a:lnR>
                    <a:lnT w="9525" cap="flat" cmpd="sng" algn="ctr">
                      <a:solidFill>
                        <a:srgbClr val="DCDEE9"/>
                      </a:solidFill>
                      <a:prstDash val="solid"/>
                    </a:lnT>
                    <a:lnB w="9525" cap="flat" cmpd="sng" algn="ctr">
                      <a:solidFill>
                        <a:srgbClr val="DCDEE9"/>
                      </a:solidFill>
                      <a:prstDash val="solid"/>
                    </a:lnB>
                    <a:solidFill>
                      <a:srgbClr val="F4F4F8"/>
                    </a:solidFill>
                  </a:tcPr>
                </a:tc>
                <a:tc>
                  <a:txBody>
                    <a:bodyPr wrap="square"/>
                    <a:lstStyle/>
                    <a:p>
                      <a:pPr algn="l">
                        <a:lnSpc>
                          <a:spcPts val="2170"/>
                        </a:lnSpc>
                      </a:pPr>
                      <a:r>
                        <a:rPr lang="vi-VN" altLang="en-US" sz="1400" b="0" dirty="0">
                          <a:solidFill>
                            <a:srgbClr val="080808"/>
                          </a:solidFill>
                          <a:latin typeface="Meiryo UI"/>
                          <a:ea typeface="Meiryo UI"/>
                        </a:rPr>
                        <a:t>214 bộ thủ</a:t>
                      </a:r>
                      <a:endParaRPr lang="en-US" sz="1400" dirty="0"/>
                    </a:p>
                  </a:txBody>
                  <a:tcPr marL="146304" marR="146304" marT="109728" marB="109728" anchor="ctr">
                    <a:lnL w="9525" cap="flat" cmpd="sng" algn="ctr">
                      <a:solidFill>
                        <a:srgbClr val="DCDEE9"/>
                      </a:solidFill>
                      <a:prstDash val="solid"/>
                    </a:lnL>
                    <a:lnR w="9525" cap="flat" cmpd="sng" algn="ctr">
                      <a:solidFill>
                        <a:srgbClr val="DCDEE9"/>
                      </a:solidFill>
                      <a:prstDash val="solid"/>
                    </a:lnR>
                    <a:lnT w="9525" cap="flat" cmpd="sng" algn="ctr">
                      <a:solidFill>
                        <a:srgbClr val="DCDEE9"/>
                      </a:solidFill>
                      <a:prstDash val="solid"/>
                    </a:lnT>
                    <a:lnB w="9525" cap="flat" cmpd="sng" algn="ctr">
                      <a:solidFill>
                        <a:srgbClr val="DCDEE9"/>
                      </a:solidFill>
                      <a:prstDash val="solid"/>
                    </a:lnB>
                    <a:solidFill>
                      <a:srgbClr val="F4F4F8"/>
                    </a:solidFill>
                  </a:tcPr>
                </a:tc>
              </a:tr>
              <a:tr h="512064">
                <a:tc>
                  <a:txBody>
                    <a:bodyPr wrap="square"/>
                    <a:lstStyle/>
                    <a:p>
                      <a:pPr algn="l">
                        <a:lnSpc>
                          <a:spcPts val="2170"/>
                        </a:lnSpc>
                      </a:pPr>
                      <a:r>
                        <a:rPr lang="vi-VN" altLang="en-US" sz="1400" b="0" dirty="0">
                          <a:solidFill>
                            <a:srgbClr val="080808"/>
                          </a:solidFill>
                          <a:latin typeface="Meiryo UI"/>
                          <a:ea typeface="Meiryo UI"/>
                        </a:rPr>
                        <a:t>Mục tiêu</a:t>
                      </a:r>
                      <a:endParaRPr lang="en-US" sz="1400" dirty="0"/>
                    </a:p>
                  </a:txBody>
                  <a:tcPr marL="146304" marR="146304" marT="109728" marB="109728" anchor="ctr">
                    <a:lnL w="9525" cap="flat" cmpd="sng" algn="ctr">
                      <a:solidFill>
                        <a:srgbClr val="DCDEE9"/>
                      </a:solidFill>
                      <a:prstDash val="solid"/>
                    </a:lnL>
                    <a:lnR w="9525" cap="flat" cmpd="sng" algn="ctr">
                      <a:solidFill>
                        <a:srgbClr val="DCDEE9"/>
                      </a:solidFill>
                      <a:prstDash val="solid"/>
                    </a:lnR>
                    <a:lnT w="9525" cap="flat" cmpd="sng" algn="ctr">
                      <a:solidFill>
                        <a:srgbClr val="DCDEE9"/>
                      </a:solidFill>
                      <a:prstDash val="solid"/>
                    </a:lnT>
                    <a:lnB w="9525" cap="flat" cmpd="sng" algn="ctr">
                      <a:solidFill>
                        <a:srgbClr val="DCDEE9"/>
                      </a:solidFill>
                      <a:prstDash val="solid"/>
                    </a:lnB>
                    <a:solidFill>
                      <a:srgbClr val="FFFFFF"/>
                    </a:solidFill>
                  </a:tcPr>
                </a:tc>
                <a:tc>
                  <a:txBody>
                    <a:bodyPr wrap="square"/>
                    <a:lstStyle/>
                    <a:p>
                      <a:pPr algn="l">
                        <a:lnSpc>
                          <a:spcPts val="2170"/>
                        </a:lnSpc>
                      </a:pPr>
                      <a:r>
                        <a:rPr lang="vi-VN" altLang="en-US" sz="1400" b="0" dirty="0">
                          <a:solidFill>
                            <a:srgbClr val="080808"/>
                          </a:solidFill>
                          <a:latin typeface="Meiryo UI"/>
                          <a:ea typeface="Meiryo UI"/>
                        </a:rPr>
                        <a:t>Tra cứu biến thể</a:t>
                      </a:r>
                      <a:endParaRPr lang="en-US" sz="1400" dirty="0"/>
                    </a:p>
                  </a:txBody>
                  <a:tcPr marL="146304" marR="146304" marT="109728" marB="109728" anchor="ctr">
                    <a:lnL w="9525" cap="flat" cmpd="sng" algn="ctr">
                      <a:solidFill>
                        <a:srgbClr val="DCDEE9"/>
                      </a:solidFill>
                      <a:prstDash val="solid"/>
                    </a:lnL>
                    <a:lnR w="9525" cap="flat" cmpd="sng" algn="ctr">
                      <a:solidFill>
                        <a:srgbClr val="DCDEE9"/>
                      </a:solidFill>
                      <a:prstDash val="solid"/>
                    </a:lnR>
                    <a:lnT w="9525" cap="flat" cmpd="sng" algn="ctr">
                      <a:solidFill>
                        <a:srgbClr val="DCDEE9"/>
                      </a:solidFill>
                      <a:prstDash val="solid"/>
                    </a:lnT>
                    <a:lnB w="9525" cap="flat" cmpd="sng" algn="ctr">
                      <a:solidFill>
                        <a:srgbClr val="DCDEE9"/>
                      </a:solidFill>
                      <a:prstDash val="solid"/>
                    </a:lnB>
                    <a:solidFill>
                      <a:srgbClr val="FFFFFF"/>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C269BBB-2514-4595-03DA-0B46FD31D06E}"/>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9373" y="-37724"/>
            <a:ext cx="12211373" cy="6913258"/>
          </a:xfrm>
          <a:prstGeom prst="rect">
            <a:avLst/>
          </a:prstGeom>
        </p:spPr>
      </p:pic>
      <p:sp>
        <p:nvSpPr>
          <p:cNvPr id="3" name="Rectangle 2">
            <a:extLst>
              <a:ext uri="{FF2B5EF4-FFF2-40B4-BE49-F238E27FC236}">
                <a16:creationId xmlns:a16="http://schemas.microsoft.com/office/drawing/2014/main" id="{17CE3B75-7EF5-593F-0DA9-2AD91F8B671D}"/>
              </a:ext>
            </a:extLst>
          </p:cNvPr>
          <p:cNvSpPr/>
          <p:nvPr/>
        </p:nvSpPr>
        <p:spPr>
          <a:xfrm>
            <a:off x="-19373" y="-37724"/>
            <a:ext cx="12211374" cy="6913258"/>
          </a:xfrm>
          <a:prstGeom prst="rect">
            <a:avLst/>
          </a:prstGeom>
          <a:gradFill flip="none" rotWithShape="1">
            <a:gsLst>
              <a:gs pos="0">
                <a:schemeClr val="tx2">
                  <a:lumMod val="50000"/>
                  <a:alpha val="59714"/>
                </a:schemeClr>
              </a:gs>
              <a:gs pos="66000">
                <a:schemeClr val="tx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dirty="0">
              <a:ln>
                <a:noFill/>
              </a:ln>
              <a:solidFill>
                <a:srgbClr val="FFFFFF"/>
              </a:solidFill>
              <a:effectLst/>
              <a:uLnTx/>
              <a:uFillTx/>
              <a:latin typeface="Segoe UI" panose="020B0502040204020203" pitchFamily="34" charset="0"/>
              <a:cs typeface="Segoe UI" panose="020B0502040204020203" pitchFamily="34" charset="0"/>
            </a:endParaRPr>
          </a:p>
        </p:txBody>
      </p:sp>
      <p:sp>
        <p:nvSpPr>
          <p:cNvPr id="4" name="Rectangle 3">
            <a:extLst>
              <a:ext uri="{FF2B5EF4-FFF2-40B4-BE49-F238E27FC236}">
                <a16:creationId xmlns:a16="http://schemas.microsoft.com/office/drawing/2014/main" id="{6046D1DC-44CD-DA33-866C-2E84AA0FCDDC}"/>
              </a:ext>
            </a:extLst>
          </p:cNvPr>
          <p:cNvSpPr/>
          <p:nvPr/>
        </p:nvSpPr>
        <p:spPr>
          <a:xfrm>
            <a:off x="0" y="-23446"/>
            <a:ext cx="12192000" cy="6913258"/>
          </a:xfrm>
          <a:prstGeom prst="rect">
            <a:avLst/>
          </a:prstGeom>
          <a:gradFill>
            <a:gsLst>
              <a:gs pos="0">
                <a:schemeClr val="tx1">
                  <a:alpha val="87626"/>
                </a:schemeClr>
              </a:gs>
              <a:gs pos="47000">
                <a:schemeClr val="tx1">
                  <a:alpha val="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dirty="0">
              <a:ln>
                <a:noFill/>
              </a:ln>
              <a:solidFill>
                <a:srgbClr val="FFFFFF"/>
              </a:solidFill>
              <a:effectLst/>
              <a:uLnTx/>
              <a:uFillTx/>
              <a:latin typeface="Segoe UI" panose="020B0502040204020203" pitchFamily="34" charset="0"/>
              <a:cs typeface="Segoe UI" panose="020B0502040204020203" pitchFamily="34" charset="0"/>
            </a:endParaRPr>
          </a:p>
        </p:txBody>
      </p:sp>
      <p:sp>
        <p:nvSpPr>
          <p:cNvPr id="6" name="Google Shape;1150;p39">
            <a:extLst>
              <a:ext uri="{FF2B5EF4-FFF2-40B4-BE49-F238E27FC236}">
                <a16:creationId xmlns:a16="http://schemas.microsoft.com/office/drawing/2014/main" id="{29FD8AF8-368E-2115-088F-92547837F99C}"/>
              </a:ext>
            </a:extLst>
          </p:cNvPr>
          <p:cNvSpPr txBox="1">
            <a:spLocks/>
          </p:cNvSpPr>
          <p:nvPr/>
        </p:nvSpPr>
        <p:spPr>
          <a:xfrm>
            <a:off x="567020" y="3144345"/>
            <a:ext cx="4006211" cy="87153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90000"/>
              </a:lnSpc>
              <a:spcBef>
                <a:spcPts val="0"/>
              </a:spcBef>
              <a:spcAft>
                <a:spcPts val="0"/>
              </a:spcAft>
              <a:buClr>
                <a:srgbClr val="172271"/>
              </a:buClr>
              <a:buSzPts val="4800"/>
              <a:buFont typeface="Arial"/>
              <a:buNone/>
              <a:tabLst/>
              <a:defRPr/>
            </a:pPr>
            <a:r>
              <a:rPr kumimoji="0" lang="en-US" sz="4400" b="1" i="0" u="none" strike="noStrike" kern="1200" cap="none" spc="0" normalizeH="0" baseline="0" noProof="0" dirty="0">
                <a:ln>
                  <a:noFill/>
                </a:ln>
                <a:solidFill>
                  <a:schemeClr val="bg1"/>
                </a:solidFill>
                <a:effectLst>
                  <a:outerShdw blurRad="383192" dist="50800" dir="8307144" algn="ctr" rotWithShape="0">
                    <a:srgbClr val="000000">
                      <a:alpha val="24864"/>
                    </a:srgbClr>
                  </a:outerShdw>
                </a:effectLst>
                <a:uLnTx/>
                <a:uFillTx/>
                <a:latin typeface="Segoe UI" panose="020B0502040204020203" pitchFamily="34" charset="0"/>
                <a:cs typeface="Segoe UI" panose="020B0502040204020203" pitchFamily="34" charset="0"/>
                <a:sym typeface="Arial"/>
              </a:rPr>
              <a:t>THANK YOU!</a:t>
            </a:r>
          </a:p>
        </p:txBody>
      </p:sp>
      <p:pic>
        <p:nvPicPr>
          <p:cNvPr id="7" name="Picture 6">
            <a:extLst>
              <a:ext uri="{FF2B5EF4-FFF2-40B4-BE49-F238E27FC236}">
                <a16:creationId xmlns:a16="http://schemas.microsoft.com/office/drawing/2014/main" id="{7C690464-E26C-9873-6E67-877A770E42C1}"/>
              </a:ext>
            </a:extLst>
          </p:cNvPr>
          <p:cNvPicPr>
            <a:picLocks noChangeAspect="1"/>
          </p:cNvPicPr>
          <p:nvPr/>
        </p:nvPicPr>
        <p:blipFill>
          <a:blip r:embed="rId4"/>
          <a:stretch>
            <a:fillRect/>
          </a:stretch>
        </p:blipFill>
        <p:spPr>
          <a:xfrm>
            <a:off x="673100" y="607244"/>
            <a:ext cx="2222500" cy="700368"/>
          </a:xfrm>
          <a:prstGeom prst="rect">
            <a:avLst/>
          </a:prstGeom>
        </p:spPr>
      </p:pic>
    </p:spTree>
    <p:extLst>
      <p:ext uri="{BB962C8B-B14F-4D97-AF65-F5344CB8AC3E}">
        <p14:creationId xmlns:p14="http://schemas.microsoft.com/office/powerpoint/2010/main" val="494418839"/>
      </p:ext>
    </p:extLst>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c:title:1"/>
          <p:cNvSpPr>
            <a:spLocks noGrp="1"/>
          </p:cNvSpPr>
          <p:nvPr>
            <p:ph type="title"/>
          </p:nvPr>
        </p:nvSpPr>
        <p:spPr/>
        <p:txBody>
          <a:bodyPr>
            <a:noAutofit/>
          </a:bodyPr>
          <a:lstStyle/>
          <a:p>
            <a:pPr>
              <a:lnSpc>
                <a:spcPts val="3360"/>
              </a:lnSpc>
            </a:pPr>
            <a:r>
              <a:rPr lang="vi-VN" altLang="en-US" sz="2800" dirty="0">
                <a:ea typeface="Meiryo UI"/>
              </a:rPr>
              <a:t>Xây Kanji như một mô hình</a:t>
            </a:r>
          </a:p>
        </p:txBody>
      </p:sp>
      <p:sp>
        <p:nvSpPr>
          <p:cNvPr id="3" name="Slide Number Placeholder 3">
            <a:extLst>
              <a:ext uri="{FF2B5EF4-FFF2-40B4-BE49-F238E27FC236}">
                <a16:creationId xmlns:a16="http://schemas.microsoft.com/office/drawing/2014/main" id="{13BB62CA-CBF7-31AD-BAA2-F360326FF91D}"/>
              </a:ext>
            </a:extLst>
          </p:cNvPr>
          <p:cNvSpPr>
            <a:spLocks noGrp="1"/>
          </p:cNvSpPr>
          <p:nvPr>
            <p:ph type="sldNum" sz="quarter" idx="12"/>
          </p:nvPr>
        </p:nvSpPr>
        <p:spPr>
          <a:xfrm>
            <a:off x="10330249" y="6415503"/>
            <a:ext cx="1577824" cy="251969"/>
          </a:xfrm>
          <a:prstGeom prst="rect">
            <a:avLst/>
          </a:prstGeom>
        </p:spPr>
        <p:txBody>
          <a:bodyPr/>
          <a:lstStyle>
            <a:lvl1pPr algn="r">
              <a:defRPr sz="1050">
                <a:solidFill>
                  <a:schemeClr val="accent6">
                    <a:lumMod val="60000"/>
                    <a:lumOff val="40000"/>
                  </a:schemeClr>
                </a:solidFill>
              </a:defRPr>
            </a:lvl1pPr>
          </a:lstStyle>
          <a:p>
            <a:r>
              <a:rPr lang="en-US" u="sng" dirty="0" err="1">
                <a:hlinkClick r:id="rId2">
                  <a:extLst>
                    <a:ext uri="{A12FA001-AC4F-418D-AE19-62706E023703}">
                      <ahyp:hlinkClr xmlns:ahyp="http://schemas.microsoft.com/office/drawing/2018/hyperlinkcolor" val="tx"/>
                    </a:ext>
                  </a:extLst>
                </a:hlinkClick>
              </a:rPr>
              <a:t>fptsoftware.com</a:t>
            </a:r>
            <a:r>
              <a:rPr lang="en-US" dirty="0">
                <a:hlinkClick r:id="rId2">
                  <a:extLst>
                    <a:ext uri="{A12FA001-AC4F-418D-AE19-62706E023703}">
                      <ahyp:hlinkClr xmlns:ahyp="http://schemas.microsoft.com/office/drawing/2018/hyperlinkcolor" val="tx"/>
                    </a:ext>
                  </a:extLst>
                </a:hlinkClick>
              </a:rPr>
              <a:t> </a:t>
            </a:r>
            <a:r>
              <a:rPr lang="en-US" dirty="0"/>
              <a:t>| </a:t>
            </a:r>
            <a:fld id="{E012F146-47F9-A646-B182-8CC39B8AD32B}" type="slidenum">
              <a:rPr lang="x-none" smtClean="0"/>
              <a:pPr/>
              <a:t>3</a:t>
            </a:fld>
            <a:endParaRPr lang="x-none"/>
          </a:p>
        </p:txBody>
      </p:sp>
      <p:sp>
        <p:nvSpPr>
          <p:cNvPr id="4" name="sc:lead:1"/>
          <p:cNvSpPr txBox="1"/>
          <p:nvPr/>
        </p:nvSpPr>
        <p:spPr>
          <a:xfrm>
            <a:off x="512064" y="987552"/>
            <a:ext cx="11155680" cy="257175"/>
          </a:xfrm>
          <a:prstGeom prst="rect">
            <a:avLst/>
          </a:prstGeom>
          <a:noFill/>
          <a:ln>
            <a:noFill/>
          </a:ln>
        </p:spPr>
        <p:txBody>
          <a:bodyPr wrap="square" lIns="0" tIns="0" rIns="0" bIns="0" anchor="t" rtlCol="0">
            <a:noAutofit/>
          </a:bodyPr>
          <a:lstStyle/>
          <a:p>
            <a:pPr marL="0" indent="0" algn="l">
              <a:lnSpc>
                <a:spcPts val="2025"/>
              </a:lnSpc>
              <a:spcBef>
                <a:spcPts val="0"/>
              </a:spcBef>
              <a:spcAft>
                <a:spcPts val="0"/>
              </a:spcAft>
              <a:buNone/>
            </a:pPr>
            <a:r>
              <a:rPr lang="vi-VN" altLang="en-US" sz="1500" b="1" dirty="0">
                <a:solidFill>
                  <a:srgbClr val="19226D"/>
                </a:solidFill>
                <a:latin typeface="Meiryo UI"/>
                <a:ea typeface="Meiryo UI"/>
              </a:rPr>
              <a:t>Không học như hình vẽ; xây như mô hình.</a:t>
            </a:r>
            <a:endParaRPr lang="en-US" sz="1500" dirty="0"/>
          </a:p>
        </p:txBody>
      </p:sp>
      <p:cxnSp>
        <p:nvCxnSpPr>
          <p:cNvPr id="11" name="pd:s-conclusion:loop.edge:1"/>
          <p:cNvCxnSpPr>
            <a:stCxn id="7" idx="3"/>
            <a:endCxn id="8" idx="0"/>
          </p:cNvCxnSpPr>
          <p:nvPr/>
        </p:nvCxnSpPr>
        <p:spPr>
          <a:xfrm>
            <a:off x="7315200" y="1975104"/>
            <a:ext cx="1865376" cy="1024128"/>
          </a:xfrm>
          <a:prstGeom prst="bentConnector2">
            <a:avLst/>
          </a:prstGeom>
          <a:ln w="12700" cap="flat">
            <a:solidFill>
              <a:srgbClr val="19226D">
                <a:alpha val="70000"/>
              </a:srgbClr>
            </a:solidFill>
            <a:round/>
            <a:tailEnd type="triangle" w="sm" len="sm"/>
          </a:ln>
        </p:spPr>
      </p:cxnSp>
      <p:cxnSp>
        <p:nvCxnSpPr>
          <p:cNvPr id="12" name="pd:s-conclusion:loop.edge:2"/>
          <p:cNvCxnSpPr>
            <a:stCxn id="9" idx="3"/>
            <a:endCxn id="8" idx="2"/>
          </p:cNvCxnSpPr>
          <p:nvPr/>
        </p:nvCxnSpPr>
        <p:spPr>
          <a:xfrm flipV="1">
            <a:off x="7315200" y="3803904"/>
            <a:ext cx="1865376" cy="1024128"/>
          </a:xfrm>
          <a:prstGeom prst="bentConnector2">
            <a:avLst/>
          </a:prstGeom>
          <a:ln w="12700" cap="flat">
            <a:solidFill>
              <a:srgbClr val="19226D">
                <a:alpha val="70000"/>
              </a:srgbClr>
            </a:solidFill>
            <a:round/>
            <a:headEnd type="triangle" w="sm" len="sm"/>
          </a:ln>
        </p:spPr>
      </p:cxnSp>
      <p:cxnSp>
        <p:nvCxnSpPr>
          <p:cNvPr id="13" name="pd:s-conclusion:loop.edge:3"/>
          <p:cNvCxnSpPr>
            <a:stCxn id="9" idx="1"/>
            <a:endCxn id="10" idx="2"/>
          </p:cNvCxnSpPr>
          <p:nvPr/>
        </p:nvCxnSpPr>
        <p:spPr>
          <a:xfrm flipH="1" flipV="1">
            <a:off x="2962656" y="3803904"/>
            <a:ext cx="1865376" cy="1024128"/>
          </a:xfrm>
          <a:prstGeom prst="bentConnector2">
            <a:avLst/>
          </a:prstGeom>
          <a:ln w="12700" cap="flat">
            <a:solidFill>
              <a:srgbClr val="19226D">
                <a:alpha val="70000"/>
              </a:srgbClr>
            </a:solidFill>
            <a:round/>
            <a:tailEnd type="triangle" w="sm" len="sm"/>
          </a:ln>
        </p:spPr>
      </p:cxnSp>
      <p:cxnSp>
        <p:nvCxnSpPr>
          <p:cNvPr id="14" name="pd:s-conclusion:loop.edge:4"/>
          <p:cNvCxnSpPr>
            <a:stCxn id="7" idx="1"/>
            <a:endCxn id="10" idx="0"/>
          </p:cNvCxnSpPr>
          <p:nvPr/>
        </p:nvCxnSpPr>
        <p:spPr>
          <a:xfrm flipH="1">
            <a:off x="2962656" y="1975104"/>
            <a:ext cx="1865376" cy="1024128"/>
          </a:xfrm>
          <a:prstGeom prst="bentConnector2">
            <a:avLst/>
          </a:prstGeom>
          <a:ln w="12700" cap="flat">
            <a:solidFill>
              <a:srgbClr val="19226D">
                <a:alpha val="70000"/>
              </a:srgbClr>
            </a:solidFill>
            <a:round/>
            <a:headEnd type="triangle" w="sm" len="sm"/>
          </a:ln>
        </p:spPr>
      </p:cxnSp>
      <p:cxnSp>
        <p:nvCxnSpPr>
          <p:cNvPr id="15" name="pd:s-conclusion:loop.edge:5"/>
          <p:cNvCxnSpPr>
            <a:stCxn id="7" idx="2"/>
            <a:endCxn id="6" idx="0"/>
          </p:cNvCxnSpPr>
          <p:nvPr/>
        </p:nvCxnSpPr>
        <p:spPr>
          <a:xfrm>
            <a:off x="6071616" y="2377440"/>
            <a:ext cx="0" cy="621792"/>
          </a:xfrm>
          <a:prstGeom prst="straightConnector1">
            <a:avLst/>
          </a:prstGeom>
          <a:ln w="12700" cap="flat">
            <a:solidFill>
              <a:srgbClr val="19226D">
                <a:alpha val="30000"/>
              </a:srgbClr>
            </a:solidFill>
            <a:prstDash val="dash"/>
            <a:round/>
            <a:tailEnd type="triangle" w="sm" len="sm"/>
          </a:ln>
        </p:spPr>
      </p:cxnSp>
      <p:cxnSp>
        <p:nvCxnSpPr>
          <p:cNvPr id="16" name="pd:s-conclusion:loop.edge:6"/>
          <p:cNvCxnSpPr>
            <a:stCxn id="8" idx="1"/>
            <a:endCxn id="6" idx="3"/>
          </p:cNvCxnSpPr>
          <p:nvPr/>
        </p:nvCxnSpPr>
        <p:spPr>
          <a:xfrm flipH="1">
            <a:off x="7315200" y="3401568"/>
            <a:ext cx="621792" cy="0"/>
          </a:xfrm>
          <a:prstGeom prst="straightConnector1">
            <a:avLst/>
          </a:prstGeom>
          <a:ln w="12700" cap="flat">
            <a:solidFill>
              <a:srgbClr val="19226D">
                <a:alpha val="30000"/>
              </a:srgbClr>
            </a:solidFill>
            <a:prstDash val="dash"/>
            <a:round/>
            <a:tailEnd type="triangle" w="sm" len="sm"/>
          </a:ln>
        </p:spPr>
      </p:cxnSp>
      <p:cxnSp>
        <p:nvCxnSpPr>
          <p:cNvPr id="17" name="pd:s-conclusion:loop.edge:7"/>
          <p:cNvCxnSpPr>
            <a:stCxn id="9" idx="0"/>
            <a:endCxn id="6" idx="2"/>
          </p:cNvCxnSpPr>
          <p:nvPr/>
        </p:nvCxnSpPr>
        <p:spPr>
          <a:xfrm flipV="1">
            <a:off x="6071616" y="3803904"/>
            <a:ext cx="0" cy="621792"/>
          </a:xfrm>
          <a:prstGeom prst="straightConnector1">
            <a:avLst/>
          </a:prstGeom>
          <a:ln w="12700" cap="flat">
            <a:solidFill>
              <a:srgbClr val="19226D">
                <a:alpha val="30000"/>
              </a:srgbClr>
            </a:solidFill>
            <a:prstDash val="dash"/>
            <a:round/>
            <a:tailEnd type="triangle" w="sm" len="sm"/>
          </a:ln>
        </p:spPr>
      </p:cxnSp>
      <p:cxnSp>
        <p:nvCxnSpPr>
          <p:cNvPr id="18" name="pd:s-conclusion:loop.edge:8"/>
          <p:cNvCxnSpPr>
            <a:stCxn id="10" idx="3"/>
            <a:endCxn id="6" idx="1"/>
          </p:cNvCxnSpPr>
          <p:nvPr/>
        </p:nvCxnSpPr>
        <p:spPr>
          <a:xfrm>
            <a:off x="4206240" y="3401568"/>
            <a:ext cx="621792" cy="0"/>
          </a:xfrm>
          <a:prstGeom prst="straightConnector1">
            <a:avLst/>
          </a:prstGeom>
          <a:ln w="12700" cap="flat">
            <a:solidFill>
              <a:srgbClr val="19226D">
                <a:alpha val="30000"/>
              </a:srgbClr>
            </a:solidFill>
            <a:prstDash val="dash"/>
            <a:round/>
            <a:tailEnd type="triangle" w="sm" len="sm"/>
          </a:ln>
        </p:spPr>
      </p:cxnSp>
      <p:cxnSp>
        <p:nvCxnSpPr>
          <p:cNvPr id="19" name="pd:s-conclusion:loop.sep:1"/>
          <p:cNvCxnSpPr/>
          <p:nvPr/>
        </p:nvCxnSpPr>
        <p:spPr>
          <a:xfrm>
            <a:off x="512064" y="5376672"/>
            <a:ext cx="11155680" cy="0"/>
          </a:xfrm>
          <a:prstGeom prst="line">
            <a:avLst/>
          </a:prstGeom>
          <a:ln w="9525" cap="flat">
            <a:solidFill>
              <a:srgbClr val="19226D">
                <a:alpha val="15000"/>
              </a:srgbClr>
            </a:solidFill>
            <a:round/>
          </a:ln>
        </p:spPr>
      </p:cxnSp>
      <p:cxnSp>
        <p:nvCxnSpPr>
          <p:cNvPr id="26" name="pd:s-conclusion:loop.legend-line:1"/>
          <p:cNvCxnSpPr/>
          <p:nvPr/>
        </p:nvCxnSpPr>
        <p:spPr>
          <a:xfrm>
            <a:off x="1609344" y="5852160"/>
            <a:ext cx="256032" cy="0"/>
          </a:xfrm>
          <a:prstGeom prst="line">
            <a:avLst/>
          </a:prstGeom>
          <a:ln w="12700" cap="flat">
            <a:solidFill>
              <a:srgbClr val="19226D">
                <a:alpha val="70000"/>
              </a:srgbClr>
            </a:solidFill>
            <a:round/>
            <a:tailEnd type="triangle" w="sm" len="sm"/>
          </a:ln>
        </p:spPr>
      </p:cxnSp>
      <p:cxnSp>
        <p:nvCxnSpPr>
          <p:cNvPr id="28" name="pd:s-conclusion:loop.legend-line:2"/>
          <p:cNvCxnSpPr/>
          <p:nvPr/>
        </p:nvCxnSpPr>
        <p:spPr>
          <a:xfrm>
            <a:off x="3840480" y="5852160"/>
            <a:ext cx="256032" cy="0"/>
          </a:xfrm>
          <a:prstGeom prst="line">
            <a:avLst/>
          </a:prstGeom>
          <a:ln w="12700" cap="flat">
            <a:solidFill>
              <a:srgbClr val="19226D">
                <a:alpha val="30000"/>
              </a:srgbClr>
            </a:solidFill>
            <a:prstDash val="dash"/>
            <a:round/>
            <a:tailEnd type="triangle" w="sm" len="sm"/>
          </a:ln>
        </p:spPr>
      </p:cxnSp>
      <p:sp>
        <p:nvSpPr>
          <p:cNvPr id="6" name="pd:s-conclusion:loop.box:1"/>
          <p:cNvSpPr/>
          <p:nvPr/>
        </p:nvSpPr>
        <p:spPr>
          <a:xfrm>
            <a:off x="4828032" y="2999232"/>
            <a:ext cx="2487168" cy="804672"/>
          </a:xfrm>
          <a:prstGeom prst="roundRect">
            <a:avLst>
              <a:gd name="adj" fmla="val 8511"/>
            </a:avLst>
          </a:prstGeom>
          <a:solidFill>
            <a:srgbClr val="19226D"/>
          </a:solidFill>
          <a:ln w="9525">
            <a:noFill/>
          </a:ln>
        </p:spPr>
        <p:txBody>
          <a:bodyPr wrap="square" lIns="64008" tIns="0" rIns="64008" bIns="0" anchor="ctr" rtlCol="0">
            <a:noAutofit/>
          </a:bodyPr>
          <a:lstStyle/>
          <a:p>
            <a:pPr algn="ctr" marL="0" marR="0" indent="0" rtl="0" eaLnBrk="1" latinLnBrk="0">
              <a:lnSpc>
                <a:spcPts val="1452"/>
              </a:lnSpc>
              <a:spcBef>
                <a:spcPts val="0"/>
              </a:spcBef>
              <a:spcAft>
                <a:spcPts val="0"/>
              </a:spcAft>
              <a:buNone/>
            </a:pPr>
            <a:r>
              <a:rPr lang="vi-VN" altLang="en-US" sz="1100" b="1" i="0" cap="none" spc="0" baseline="0" normalizeH="0" dirty="0">
                <a:solidFill>
                  <a:srgbClr val="FFFFFF"/>
                </a:solidFill>
                <a:latin typeface="Meiryo UI"/>
                <a:ea typeface="Meiryo UI"/>
              </a:rPr>
              <a:t>Mô hình lắp ráp</a:t>
            </a:r>
            <a:endParaRPr lang="vi-VN" sz="1100" dirty="0"/>
          </a:p>
          <a:p>
            <a:pPr algn="ctr" marL="0" marR="0" indent="0" rtl="0" eaLnBrk="1" latinLnBrk="0">
              <a:lnSpc>
                <a:spcPts val="1188"/>
              </a:lnSpc>
              <a:spcBef>
                <a:spcPts val="0"/>
              </a:spcBef>
              <a:spcAft>
                <a:spcPts val="0"/>
              </a:spcAft>
              <a:buNone/>
            </a:pPr>
            <a:r>
              <a:rPr lang="vi-VN" altLang="en-US" sz="900" b="0" i="0" cap="none" spc="0" baseline="0" normalizeH="0" dirty="0">
                <a:solidFill>
                  <a:srgbClr val="FFFFFF"/>
                </a:solidFill>
                <a:latin typeface="Meiryo UI"/>
                <a:ea typeface="Meiryo UI"/>
              </a:rPr>
              <a:t>nhìn · tách · ghép · nhớ</a:t>
            </a:r>
            <a:endParaRPr lang="vi-VN" sz="900" dirty="0"/>
          </a:p>
        </p:txBody>
      </p:sp>
      <p:sp>
        <p:nvSpPr>
          <p:cNvPr id="7" name="pd:s-conclusion:loop.node:1"/>
          <p:cNvSpPr/>
          <p:nvPr/>
        </p:nvSpPr>
        <p:spPr>
          <a:xfrm>
            <a:off x="4828032" y="1572768"/>
            <a:ext cx="2487168" cy="804672"/>
          </a:xfrm>
          <a:prstGeom prst="roundRect">
            <a:avLst>
              <a:gd name="adj" fmla="val 8511"/>
            </a:avLst>
          </a:prstGeom>
          <a:solidFill>
            <a:srgbClr val="FFFFFF"/>
          </a:solidFill>
          <a:ln w="9525" cap="flat">
            <a:solidFill>
              <a:srgbClr val="19226D"/>
            </a:solidFill>
            <a:round/>
          </a:ln>
        </p:spPr>
        <p:txBody>
          <a:bodyPr wrap="square" lIns="64008" tIns="0" rIns="64008" bIns="0" anchor="ctr" rtlCol="0">
            <a:noAutofit/>
          </a:bodyPr>
          <a:lstStyle/>
          <a:p>
            <a:pPr algn="ctr" marL="0" marR="0" indent="0" rtl="0" eaLnBrk="1" latinLnBrk="0">
              <a:lnSpc>
                <a:spcPts val="1452"/>
              </a:lnSpc>
              <a:spcBef>
                <a:spcPts val="0"/>
              </a:spcBef>
              <a:spcAft>
                <a:spcPts val="0"/>
              </a:spcAft>
              <a:buNone/>
            </a:pPr>
            <a:r>
              <a:rPr lang="vi-VN" altLang="en-US" sz="1100" b="1" i="0" cap="none" spc="0" baseline="0" normalizeH="0" dirty="0">
                <a:solidFill>
                  <a:srgbClr val="19226D"/>
                </a:solidFill>
                <a:latin typeface="Meiryo UI"/>
                <a:ea typeface="Meiryo UI"/>
              </a:rPr>
              <a:t>Nhìn</a:t>
            </a:r>
            <a:endParaRPr lang="vi-VN" sz="1100" dirty="0"/>
          </a:p>
          <a:p>
            <a:pPr algn="ctr" marL="0" marR="0" indent="0" rtl="0" eaLnBrk="1" latinLnBrk="0">
              <a:lnSpc>
                <a:spcPts val="1188"/>
              </a:lnSpc>
              <a:spcBef>
                <a:spcPts val="0"/>
              </a:spcBef>
              <a:spcAft>
                <a:spcPts val="0"/>
              </a:spcAft>
              <a:buNone/>
            </a:pPr>
            <a:r>
              <a:rPr lang="vi-VN" altLang="en-US" sz="900" b="0" i="0" cap="none" spc="0" baseline="0" normalizeH="0" dirty="0">
                <a:solidFill>
                  <a:srgbClr val="19226D">
                    <a:alpha val="55000"/>
                  </a:srgbClr>
                </a:solidFill>
                <a:latin typeface="Meiryo UI"/>
                <a:ea typeface="Meiryo UI"/>
              </a:rPr>
              <a:t>cảnh gợi nghĩa</a:t>
            </a:r>
            <a:endParaRPr lang="vi-VN" sz="900" dirty="0"/>
          </a:p>
        </p:txBody>
      </p:sp>
      <p:sp>
        <p:nvSpPr>
          <p:cNvPr id="8" name="pd:s-conclusion:loop.node:2"/>
          <p:cNvSpPr/>
          <p:nvPr/>
        </p:nvSpPr>
        <p:spPr>
          <a:xfrm>
            <a:off x="7936992" y="2999232"/>
            <a:ext cx="2487168" cy="804672"/>
          </a:xfrm>
          <a:prstGeom prst="roundRect">
            <a:avLst>
              <a:gd name="adj" fmla="val 8511"/>
            </a:avLst>
          </a:prstGeom>
          <a:solidFill>
            <a:srgbClr val="FFFFFF"/>
          </a:solidFill>
          <a:ln w="9525" cap="flat">
            <a:solidFill>
              <a:srgbClr val="19226D"/>
            </a:solidFill>
            <a:round/>
          </a:ln>
        </p:spPr>
        <p:txBody>
          <a:bodyPr wrap="square" lIns="64008" tIns="0" rIns="64008" bIns="0" anchor="ctr" rtlCol="0">
            <a:noAutofit/>
          </a:bodyPr>
          <a:lstStyle/>
          <a:p>
            <a:pPr algn="ctr" marL="0" marR="0" indent="0" rtl="0" eaLnBrk="1" latinLnBrk="0">
              <a:lnSpc>
                <a:spcPts val="1452"/>
              </a:lnSpc>
              <a:spcBef>
                <a:spcPts val="0"/>
              </a:spcBef>
              <a:spcAft>
                <a:spcPts val="0"/>
              </a:spcAft>
              <a:buNone/>
            </a:pPr>
            <a:r>
              <a:rPr lang="vi-VN" altLang="en-US" sz="1100" b="1" i="0" cap="none" spc="0" baseline="0" normalizeH="0" dirty="0">
                <a:solidFill>
                  <a:srgbClr val="19226D"/>
                </a:solidFill>
                <a:latin typeface="Meiryo UI"/>
                <a:ea typeface="Meiryo UI"/>
              </a:rPr>
              <a:t>Tách</a:t>
            </a:r>
            <a:endParaRPr lang="vi-VN" sz="1100" dirty="0"/>
          </a:p>
          <a:p>
            <a:pPr algn="ctr" marL="0" marR="0" indent="0" rtl="0" eaLnBrk="1" latinLnBrk="0">
              <a:lnSpc>
                <a:spcPts val="1188"/>
              </a:lnSpc>
              <a:spcBef>
                <a:spcPts val="0"/>
              </a:spcBef>
              <a:spcAft>
                <a:spcPts val="0"/>
              </a:spcAft>
              <a:buNone/>
            </a:pPr>
            <a:r>
              <a:rPr lang="vi-VN" altLang="en-US" sz="900" b="0" i="0" cap="none" spc="0" baseline="0" normalizeH="0" dirty="0">
                <a:solidFill>
                  <a:srgbClr val="19226D">
                    <a:alpha val="55000"/>
                  </a:srgbClr>
                </a:solidFill>
                <a:latin typeface="Meiryo UI"/>
                <a:ea typeface="Meiryo UI"/>
              </a:rPr>
              <a:t>nhận phần quen</a:t>
            </a:r>
            <a:endParaRPr lang="vi-VN" sz="900" dirty="0"/>
          </a:p>
        </p:txBody>
      </p:sp>
      <p:sp>
        <p:nvSpPr>
          <p:cNvPr id="9" name="pd:s-conclusion:loop.node:3" descr="Vòng lặp người học: Nhìn, Tách, Ghép, Giải thích, Nhớ — quanh trung tâm là mô hình lắp ráp."/>
          <p:cNvSpPr/>
          <p:nvPr/>
        </p:nvSpPr>
        <p:spPr>
          <a:xfrm>
            <a:off x="4828032" y="4425696"/>
            <a:ext cx="2487168" cy="804672"/>
          </a:xfrm>
          <a:prstGeom prst="roundRect">
            <a:avLst>
              <a:gd name="adj" fmla="val 8511"/>
            </a:avLst>
          </a:prstGeom>
          <a:solidFill>
            <a:srgbClr val="F37021">
              <a:alpha val="8000"/>
            </a:srgbClr>
          </a:solidFill>
          <a:ln w="15875" cap="flat">
            <a:solidFill>
              <a:srgbClr val="F37021"/>
            </a:solidFill>
            <a:round/>
          </a:ln>
        </p:spPr>
        <p:txBody>
          <a:bodyPr wrap="square" lIns="64008" tIns="0" rIns="64008" bIns="0" anchor="ctr" rtlCol="0">
            <a:noAutofit/>
          </a:bodyPr>
          <a:lstStyle/>
          <a:p>
            <a:pPr algn="ctr" marL="0" marR="0" indent="0" rtl="0" eaLnBrk="1" latinLnBrk="0">
              <a:lnSpc>
                <a:spcPts val="1452"/>
              </a:lnSpc>
              <a:spcBef>
                <a:spcPts val="0"/>
              </a:spcBef>
              <a:spcAft>
                <a:spcPts val="0"/>
              </a:spcAft>
              <a:buNone/>
            </a:pPr>
            <a:r>
              <a:rPr lang="vi-VN" altLang="en-US" sz="1100" b="1" i="0" cap="none" spc="0" baseline="0" normalizeH="0" dirty="0">
                <a:solidFill>
                  <a:srgbClr val="F37021"/>
                </a:solidFill>
                <a:latin typeface="Meiryo UI"/>
                <a:ea typeface="Meiryo UI"/>
              </a:rPr>
              <a:t>Ghép</a:t>
            </a:r>
            <a:endParaRPr lang="vi-VN" sz="1100" dirty="0"/>
          </a:p>
          <a:p>
            <a:pPr algn="ctr" marL="0" marR="0" indent="0" rtl="0" eaLnBrk="1" latinLnBrk="0">
              <a:lnSpc>
                <a:spcPts val="1188"/>
              </a:lnSpc>
              <a:spcBef>
                <a:spcPts val="0"/>
              </a:spcBef>
              <a:spcAft>
                <a:spcPts val="0"/>
              </a:spcAft>
              <a:buNone/>
            </a:pPr>
            <a:r>
              <a:rPr lang="vi-VN" altLang="en-US" sz="900" b="0" i="0" cap="none" spc="0" baseline="0" normalizeH="0" dirty="0">
                <a:solidFill>
                  <a:srgbClr val="19226D">
                    <a:alpha val="55000"/>
                  </a:srgbClr>
                </a:solidFill>
                <a:latin typeface="Meiryo UI"/>
                <a:ea typeface="Meiryo UI"/>
              </a:rPr>
              <a:t>xây chữ</a:t>
            </a:r>
            <a:endParaRPr lang="vi-VN" sz="900" dirty="0"/>
          </a:p>
        </p:txBody>
      </p:sp>
      <p:sp>
        <p:nvSpPr>
          <p:cNvPr id="10" name="pd:s-conclusion:loop.node:4"/>
          <p:cNvSpPr/>
          <p:nvPr/>
        </p:nvSpPr>
        <p:spPr>
          <a:xfrm>
            <a:off x="1719072" y="2999232"/>
            <a:ext cx="2487168" cy="804672"/>
          </a:xfrm>
          <a:prstGeom prst="roundRect">
            <a:avLst>
              <a:gd name="adj" fmla="val 8511"/>
            </a:avLst>
          </a:prstGeom>
          <a:solidFill>
            <a:srgbClr val="FFFFFF"/>
          </a:solidFill>
          <a:ln w="9525" cap="flat">
            <a:solidFill>
              <a:srgbClr val="19226D"/>
            </a:solidFill>
            <a:round/>
          </a:ln>
        </p:spPr>
        <p:txBody>
          <a:bodyPr wrap="square" lIns="64008" tIns="0" rIns="64008" bIns="0" anchor="ctr" rtlCol="0">
            <a:noAutofit/>
          </a:bodyPr>
          <a:lstStyle/>
          <a:p>
            <a:pPr algn="ctr" marL="0" marR="0" indent="0" rtl="0" eaLnBrk="1" latinLnBrk="0">
              <a:lnSpc>
                <a:spcPts val="1452"/>
              </a:lnSpc>
              <a:spcBef>
                <a:spcPts val="0"/>
              </a:spcBef>
              <a:spcAft>
                <a:spcPts val="0"/>
              </a:spcAft>
              <a:buNone/>
            </a:pPr>
            <a:r>
              <a:rPr lang="vi-VN" altLang="en-US" sz="1100" b="1" i="0" cap="none" spc="0" baseline="0" normalizeH="0" dirty="0">
                <a:solidFill>
                  <a:srgbClr val="19226D"/>
                </a:solidFill>
                <a:latin typeface="Meiryo UI"/>
                <a:ea typeface="Meiryo UI"/>
              </a:rPr>
              <a:t>Giải thích</a:t>
            </a:r>
            <a:endParaRPr lang="vi-VN" sz="1100" dirty="0"/>
          </a:p>
          <a:p>
            <a:pPr algn="ctr" marL="0" marR="0" indent="0" rtl="0" eaLnBrk="1" latinLnBrk="0">
              <a:lnSpc>
                <a:spcPts val="1188"/>
              </a:lnSpc>
              <a:spcBef>
                <a:spcPts val="0"/>
              </a:spcBef>
              <a:spcAft>
                <a:spcPts val="0"/>
              </a:spcAft>
              <a:buNone/>
            </a:pPr>
            <a:r>
              <a:rPr lang="vi-VN" altLang="en-US" sz="900" b="0" i="0" cap="none" spc="0" baseline="0" normalizeH="0" dirty="0">
                <a:solidFill>
                  <a:srgbClr val="19226D">
                    <a:alpha val="55000"/>
                  </a:srgbClr>
                </a:solidFill>
                <a:latin typeface="Meiryo UI"/>
                <a:ea typeface="Meiryo UI"/>
              </a:rPr>
              <a:t>chữ, âm, từ</a:t>
            </a:r>
            <a:endParaRPr lang="vi-VN" sz="900" dirty="0"/>
          </a:p>
        </p:txBody>
      </p:sp>
      <p:sp>
        <p:nvSpPr>
          <p:cNvPr id="21" name="pd:s-conclusion:loop.swatch:1"/>
          <p:cNvSpPr/>
          <p:nvPr/>
        </p:nvSpPr>
        <p:spPr>
          <a:xfrm>
            <a:off x="1609344" y="5559552"/>
            <a:ext cx="256032" cy="146304"/>
          </a:xfrm>
          <a:prstGeom prst="roundRect">
            <a:avLst>
              <a:gd name="adj" fmla="val 2000"/>
            </a:avLst>
          </a:prstGeom>
          <a:solidFill>
            <a:srgbClr val="FFFFFF"/>
          </a:solidFill>
          <a:ln w="9525" cap="flat">
            <a:solidFill>
              <a:srgbClr val="19226D"/>
            </a:solidFill>
            <a:round/>
          </a:ln>
        </p:spPr>
      </p:sp>
      <p:sp>
        <p:nvSpPr>
          <p:cNvPr id="23" name="pd:s-conclusion:loop.swatch:2"/>
          <p:cNvSpPr/>
          <p:nvPr/>
        </p:nvSpPr>
        <p:spPr>
          <a:xfrm>
            <a:off x="2523744" y="5559552"/>
            <a:ext cx="256032" cy="146304"/>
          </a:xfrm>
          <a:prstGeom prst="roundRect">
            <a:avLst>
              <a:gd name="adj" fmla="val 2000"/>
            </a:avLst>
          </a:prstGeom>
          <a:solidFill>
            <a:srgbClr val="F37021">
              <a:alpha val="8000"/>
            </a:srgbClr>
          </a:solidFill>
          <a:ln w="15875" cap="flat">
            <a:solidFill>
              <a:srgbClr val="F37021"/>
            </a:solidFill>
            <a:round/>
          </a:ln>
        </p:spPr>
      </p:sp>
      <p:sp>
        <p:nvSpPr>
          <p:cNvPr id="5" name="pd:s-conclusion:premise:1"/>
          <p:cNvSpPr txBox="1"/>
          <p:nvPr/>
        </p:nvSpPr>
        <p:spPr>
          <a:xfrm>
            <a:off x="512064" y="1280160"/>
            <a:ext cx="11155680" cy="182880"/>
          </a:xfrm>
          <a:prstGeom prst="rect">
            <a:avLst/>
          </a:prstGeom>
          <a:noFill/>
          <a:ln>
            <a:noFill/>
          </a:ln>
        </p:spPr>
        <p:txBody>
          <a:bodyPr wrap="square" lIns="0" tIns="0" rIns="0" bIns="0" anchor="t">
            <a:noAutofit/>
          </a:bodyPr>
          <a:lstStyle/>
          <a:p>
            <a:pPr algn="l" marL="0" marR="0" indent="0" rtl="0" eaLnBrk="1" latinLnBrk="0">
              <a:lnSpc>
                <a:spcPct val="100000"/>
              </a:lnSpc>
              <a:spcBef>
                <a:spcPts val="0"/>
              </a:spcBef>
              <a:spcAft>
                <a:spcPts val="0"/>
              </a:spcAft>
              <a:buNone/>
            </a:pPr>
            <a:r>
              <a:rPr lang="vi-VN" sz="900" i="0" cap="none" spc="0" baseline="0" normalizeH="0" dirty="0">
                <a:solidFill>
                  <a:srgbClr val="5E6499"/>
                </a:solidFill>
                <a:latin typeface="Meiryo UI"/>
                <a:ea typeface="Meiryo UI"/>
              </a:rPr>
              <a:t>※ Game hoá flashcard chỉ thêm điểm số.</a:t>
            </a:r>
          </a:p>
        </p:txBody>
      </p:sp>
      <p:sp>
        <p:nvSpPr>
          <p:cNvPr id="20" name="pd:s-conclusion:loop.legend-head:1"/>
          <p:cNvSpPr txBox="1"/>
          <p:nvPr/>
        </p:nvSpPr>
        <p:spPr>
          <a:xfrm>
            <a:off x="512064" y="5522976"/>
            <a:ext cx="1024128" cy="219456"/>
          </a:xfrm>
          <a:prstGeom prst="rect">
            <a:avLst/>
          </a:prstGeom>
          <a:noFill/>
          <a:ln w="9525">
            <a:noFill/>
          </a:ln>
        </p:spPr>
        <p:txBody>
          <a:bodyPr wrap="square" lIns="0" tIns="0" rIns="0" bIns="0" anchor="ctr" rtlCol="0">
            <a:noAutofit/>
          </a:bodyPr>
          <a:lstStyle/>
          <a:p>
            <a:pPr algn="l" marL="0" marR="0" indent="0" rtl="0" eaLnBrk="1" latinLnBrk="0">
              <a:lnSpc>
                <a:spcPts val="1188"/>
              </a:lnSpc>
              <a:spcBef>
                <a:spcPts val="0"/>
              </a:spcBef>
              <a:spcAft>
                <a:spcPts val="0"/>
              </a:spcAft>
              <a:buNone/>
            </a:pPr>
            <a:r>
              <a:rPr lang="vi-VN" altLang="en-US" sz="900" b="1" i="0" cap="none" spc="0" baseline="0" normalizeH="0" dirty="0">
                <a:solidFill>
                  <a:srgbClr val="19226D">
                    <a:alpha val="55000"/>
                  </a:srgbClr>
                </a:solidFill>
                <a:latin typeface="Meiryo UI"/>
                <a:ea typeface="Meiryo UI"/>
              </a:rPr>
              <a:t>Loại</a:t>
            </a:r>
            <a:endParaRPr lang="vi-VN" sz="900" dirty="0"/>
          </a:p>
        </p:txBody>
      </p:sp>
      <p:sp>
        <p:nvSpPr>
          <p:cNvPr id="22" name="pd:s-conclusion:loop.legend-text@swatch.1:1"/>
          <p:cNvSpPr txBox="1"/>
          <p:nvPr/>
        </p:nvSpPr>
        <p:spPr>
          <a:xfrm>
            <a:off x="1938528" y="5522976"/>
            <a:ext cx="365760" cy="219456"/>
          </a:xfrm>
          <a:prstGeom prst="rect">
            <a:avLst/>
          </a:prstGeom>
          <a:noFill/>
          <a:ln w="9525">
            <a:noFill/>
          </a:ln>
        </p:spPr>
        <p:txBody>
          <a:bodyPr wrap="square" lIns="0" tIns="0" rIns="0" bIns="0" anchor="ctr" rtlCol="0">
            <a:noAutofit/>
          </a:bodyPr>
          <a:lstStyle/>
          <a:p>
            <a:pPr algn="l" marL="0" marR="0" indent="0" rtl="0" eaLnBrk="1" latinLnBrk="0">
              <a:lnSpc>
                <a:spcPts val="1188"/>
              </a:lnSpc>
              <a:spcBef>
                <a:spcPts val="0"/>
              </a:spcBef>
              <a:spcAft>
                <a:spcPts val="0"/>
              </a:spcAft>
              <a:buNone/>
            </a:pPr>
            <a:r>
              <a:rPr lang="vi-VN" altLang="en-US" sz="900" b="0" i="0" cap="none" spc="0" baseline="0" normalizeH="0" dirty="0">
                <a:solidFill>
                  <a:srgbClr val="080808"/>
                </a:solidFill>
                <a:latin typeface="Meiryo UI"/>
                <a:ea typeface="Meiryo UI"/>
              </a:rPr>
              <a:t>Trạm</a:t>
            </a:r>
            <a:endParaRPr lang="vi-VN" sz="900" dirty="0"/>
          </a:p>
        </p:txBody>
      </p:sp>
      <p:sp>
        <p:nvSpPr>
          <p:cNvPr id="24" name="pd:s-conclusion:loop.legend-text@swatch.2:1"/>
          <p:cNvSpPr txBox="1"/>
          <p:nvPr/>
        </p:nvSpPr>
        <p:spPr>
          <a:xfrm>
            <a:off x="2852928" y="5522976"/>
            <a:ext cx="950976" cy="219456"/>
          </a:xfrm>
          <a:prstGeom prst="rect">
            <a:avLst/>
          </a:prstGeom>
          <a:noFill/>
          <a:ln w="9525">
            <a:noFill/>
          </a:ln>
        </p:spPr>
        <p:txBody>
          <a:bodyPr wrap="square" lIns="0" tIns="0" rIns="0" bIns="0" anchor="ctr" rtlCol="0">
            <a:noAutofit/>
          </a:bodyPr>
          <a:lstStyle/>
          <a:p>
            <a:pPr algn="l" marL="0" marR="0" indent="0" rtl="0" eaLnBrk="1" latinLnBrk="0">
              <a:lnSpc>
                <a:spcPts val="1188"/>
              </a:lnSpc>
              <a:spcBef>
                <a:spcPts val="0"/>
              </a:spcBef>
              <a:spcAft>
                <a:spcPts val="0"/>
              </a:spcAft>
              <a:buNone/>
            </a:pPr>
            <a:r>
              <a:rPr lang="vi-VN" altLang="en-US" sz="900" b="0" i="0" cap="none" spc="0" baseline="0" normalizeH="0" dirty="0">
                <a:solidFill>
                  <a:srgbClr val="080808"/>
                </a:solidFill>
                <a:latin typeface="Meiryo UI"/>
                <a:ea typeface="Meiryo UI"/>
              </a:rPr>
              <a:t>Trạm trọng tâm</a:t>
            </a:r>
            <a:endParaRPr lang="vi-VN" sz="900" dirty="0"/>
          </a:p>
        </p:txBody>
      </p:sp>
      <p:sp>
        <p:nvSpPr>
          <p:cNvPr id="25" name="pd:s-conclusion:loop.legend-head:2"/>
          <p:cNvSpPr txBox="1"/>
          <p:nvPr/>
        </p:nvSpPr>
        <p:spPr>
          <a:xfrm>
            <a:off x="512064" y="5742432"/>
            <a:ext cx="1024128" cy="219456"/>
          </a:xfrm>
          <a:prstGeom prst="rect">
            <a:avLst/>
          </a:prstGeom>
          <a:noFill/>
          <a:ln w="9525">
            <a:noFill/>
          </a:ln>
        </p:spPr>
        <p:txBody>
          <a:bodyPr wrap="square" lIns="0" tIns="0" rIns="0" bIns="0" anchor="ctr" rtlCol="0">
            <a:noAutofit/>
          </a:bodyPr>
          <a:lstStyle/>
          <a:p>
            <a:pPr algn="l" marL="0" marR="0" indent="0" rtl="0" eaLnBrk="1" latinLnBrk="0">
              <a:lnSpc>
                <a:spcPts val="1188"/>
              </a:lnSpc>
              <a:spcBef>
                <a:spcPts val="0"/>
              </a:spcBef>
              <a:spcAft>
                <a:spcPts val="0"/>
              </a:spcAft>
              <a:buNone/>
            </a:pPr>
            <a:r>
              <a:rPr lang="vi-VN" altLang="en-US" sz="900" b="1" i="0" cap="none" spc="0" baseline="0" normalizeH="0" dirty="0">
                <a:solidFill>
                  <a:srgbClr val="19226D">
                    <a:alpha val="55000"/>
                  </a:srgbClr>
                </a:solidFill>
                <a:latin typeface="Meiryo UI"/>
                <a:ea typeface="Meiryo UI"/>
              </a:rPr>
              <a:t>Đường</a:t>
            </a:r>
            <a:endParaRPr lang="vi-VN" sz="900" dirty="0"/>
          </a:p>
        </p:txBody>
      </p:sp>
      <p:sp>
        <p:nvSpPr>
          <p:cNvPr id="27" name="pd:s-conclusion:loop.legend-text@legend-line.1:1"/>
          <p:cNvSpPr txBox="1"/>
          <p:nvPr/>
        </p:nvSpPr>
        <p:spPr>
          <a:xfrm>
            <a:off x="1938528" y="5742432"/>
            <a:ext cx="1682496" cy="219456"/>
          </a:xfrm>
          <a:prstGeom prst="rect">
            <a:avLst/>
          </a:prstGeom>
          <a:noFill/>
          <a:ln w="9525">
            <a:noFill/>
          </a:ln>
        </p:spPr>
        <p:txBody>
          <a:bodyPr wrap="square" lIns="0" tIns="0" rIns="0" bIns="0" anchor="ctr" rtlCol="0">
            <a:noAutofit/>
          </a:bodyPr>
          <a:lstStyle/>
          <a:p>
            <a:pPr algn="l" marL="0" marR="0" indent="0" rtl="0" eaLnBrk="1" latinLnBrk="0">
              <a:lnSpc>
                <a:spcPts val="1188"/>
              </a:lnSpc>
              <a:spcBef>
                <a:spcPts val="0"/>
              </a:spcBef>
              <a:spcAft>
                <a:spcPts val="0"/>
              </a:spcAft>
              <a:buNone/>
            </a:pPr>
            <a:r>
              <a:rPr lang="vi-VN" altLang="en-US" sz="900" b="0" i="0" cap="none" spc="0" baseline="0" normalizeH="0" dirty="0">
                <a:solidFill>
                  <a:srgbClr val="080808"/>
                </a:solidFill>
                <a:latin typeface="Meiryo UI"/>
                <a:ea typeface="Meiryo UI"/>
              </a:rPr>
              <a:t>Vòng theo chiều kim đồng hồ</a:t>
            </a:r>
            <a:endParaRPr lang="vi-VN" sz="900" dirty="0"/>
          </a:p>
        </p:txBody>
      </p:sp>
      <p:sp>
        <p:nvSpPr>
          <p:cNvPr id="29" name="pd:s-conclusion:loop.legend-text@legend-line.2:1"/>
          <p:cNvSpPr txBox="1"/>
          <p:nvPr/>
        </p:nvSpPr>
        <p:spPr>
          <a:xfrm>
            <a:off x="4169664" y="5742432"/>
            <a:ext cx="1389888" cy="219456"/>
          </a:xfrm>
          <a:prstGeom prst="rect">
            <a:avLst/>
          </a:prstGeom>
          <a:noFill/>
          <a:ln w="9525">
            <a:noFill/>
          </a:ln>
        </p:spPr>
        <p:txBody>
          <a:bodyPr wrap="square" lIns="0" tIns="0" rIns="0" bIns="0" anchor="ctr" rtlCol="0">
            <a:noAutofit/>
          </a:bodyPr>
          <a:lstStyle/>
          <a:p>
            <a:pPr algn="l" marL="0" marR="0" indent="0" rtl="0" eaLnBrk="1" latinLnBrk="0">
              <a:lnSpc>
                <a:spcPts val="1188"/>
              </a:lnSpc>
              <a:spcBef>
                <a:spcPts val="0"/>
              </a:spcBef>
              <a:spcAft>
                <a:spcPts val="0"/>
              </a:spcAft>
              <a:buNone/>
            </a:pPr>
            <a:r>
              <a:rPr lang="vi-VN" altLang="en-US" sz="900" b="0" i="0" cap="none" spc="0" baseline="0" normalizeH="0" dirty="0">
                <a:solidFill>
                  <a:srgbClr val="080808"/>
                </a:solidFill>
                <a:latin typeface="Meiryo UI"/>
                <a:ea typeface="Meiryo UI"/>
              </a:rPr>
              <a:t>Ghi ngược về trung tâm</a:t>
            </a:r>
            <a:endParaRPr lang="vi-VN" sz="900" dirty="0"/>
          </a:p>
        </p:txBody>
      </p:sp>
    </p:spTree>
    <p:custDataLst>
      <p:tags r:id="rId3"/>
    </p:custDataLst>
  </p:cSld>
  <p:clrMapOvr>
    <a:masterClrMapping/>
  </p:clrMapOvr>
</p:sld>
</file>

<file path=ppt/tags/tag1.xml><?xml version="1.0" encoding="utf-8"?>
<p:tagLst xmlns:p="http://schemas.openxmlformats.org/presentationml/2006/main">
  <p:tag name="pd:s-pain" val="{&quot;api&quot;:&quot;1&quot;,&quot;diagram&quot;:{&quot;alt&quot;:&quot;Biểu đồ xương cá: ba nhóm nguyên nhân — quá nhiều nét, chép máy móc, thiếu ngữ cảnh — dẫn đến việc không hiểu chữ.&quot;,&quot;body&quot;:{&quot;bones&quot;:[{&quot;causes&quot;:[&quot;Khối phức tạp&quot;,&quot;Không biết bắt đầu&quot;],&quot;name&quot;:&quot;Quá nhiều nét&quot;},{&quot;causes&quot;:[&quot;Quen tay&quot;,&quot;Không hiểu cấu trúc&quot;],&quot;name&quot;:&quot;Chép máy móc&quot;},{&quot;causes&quot;:[&quot;Flashcard tĩnh&quot;,&quot;Âm, từ tách rời&quot;],&quot;id&quot;:&quot;b-ngu-canh&quot;,&quot;name&quot;:&quot;Thiếu ngữ cảnh&quot;}],&quot;effect&quot;:{&quot;name&quot;:&quot;Kanji như hình vẽ rời rạc&quot;,&quot;sub&quot;:&quot;không biết bắt đầu phân tích&quot;}},&quot;focus&quot;:[&quot;b-ngu-canh&quot;],&quot;id&quot;:&quot;s-pain&quot;,&quot;premise&quot;:&quot;※ Ghi nhớ ký hiệu, chưa hiểu chữ.&quot;,&quot;title&quot;:&quot;Kanji như hàng nghìn hình vẽ rời rạc&quot;,&quot;type&quot;:&quot;fishbone&quot;},&quot;frame&quot;:[14,35,319,167],&quot;lang&quot;:&quot;vi&quot;,&quot;placement&quot;:{&quot;body&quot;:[15,50,319,142],&quot;dy&quot;:[7,8],&quot;mode&quot;:&quot;centre&quot;,&quot;notes&quot;:null,&quot;rule&quot;:&quot;sample&quot;,&quot;shapes&quot;:&quot;a08f632aed8613b1&quot;,&quot;strip&quot;:[14,147,319,163]},&quot;premise&quot;:[14,35,319,40],&quot;profile&quot;:{&quot;accent1&quot;:&quot;F37021&quot;,&quot;font_ea&quot;:&quot;Meiryo UI&quot;,&quot;font_latin&quot;:&quot;Meiryo UI&quot;,&quot;ink&quot;:&quot;19226D&quot;,&quot;name&quot;:&quot;fpt&quot;,&quot;paper&quot;:&quot;FFFFFF&quot;},&quot;record_version&quot;:&quot;1&quot;,&quot;rect&quot;:[14,50,319,162],&quot;request&quot;:&quot;pptx-diagram/draw@1&quot;,&quot;style&quot;:&quot;fpt&quot;}"/>
</p:tagLst>
</file>

<file path=ppt/tags/tag2.xml><?xml version="1.0" encoding="utf-8"?>
<p:tagLst xmlns:p="http://schemas.openxmlformats.org/presentationml/2006/main">
  <p:tag name="pd:s-problem" val="{&quot;api&quot;:&quot;1&quot;,&quot;diagram&quot;:{&quot;alt&quot;:&quot;Vòng học bốn bước: Nhìn, Phân tích, Lắp ghép, Giải thích, quanh trung tâm là Kanji được hiểu.&quot;,&quot;body&quot;:{&quot;hub&quot;:{&quot;name&quot;:&quot;Kanji được hiểu&quot;,&quot;sub&quot;:&quot;hình · cấu tạo · âm · từ vựng&quot;},&quot;stations&quot;:[{&quot;name&quot;:&quot;Nhìn&quot;,&quot;sub&quot;:&quot;neo nghĩa bằng cảnh&quot;},{&quot;name&quot;:&quot;Phân tích&quot;,&quot;sub&quot;:&quot;nhận phần quen thuộc&quot;},{&quot;name&quot;:&quot;Lắp ghép&quot;,&quot;sub&quot;:&quot;đặt đúng vị trí&quot;},{&quot;name&quot;:&quot;Giải thích&quot;,&quot;sub&quot;:&quot;liên kết chữ, âm, từ&quot;}]},&quot;focus&quot;:[],&quot;id&quot;:&quot;s-problem&quot;,&quot;premise&quot;:&quot;※ Ví dụ: 亻 + 木 = 休 (người + cây = nghỉ). Nhiều điểm truy hồi: hình, vị trí, thao tác, câu chuyện.&quot;,&quot;title&quot;:&quot;Từ nhìn – nhớ sang quan sát – tái tạo&quot;,&quot;type&quot;:&quot;loop&quot;},&quot;frame&quot;:[14,35,319,167],&quot;lang&quot;:&quot;vi&quot;,&quot;placement&quot;:{&quot;body&quot;:[47,43,285,143],&quot;dy&quot;:[0,0],&quot;mode&quot;:&quot;centre&quot;,&quot;notes&quot;:null,&quot;rule&quot;:&quot;sample&quot;,&quot;shapes&quot;:&quot;ecf473fa6dca3ec8&quot;,&quot;strip&quot;:[14,147,319,163]},&quot;premise&quot;:[14,35,319,40],&quot;profile&quot;:{&quot;accent1&quot;:&quot;F37021&quot;,&quot;font_ea&quot;:&quot;Meiryo UI&quot;,&quot;font_latin&quot;:&quot;Meiryo UI&quot;,&quot;ink&quot;:&quot;19226D&quot;,&quot;name&quot;:&quot;fpt&quot;,&quot;paper&quot;:&quot;FFFFFF&quot;},&quot;record_version&quot;:&quot;1&quot;,&quot;rect&quot;:[14,43,319,163],&quot;request&quot;:&quot;pptx-diagram/draw@1&quot;,&quot;style&quot;:&quot;fpt&quot;}"/>
</p:tagLst>
</file>

<file path=ppt/tags/tag3.xml><?xml version="1.0" encoding="utf-8"?>
<p:tagLst xmlns:p="http://schemas.openxmlformats.org/presentationml/2006/main">
  <p:tag name="pd:s-solution" val="{&quot;api&quot;:&quot;1&quot;,&quot;diagram&quot;:{&quot;alt&quot;:&quot;Luồng chơi một phiên gồm sáu bước: Khám phá, Lật thẻ, Suy luận, Đọc hình, Kiến tạo, Củng cố.&quot;,&quot;body&quot;:{&quot;actors&quot;:[&quot;Người chơi&quot;,&quot;Trò chơi&quot;],&quot;steps&quot;:[{&quot;actor&quot;:&quot;Người chơi&quot;,&quot;name&quot;:&quot;Vào cảnh chọn thử thách&quot;,&quot;stage&quot;:&quot;Khám phá&quot;},{&quot;actor&quot;:&quot;Trò chơi&quot;,&quot;name&quot;:&quot;Hiện gợi ý hình ảnh&quot;,&quot;stage&quot;:&quot;Lật thẻ&quot;},{&quot;actor&quot;:&quot;Người chơi&quot;,&quot;name&quot;:&quot;Đoán bộ phận cấu tạo&quot;,&quot;stage&quot;:&quot;Suy luận&quot;},{&quot;actor&quot;:&quot;Trò chơi&quot;,&quot;name&quot;:&quot;Mở cảnh gợi nghĩa&quot;,&quot;stage&quot;:&quot;Đọc hình&quot;},{&quot;actor&quot;:&quot;Người chơi&quot;,&quot;id&quot;:&quot;st-build&quot;,&quot;name&quot;:&quot;Ghép bộ phận vào bento&quot;,&quot;stage&quot;:&quot;Kiến tạo&quot;},{&quot;actor&quot;:&quot;Trò chơi&quot;,&quot;name&quot;:&quot;Chốt chữ và từ vựng&quot;,&quot;stage&quot;:&quot;Củng cố&quot;}]},&quot;focus&quot;:[&quot;st-build&quot;],&quot;id&quot;:&quot;s-solution&quot;,&quot;premise&quot;:&quot;※ Sai là tín hiệu điều chỉnh, không phải kết thúc.&quot;,&quot;title&quot;:&quot;Vòng chơi ngắn, đủ nhận biết và hiểu&quot;,&quot;type&quot;:&quot;process&quot;},&quot;frame&quot;:[14,35,319,167],&quot;lang&quot;:&quot;vi&quot;,&quot;placement&quot;:{&quot;body&quot;:[14,43,319,101],&quot;dy&quot;:[0,46],&quot;mode&quot;:&quot;top&quot;,&quot;notes&quot;:null,&quot;rule&quot;:&quot;sample&quot;,&quot;shapes&quot;:&quot;e6feb14f2364a5a1&quot;,&quot;strip&quot;:[14,151,319,167]},&quot;premise&quot;:[14,35,319,40],&quot;profile&quot;:{&quot;accent1&quot;:&quot;F37021&quot;,&quot;font_ea&quot;:&quot;Meiryo UI&quot;,&quot;font_latin&quot;:&quot;Meiryo UI&quot;,&quot;ink&quot;:&quot;19226D&quot;,&quot;name&quot;:&quot;fpt&quot;,&quot;paper&quot;:&quot;FFFFFF&quot;},&quot;record_version&quot;:&quot;1&quot;,&quot;rect&quot;:[14,43,319,121],&quot;request&quot;:&quot;pptx-diagram/draw@1&quot;,&quot;style&quot;:&quot;fpt&quot;}"/>
</p:tagLst>
</file>

<file path=ppt/tags/tag4.xml><?xml version="1.0" encoding="utf-8"?>
<p:tagLst xmlns:p="http://schemas.openxmlformats.org/presentationml/2006/main">
  <p:tag name="pd:s-outcomes" val="{&quot;api&quot;:&quot;1&quot;,&quot;diagram&quot;:{&quot;alt&quot;:&quot;Cây kết quả: gốc là hiểu Kanji, bốn nhánh là bớt quá tải, nhớ có liên kết, phân biệt tốt hơn, muốn tiếp tục.&quot;,&quot;body&quot;:{&quot;root&quot;:{&quot;children&quot;:[{&quot;name&quot;:&quot;Bớt quá tải&quot;,&quot;sub&quot;:&quot;chữ → phần quen&quot;},{&quot;name&quot;:&quot;Nhớ có liên kết&quot;,&quot;sub&quot;:&quot;hình, cấu tạo, thao tác&quot;},{&quot;name&quot;:&quot;Phân biệt tốt hơn&quot;,&quot;sub&quot;:&quot;so mảnh, vị trí&quot;},{&quot;name&quot;:&quot;Muốn tiếp tục&quot;,&quot;sub&quot;:&quot;phiên ngắn, thưởng rõ&quot;}],&quot;id&quot;:&quot;r-hieu&quot;,&quot;name&quot;:&quot;Hiểu Kanji&quot;,&quot;sub&quot;:&quot;logic trước ghi nhớ&quot;}},&quot;focus&quot;:[&quot;r-hieu&quot;],&quot;id&quot;:&quot;s-outcomes&quot;,&quot;premise&quot;:&quot;※ Chỉ số cốt lõi: giải thích được chữ tạo từ gì.&quot;,&quot;title&quot;:&quot;Nhìn thấy logic trước khi ghi nhớ&quot;,&quot;type&quot;:&quot;tree&quot;},&quot;frame&quot;:[14,35,319,167],&quot;lang&quot;:&quot;vi&quot;,&quot;placement&quot;:{&quot;body&quot;:[17,46,315,106],&quot;dy&quot;:[3,0],&quot;mode&quot;:&quot;top&quot;,&quot;notes&quot;:null,&quot;rule&quot;:&quot;sample&quot;,&quot;shapes&quot;:&quot;c6f5229a37dfcb68&quot;,&quot;strip&quot;:null},&quot;premise&quot;:[14,35,319,40],&quot;profile&quot;:{&quot;accent1&quot;:&quot;F37021&quot;,&quot;font_ea&quot;:&quot;Meiryo UI&quot;,&quot;font_latin&quot;:&quot;Meiryo UI&quot;,&quot;ink&quot;:&quot;19226D&quot;,&quot;name&quot;:&quot;fpt&quot;,&quot;paper&quot;:&quot;FFFFFF&quot;},&quot;record_version&quot;:&quot;1&quot;,&quot;rect&quot;:[14,46,319,106],&quot;request&quot;:&quot;pptx-diagram/draw@1&quot;,&quot;style&quot;:&quot;fpt&quot;}"/>
</p:tagLst>
</file>

<file path=ppt/tags/tag5.xml><?xml version="1.0" encoding="utf-8"?>
<p:tagLst xmlns:p="http://schemas.openxmlformats.org/presentationml/2006/main">
  <p:tag name="pd:s-conclusion" val="{&quot;api&quot;:&quot;1&quot;,&quot;diagram&quot;:{&quot;alt&quot;:&quot;Vòng lặp người học: Nhìn, Tách, Ghép, Giải thích, Nhớ — quanh trung tâm là mô hình lắp ráp.&quot;,&quot;body&quot;:{&quot;hub&quot;:{&quot;name&quot;:&quot;Mô hình lắp ráp&quot;,&quot;sub&quot;:&quot;nhìn · tách · ghép · nhớ&quot;},&quot;stations&quot;:[{&quot;name&quot;:&quot;Nhìn&quot;,&quot;sub&quot;:&quot;cảnh gợi nghĩa&quot;},{&quot;name&quot;:&quot;Tách&quot;,&quot;sub&quot;:&quot;nhận phần quen&quot;},{&quot;id&quot;:&quot;st-ghep&quot;,&quot;name&quot;:&quot;Ghép&quot;,&quot;sub&quot;:&quot;xây chữ&quot;},{&quot;name&quot;:&quot;Giải thích&quot;,&quot;sub&quot;:&quot;chữ, âm, từ&quot;}]},&quot;focus&quot;:[&quot;st-ghep&quot;],&quot;id&quot;:&quot;s-conclusion&quot;,&quot;premise&quot;:&quot;※ Game hoá flashcard chỉ thêm điểm số.&quot;,&quot;title&quot;:&quot;Xây Kanji như một mô hình&quot;,&quot;type&quot;:&quot;loop&quot;},&quot;frame&quot;:[14,35,319,167],&quot;lang&quot;:&quot;vi&quot;,&quot;placement&quot;:{&quot;body&quot;:[47,43,285,143],&quot;dy&quot;:[0,0],&quot;mode&quot;:&quot;centre&quot;,&quot;notes&quot;:null,&quot;rule&quot;:&quot;sample&quot;,&quot;shapes&quot;:&quot;33095dc2c33a5f83&quot;,&quot;strip&quot;:[14,147,319,163]},&quot;premise&quot;:[14,35,319,40],&quot;profile&quot;:{&quot;accent1&quot;:&quot;F37021&quot;,&quot;font_ea&quot;:&quot;Meiryo UI&quot;,&quot;font_latin&quot;:&quot;Meiryo UI&quot;,&quot;ink&quot;:&quot;19226D&quot;,&quot;name&quot;:&quot;fpt&quot;,&quot;paper&quot;:&quot;FFFFFF&quot;},&quot;record_version&quot;:&quot;1&quot;,&quot;rect&quot;:[14,43,319,163],&quot;request&quot;:&quot;pptx-diagram/draw@1&quot;,&quot;style&quot;:&quot;fpt&quot;}"/>
</p:tagLst>
</file>

<file path=ppt/theme/theme1.xml><?xml version="1.0" encoding="utf-8"?>
<a:theme xmlns:a="http://schemas.openxmlformats.org/drawingml/2006/main" name="Office Theme">
  <a:themeElements>
    <a:clrScheme name="FPT配色">
      <a:dk1>
        <a:srgbClr val="080808"/>
      </a:dk1>
      <a:lt1>
        <a:sysClr val="window" lastClr="FFFFFF"/>
      </a:lt1>
      <a:dk2>
        <a:srgbClr val="4D4D4D"/>
      </a:dk2>
      <a:lt2>
        <a:srgbClr val="FFFFFF"/>
      </a:lt2>
      <a:accent1>
        <a:srgbClr val="F37021"/>
      </a:accent1>
      <a:accent2>
        <a:srgbClr val="50B848"/>
      </a:accent2>
      <a:accent3>
        <a:srgbClr val="034EA2"/>
      </a:accent3>
      <a:accent4>
        <a:srgbClr val="33B2C1"/>
      </a:accent4>
      <a:accent5>
        <a:srgbClr val="19226D"/>
      </a:accent5>
      <a:accent6>
        <a:srgbClr val="AEABAB"/>
      </a:accent6>
      <a:hlink>
        <a:srgbClr val="F37021"/>
      </a:hlink>
      <a:folHlink>
        <a:srgbClr val="F37021"/>
      </a:folHlink>
    </a:clrScheme>
    <a:fontScheme name="FSO_Default">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Meiryo UI" panose="020F0302020204030204"/>
        <a:ea typeface="Meiryo UI"/>
        <a:cs typeface=""/>
        <a:font script="Jpan" typeface="Meiryo UI"/>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Meiryo UI" panose="020F0502020204030204"/>
        <a:ea typeface="Meiryo UI"/>
        <a:cs typeface=""/>
        <a:font script="Jpan" typeface="Meiryo UI"/>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UI" panose="020F0302020204030204"/>
        <a:ea typeface="Meiryo UI"/>
        <a:cs typeface=""/>
        <a:font script="Jpan" typeface="Meiryo UI"/>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Meiryo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UI" panose="020F0502020204030204"/>
        <a:ea typeface="Meiryo UI"/>
        <a:cs typeface=""/>
        <a:font script="Jpan" typeface="Meiryo UI"/>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Meiryo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12898</TotalTime>
  <Words>231</Words>
  <Application>Microsoft Macintosh PowerPoint</Application>
  <PresentationFormat>Widescreen</PresentationFormat>
  <Paragraphs>53</Paragraphs>
  <Slides>4</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Meiryo UI</vt:lpstr>
      <vt:lpstr>Arial</vt:lpstr>
      <vt:lpstr>Calibri</vt:lpstr>
      <vt:lpstr>Segoe UI</vt:lpstr>
      <vt:lpstr>Office Theme</vt:lpstr>
      <vt:lpstr>PowerPoint Presentation</vt:lpstr>
      <vt:lpstr>PowerPoint Presentation</vt:lpstr>
      <vt:lpstr>LOREM IPSUM DOLOR</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Kanji Bento — Product Story</dc:title>
  <dc:creator/>
  <cp:lastModifiedBy/>
  <cp:revision>1</cp:revision>
  <dcterms:created xsi:type="dcterms:W3CDTF">2026-10-22T07:32:43Z</dcterms:created>
  <dcterms:modified xsi:type="dcterms:W3CDTF">2026-10-22T07:32:43Z</dcterms:modified>
  <dc:subject>Học Kanji bằng cách lắp ghép ý nghĩa</dc:subject>
  <cp:keywords/>
  <dc:description/>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ptx-diagram.version">
    <vt:lpwstr>1</vt:lpwstr>
  </property>
  <property fmtid="{D5CDD505-2E9C-101B-9397-08002B2CF9AE}" pid="3" name="slide-craft.version">
    <vt:lpwstr>2.0.0</vt:lpwstr>
  </property>
  <property fmtid="{D5CDD505-2E9C-101B-9397-08002B2CF9AE}" pid="4" name="slide-craft.plan">
    <vt:lpwstr>{"version":"2.0.0","mode":"default","mode_source":"auto","lang":"vi","slides":[{"no":1,"kind":"cover","title_pt":50,"title_lines":["Kanji Bento —","Product Story"]},{"no":2,"kind":"agenda","id":null,"tier":"base","raw_fill":0.9628,"degraded":false,"fill":0.9628,"two_col":false,"agenda":{"cols":1,"rows_in":[0.433,0.433,0.433,0.433,0.433,0.433,0.433,0.433,0.433,0.433]}},{"no":3,"kind":"diagram","id":"s-pain","tier":"base","diagram":{"id":"s-pain","type":"fishbone","used_in":[12.2,4.8],"bbox_in":[0.56,2.0,12.2,4.52]},"companion":null},{"no":4,"kind":"bullets","id":"s-users","tier":"very-sparse","raw_fill":0.6691,"degraded":false,"fill":0.9385,"two_col":false,"companion":{"place":"bottom","bbox_in":[0.56,2.9951,12.2,3.36]}},{"no":5,"kind":"diagram","id":"s-problem","tier":"base","diagram":{"id":"s-problem","type":"loop","used_in":[12.2,5.12],"bbox_in":[0.56,1.72,12.2,4.8]},"companion":null},{"no":6,"kind":"diagram","id":"s-solution","tier":"base","diagram":{"id":"s-solution","type":"process","used_in":[12.2,3.44],"bbox_in":[0.56,1.72,12.2,4.96]},"companion":null},{"no":7,"kind":"bullets","id":"s-mechanism","tier":"very-sparse","raw_fill":0.6691,"degraded":false,"fill":0.9385,"two_col":false,"companion":{"place":"bottom","bbox_in":[0.56,2.9951,12.2,3.36]}},{"no":8,"kind":"bullets","id":"s-why-lego","tier":"very-sparse","raw_fill":0.6691,"degraded":false,"fill":0.9385,"two_col":false,"companion":{"place":"bottom","bbox_in":[0.56,2.9951,12.2,3.36]}},{"no":9,"kind":"bullets","id":"s-emotion","tier":"very-sparse","raw_fill":0.6691,"degraded":false,"fill":0.9385,"two_col":false,"companion":{"place":"bottom","bbox_in":[0.56,2.9951,12.2,3.36]}},{"no":10,"kind":"diagram","id":"s-outcomes","tier":"base","diagram":{"id":"s-outcomes","type":"tree","used_in":[12.2,2.72],"bbox_in":[0.68,1.84,11.92,2.4]},"companion":null},{"no":11,"kind":"bullets","id":"s-roadmap","tier":"very-sparse","raw_fill":0.6691,"degraded":false,"fill":0.9385,"two_col":false,"companion":{"place":"bottom","bbox_in":[0.56,2.9951,12.2,3.36]}},{"no":12,"kind":"diagram","id":"s-conclusion","tier":"base","diagram":{"id":"s-conclusion","type":"loop","used_in":[12.2,5.12],"bbox_in":[0.56,1.72,12.2,4.8]},"companion":null},{"no":13,"kind":"closing"}]}</vt:lpwstr>
  </property>
</Properties>
</file>